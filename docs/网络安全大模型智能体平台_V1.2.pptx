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42900"/>
            <a:ext cx="8001000" cy="45005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14438" y="1684865"/>
            <a:ext cx="6715125" cy="5093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185" b="1" kern="0" spc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网络安全大模型智能体平台</a:t>
            </a:r>
            <a:endParaRPr lang="en-US" sz="3185" dirty="0"/>
          </a:p>
        </p:txBody>
      </p:sp>
      <p:sp>
        <p:nvSpPr>
          <p:cNvPr id="5" name="Shape 2"/>
          <p:cNvSpPr/>
          <p:nvPr/>
        </p:nvSpPr>
        <p:spPr>
          <a:xfrm>
            <a:off x="1214438" y="2558523"/>
            <a:ext cx="6715125" cy="60007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04890" y="2713537"/>
            <a:ext cx="2334192" cy="2900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395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项目启动会议 · 2026年5月</a:t>
            </a:r>
            <a:endParaRPr lang="en-US" sz="1395" dirty="0"/>
          </a:p>
        </p:txBody>
      </p:sp>
      <p:sp>
        <p:nvSpPr>
          <p:cNvPr id="7" name="Shape 4"/>
          <p:cNvSpPr/>
          <p:nvPr/>
        </p:nvSpPr>
        <p:spPr>
          <a:xfrm>
            <a:off x="1214438" y="3301473"/>
            <a:ext cx="6715125" cy="60007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0188" y="3511488"/>
            <a:ext cx="6143625" cy="2514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6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 </a:t>
            </a:r>
            <a:r>
              <a:rPr lang="en-US" sz="109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</a:t>
            </a:r>
            <a:r>
              <a:rPr lang="en-US" sz="116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· </a:t>
            </a:r>
            <a:r>
              <a:rPr lang="en-US" sz="109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OpenCode</a:t>
            </a:r>
            <a:r>
              <a:rPr lang="en-US" sz="116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· </a:t>
            </a:r>
            <a:r>
              <a:rPr lang="en-US" sz="109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</a:t>
            </a:r>
            <a:r>
              <a:rPr lang="en-US" sz="116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构建企业级安全 Agent 基础设施</a:t>
            </a:r>
            <a:endParaRPr lang="en-US" sz="1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42888"/>
            <a:ext cx="8286750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我们要构建什么？</a:t>
            </a:r>
            <a:endParaRPr lang="en-US" sz="1705" dirty="0"/>
          </a:p>
        </p:txBody>
      </p:sp>
      <p:sp>
        <p:nvSpPr>
          <p:cNvPr id="4" name="Text 1"/>
          <p:cNvSpPr/>
          <p:nvPr/>
        </p:nvSpPr>
        <p:spPr>
          <a:xfrm>
            <a:off x="428625" y="605768"/>
            <a:ext cx="8286750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6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从“聊天助手”到“安全专家”</a:t>
            </a:r>
            <a:endParaRPr lang="en-US" sz="1160" dirty="0"/>
          </a:p>
        </p:txBody>
      </p:sp>
      <p:sp>
        <p:nvSpPr>
          <p:cNvPr id="5" name="Text 2"/>
          <p:cNvSpPr/>
          <p:nvPr/>
        </p:nvSpPr>
        <p:spPr>
          <a:xfrm>
            <a:off x="750094" y="1265141"/>
            <a:ext cx="7643813" cy="534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构建一套网络安全大模型智能体平台，让 AI Agent 能够像人类安全专家一样，接受自然语言指令，自主规划任务，调用安全工具，并在安全隔离的环境中执行自动化渗透测试与威胁分析。</a:t>
            </a:r>
            <a:endParaRPr lang="en-US" sz="1160" dirty="0"/>
          </a:p>
        </p:txBody>
      </p:sp>
      <p:sp>
        <p:nvSpPr>
          <p:cNvPr id="6" name="Text 3"/>
          <p:cNvSpPr/>
          <p:nvPr/>
        </p:nvSpPr>
        <p:spPr>
          <a:xfrm>
            <a:off x="428625" y="2368125"/>
            <a:ext cx="260032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流量与模型调度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2708877"/>
            <a:ext cx="2600325" cy="884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统一接入各类网络安全垂类大模型与通用大模型，提供企业级流量治理与成本控制。屏蔽底层差异，实现智能路由和精确到 Token 级别的动态限流。</a:t>
            </a:r>
            <a:endParaRPr lang="en-US" sz="940" dirty="0"/>
          </a:p>
        </p:txBody>
      </p:sp>
      <p:sp>
        <p:nvSpPr>
          <p:cNvPr id="8" name="Text 5"/>
          <p:cNvSpPr/>
          <p:nvPr/>
        </p:nvSpPr>
        <p:spPr>
          <a:xfrm>
            <a:off x="3271838" y="2368125"/>
            <a:ext cx="260032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安全工具执行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271838" y="2708877"/>
            <a:ext cx="2600325" cy="884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 OpenCode + E2B，实现安全、持久化的 Agent 任务执行。将自然语言指令转化为具体动作，在 Firecracker microVM 中安全运行渗透测试等高危操作。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6115050" y="2368125"/>
            <a:ext cx="260032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企业级安全防护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6115050" y="2708877"/>
            <a:ext cx="2600325" cy="663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多租户隔离、按量计费、实时监控，支撑商业化规模运营。提供四层深度防御架构，确保企业客户数据绝对安全隔离，防止沙箱逃逸。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142875"/>
            <a:ext cx="8715375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网络安全大模型智能体平台 — 技术架构总图</a:t>
            </a:r>
            <a:endParaRPr lang="en-US" sz="1395" dirty="0"/>
          </a:p>
        </p:txBody>
      </p:sp>
      <p:sp>
        <p:nvSpPr>
          <p:cNvPr id="4" name="Text 1"/>
          <p:cNvSpPr/>
          <p:nvPr/>
        </p:nvSpPr>
        <p:spPr>
          <a:xfrm>
            <a:off x="214313" y="411463"/>
            <a:ext cx="8715375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五层架构：用户接入 → 流量调度（Higress） → 智能体编排（OpenCode） → 沙箱执行（E2B） → 基础设施支撑</a:t>
            </a:r>
            <a:endParaRPr lang="en-US" sz="835" dirty="0"/>
          </a:p>
        </p:txBody>
      </p:sp>
      <p:sp>
        <p:nvSpPr>
          <p:cNvPr id="5" name="Shape 2"/>
          <p:cNvSpPr/>
          <p:nvPr/>
        </p:nvSpPr>
        <p:spPr>
          <a:xfrm>
            <a:off x="214313" y="701483"/>
            <a:ext cx="1500188" cy="2257425"/>
          </a:xfrm>
          <a:prstGeom prst="rect">
            <a:avLst/>
          </a:prstGeom>
          <a:solidFill>
            <a:srgbClr val="FFFFFF"/>
          </a:solidFill>
          <a:ln w="18288">
            <a:solidFill>
              <a:srgbClr val="97B9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313" y="701483"/>
            <a:ext cx="1500188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7" name="Shape 4"/>
          <p:cNvSpPr/>
          <p:nvPr/>
        </p:nvSpPr>
        <p:spPr>
          <a:xfrm>
            <a:off x="214313" y="908652"/>
            <a:ext cx="1500188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8" name="Text 5"/>
          <p:cNvSpPr/>
          <p:nvPr/>
        </p:nvSpPr>
        <p:spPr>
          <a:xfrm>
            <a:off x="214313" y="701483"/>
            <a:ext cx="1500188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① 用户接入层</a:t>
            </a:r>
            <a:endParaRPr lang="en-US" sz="585" dirty="0"/>
          </a:p>
        </p:txBody>
      </p:sp>
      <p:sp>
        <p:nvSpPr>
          <p:cNvPr id="9" name="Shape 6"/>
          <p:cNvSpPr/>
          <p:nvPr/>
        </p:nvSpPr>
        <p:spPr>
          <a:xfrm>
            <a:off x="285750" y="987233"/>
            <a:ext cx="650081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8613" y="1037239"/>
            <a:ext cx="564356" cy="1885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安全工程师 / 用户</a:t>
            </a:r>
            <a:endParaRPr lang="en-US" sz="535" dirty="0"/>
          </a:p>
        </p:txBody>
      </p:sp>
      <p:sp>
        <p:nvSpPr>
          <p:cNvPr id="11" name="Shape 8"/>
          <p:cNvSpPr/>
          <p:nvPr/>
        </p:nvSpPr>
        <p:spPr>
          <a:xfrm>
            <a:off x="992981" y="987233"/>
            <a:ext cx="650081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5844" y="1037239"/>
            <a:ext cx="564356" cy="1885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REST API / SSE 流式接口</a:t>
            </a:r>
            <a:endParaRPr lang="en-US" sz="535" dirty="0"/>
          </a:p>
        </p:txBody>
      </p:sp>
      <p:sp>
        <p:nvSpPr>
          <p:cNvPr id="13" name="Shape 10"/>
          <p:cNvSpPr/>
          <p:nvPr/>
        </p:nvSpPr>
        <p:spPr>
          <a:xfrm>
            <a:off x="285750" y="1358708"/>
            <a:ext cx="1357313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8613" y="1408714"/>
            <a:ext cx="1271588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Web 控制台</a:t>
            </a:r>
            <a:endParaRPr lang="en-US" sz="535" dirty="0"/>
          </a:p>
        </p:txBody>
      </p:sp>
      <p:sp>
        <p:nvSpPr>
          <p:cNvPr id="15" name="Text 12"/>
          <p:cNvSpPr/>
          <p:nvPr/>
        </p:nvSpPr>
        <p:spPr>
          <a:xfrm>
            <a:off x="818155" y="1508364"/>
            <a:ext cx="292503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(Next.js)</a:t>
            </a:r>
            <a:endParaRPr lang="en-US" sz="570" dirty="0"/>
          </a:p>
        </p:txBody>
      </p:sp>
      <p:sp>
        <p:nvSpPr>
          <p:cNvPr id="16" name="Shape 13"/>
          <p:cNvSpPr/>
          <p:nvPr/>
        </p:nvSpPr>
        <p:spPr>
          <a:xfrm>
            <a:off x="1785938" y="701483"/>
            <a:ext cx="2428875" cy="2257425"/>
          </a:xfrm>
          <a:prstGeom prst="rect">
            <a:avLst/>
          </a:prstGeom>
          <a:solidFill>
            <a:srgbClr val="FFFFFF"/>
          </a:solidFill>
          <a:ln w="18288">
            <a:solidFill>
              <a:srgbClr val="97B9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85938" y="701483"/>
            <a:ext cx="2428875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8" name="Shape 15"/>
          <p:cNvSpPr/>
          <p:nvPr/>
        </p:nvSpPr>
        <p:spPr>
          <a:xfrm>
            <a:off x="1785938" y="908652"/>
            <a:ext cx="2428875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19" name="Text 16"/>
          <p:cNvSpPr/>
          <p:nvPr/>
        </p:nvSpPr>
        <p:spPr>
          <a:xfrm>
            <a:off x="1785938" y="701483"/>
            <a:ext cx="2428875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② 流量调度层（Higress）</a:t>
            </a:r>
            <a:endParaRPr lang="en-US" sz="585" dirty="0"/>
          </a:p>
        </p:txBody>
      </p:sp>
      <p:sp>
        <p:nvSpPr>
          <p:cNvPr id="20" name="Shape 17"/>
          <p:cNvSpPr/>
          <p:nvPr/>
        </p:nvSpPr>
        <p:spPr>
          <a:xfrm>
            <a:off x="1857375" y="987233"/>
            <a:ext cx="2286000" cy="314325"/>
          </a:xfrm>
          <a:prstGeom prst="rect">
            <a:avLst/>
          </a:prstGeom>
          <a:solidFill>
            <a:srgbClr val="F8FB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57375" y="987233"/>
            <a:ext cx="2286000" cy="19143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 Ingress 入口</a:t>
            </a:r>
            <a:endParaRPr lang="en-US" sz="685" dirty="0"/>
          </a:p>
        </p:txBody>
      </p:sp>
      <p:sp>
        <p:nvSpPr>
          <p:cNvPr id="22" name="Shape 19"/>
          <p:cNvSpPr/>
          <p:nvPr/>
        </p:nvSpPr>
        <p:spPr>
          <a:xfrm>
            <a:off x="1857375" y="1358708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00238" y="1408714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key-auth</a:t>
            </a:r>
            <a:endParaRPr lang="en-US" sz="535" dirty="0"/>
          </a:p>
        </p:txBody>
      </p:sp>
      <p:sp>
        <p:nvSpPr>
          <p:cNvPr id="24" name="Text 21"/>
          <p:cNvSpPr/>
          <p:nvPr/>
        </p:nvSpPr>
        <p:spPr>
          <a:xfrm>
            <a:off x="2257425" y="1508364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身份鉴权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028950" y="1358708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71813" y="1408714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ai-quota</a:t>
            </a:r>
            <a:endParaRPr lang="en-US" sz="535" dirty="0"/>
          </a:p>
        </p:txBody>
      </p:sp>
      <p:sp>
        <p:nvSpPr>
          <p:cNvPr id="27" name="Text 24"/>
          <p:cNvSpPr/>
          <p:nvPr/>
        </p:nvSpPr>
        <p:spPr>
          <a:xfrm>
            <a:off x="3429000" y="1508364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配额管理</a:t>
            </a:r>
            <a:endParaRPr lang="en-US" sz="570" dirty="0"/>
          </a:p>
        </p:txBody>
      </p:sp>
      <p:sp>
        <p:nvSpPr>
          <p:cNvPr id="28" name="Shape 25"/>
          <p:cNvSpPr/>
          <p:nvPr/>
        </p:nvSpPr>
        <p:spPr>
          <a:xfrm>
            <a:off x="1857375" y="1730183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00238" y="1780189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ai-token-ratelimit</a:t>
            </a:r>
            <a:endParaRPr lang="en-US" sz="535" dirty="0"/>
          </a:p>
        </p:txBody>
      </p:sp>
      <p:sp>
        <p:nvSpPr>
          <p:cNvPr id="30" name="Text 27"/>
          <p:cNvSpPr/>
          <p:nvPr/>
        </p:nvSpPr>
        <p:spPr>
          <a:xfrm>
            <a:off x="2220227" y="1879839"/>
            <a:ext cx="388693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Token 限流</a:t>
            </a:r>
            <a:endParaRPr lang="en-US" sz="570" dirty="0"/>
          </a:p>
        </p:txBody>
      </p:sp>
      <p:sp>
        <p:nvSpPr>
          <p:cNvPr id="31" name="Shape 28"/>
          <p:cNvSpPr/>
          <p:nvPr/>
        </p:nvSpPr>
        <p:spPr>
          <a:xfrm>
            <a:off x="3028950" y="1730183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71813" y="1780189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ai-statistics</a:t>
            </a:r>
            <a:endParaRPr lang="en-US" sz="535" dirty="0"/>
          </a:p>
        </p:txBody>
      </p:sp>
      <p:sp>
        <p:nvSpPr>
          <p:cNvPr id="33" name="Text 30"/>
          <p:cNvSpPr/>
          <p:nvPr/>
        </p:nvSpPr>
        <p:spPr>
          <a:xfrm>
            <a:off x="3429000" y="1879839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指标采集</a:t>
            </a:r>
            <a:endParaRPr lang="en-US" sz="570" dirty="0"/>
          </a:p>
        </p:txBody>
      </p:sp>
      <p:sp>
        <p:nvSpPr>
          <p:cNvPr id="34" name="Shape 31"/>
          <p:cNvSpPr/>
          <p:nvPr/>
        </p:nvSpPr>
        <p:spPr>
          <a:xfrm>
            <a:off x="1857375" y="2101658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00238" y="2151664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安全大模型</a:t>
            </a:r>
            <a:endParaRPr lang="en-US" sz="535" dirty="0"/>
          </a:p>
        </p:txBody>
      </p:sp>
      <p:sp>
        <p:nvSpPr>
          <p:cNvPr id="36" name="Text 33"/>
          <p:cNvSpPr/>
          <p:nvPr/>
        </p:nvSpPr>
        <p:spPr>
          <a:xfrm>
            <a:off x="2054275" y="2251314"/>
            <a:ext cx="720626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SecLLM / Qwen-Sec</a:t>
            </a:r>
            <a:endParaRPr lang="en-US" sz="570" dirty="0"/>
          </a:p>
        </p:txBody>
      </p:sp>
      <p:sp>
        <p:nvSpPr>
          <p:cNvPr id="37" name="Shape 34"/>
          <p:cNvSpPr/>
          <p:nvPr/>
        </p:nvSpPr>
        <p:spPr>
          <a:xfrm>
            <a:off x="3028950" y="2101658"/>
            <a:ext cx="1114425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97B9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71813" y="2151664"/>
            <a:ext cx="1028700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通用大模型</a:t>
            </a:r>
            <a:endParaRPr lang="en-US" sz="535" dirty="0"/>
          </a:p>
        </p:txBody>
      </p:sp>
      <p:sp>
        <p:nvSpPr>
          <p:cNvPr id="39" name="Text 36"/>
          <p:cNvSpPr/>
          <p:nvPr/>
        </p:nvSpPr>
        <p:spPr>
          <a:xfrm>
            <a:off x="3295641" y="2251314"/>
            <a:ext cx="581016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OpenAI / Claude</a:t>
            </a:r>
            <a:endParaRPr lang="en-US" sz="570" dirty="0"/>
          </a:p>
        </p:txBody>
      </p:sp>
      <p:sp>
        <p:nvSpPr>
          <p:cNvPr id="40" name="Shape 37"/>
          <p:cNvSpPr/>
          <p:nvPr/>
        </p:nvSpPr>
        <p:spPr>
          <a:xfrm>
            <a:off x="4286250" y="701483"/>
            <a:ext cx="2357438" cy="2257425"/>
          </a:xfrm>
          <a:prstGeom prst="rect">
            <a:avLst/>
          </a:prstGeom>
          <a:solidFill>
            <a:srgbClr val="FFFFFF"/>
          </a:solidFill>
          <a:ln w="18288">
            <a:solidFill>
              <a:srgbClr val="F1C27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86250" y="701483"/>
            <a:ext cx="2357438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42" name="Shape 39"/>
          <p:cNvSpPr/>
          <p:nvPr/>
        </p:nvSpPr>
        <p:spPr>
          <a:xfrm>
            <a:off x="4286250" y="908652"/>
            <a:ext cx="2357438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43" name="Text 40"/>
          <p:cNvSpPr/>
          <p:nvPr/>
        </p:nvSpPr>
        <p:spPr>
          <a:xfrm>
            <a:off x="4286250" y="701483"/>
            <a:ext cx="2357438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D9770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③ 智能体编排层（OpenCode）</a:t>
            </a:r>
            <a:endParaRPr lang="en-US" sz="585" dirty="0"/>
          </a:p>
        </p:txBody>
      </p:sp>
      <p:sp>
        <p:nvSpPr>
          <p:cNvPr id="44" name="Shape 41"/>
          <p:cNvSpPr/>
          <p:nvPr/>
        </p:nvSpPr>
        <p:spPr>
          <a:xfrm>
            <a:off x="4357688" y="987233"/>
            <a:ext cx="107870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F1C27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00550" y="1037239"/>
            <a:ext cx="99298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FastAPI</a:t>
            </a:r>
            <a:endParaRPr lang="en-US" sz="535" dirty="0"/>
          </a:p>
        </p:txBody>
      </p:sp>
      <p:sp>
        <p:nvSpPr>
          <p:cNvPr id="46" name="Text 43"/>
          <p:cNvSpPr/>
          <p:nvPr/>
        </p:nvSpPr>
        <p:spPr>
          <a:xfrm>
            <a:off x="4739878" y="1136889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异步服务</a:t>
            </a:r>
            <a:endParaRPr lang="en-US" sz="570" dirty="0"/>
          </a:p>
        </p:txBody>
      </p:sp>
      <p:sp>
        <p:nvSpPr>
          <p:cNvPr id="47" name="Shape 44"/>
          <p:cNvSpPr/>
          <p:nvPr/>
        </p:nvSpPr>
        <p:spPr>
          <a:xfrm>
            <a:off x="5493544" y="987233"/>
            <a:ext cx="107870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F1C27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36406" y="1037239"/>
            <a:ext cx="99298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Celery + Redis</a:t>
            </a:r>
            <a:endParaRPr lang="en-US" sz="535" dirty="0"/>
          </a:p>
        </p:txBody>
      </p:sp>
      <p:sp>
        <p:nvSpPr>
          <p:cNvPr id="49" name="Text 46"/>
          <p:cNvSpPr/>
          <p:nvPr/>
        </p:nvSpPr>
        <p:spPr>
          <a:xfrm>
            <a:off x="5875734" y="1136889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任务队列</a:t>
            </a:r>
            <a:endParaRPr lang="en-US" sz="570" dirty="0"/>
          </a:p>
        </p:txBody>
      </p:sp>
      <p:sp>
        <p:nvSpPr>
          <p:cNvPr id="50" name="Shape 47"/>
          <p:cNvSpPr/>
          <p:nvPr/>
        </p:nvSpPr>
        <p:spPr>
          <a:xfrm>
            <a:off x="4357688" y="1358708"/>
            <a:ext cx="2214563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F1C27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400550" y="1408714"/>
            <a:ext cx="2128838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Planner Agent</a:t>
            </a:r>
            <a:endParaRPr lang="en-US" sz="535" dirty="0"/>
          </a:p>
        </p:txBody>
      </p:sp>
      <p:sp>
        <p:nvSpPr>
          <p:cNvPr id="52" name="Text 49"/>
          <p:cNvSpPr/>
          <p:nvPr/>
        </p:nvSpPr>
        <p:spPr>
          <a:xfrm>
            <a:off x="4923634" y="1508364"/>
            <a:ext cx="1082641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意图解析 · 任务拆解 · 状态管理</a:t>
            </a:r>
            <a:endParaRPr lang="en-US" sz="570" dirty="0"/>
          </a:p>
        </p:txBody>
      </p:sp>
      <p:sp>
        <p:nvSpPr>
          <p:cNvPr id="53" name="Shape 50"/>
          <p:cNvSpPr/>
          <p:nvPr/>
        </p:nvSpPr>
        <p:spPr>
          <a:xfrm>
            <a:off x="4357688" y="1730183"/>
            <a:ext cx="107870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F1C27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400550" y="1780189"/>
            <a:ext cx="99298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MCP 工具调度器</a:t>
            </a:r>
            <a:endParaRPr lang="en-US" sz="535" dirty="0"/>
          </a:p>
        </p:txBody>
      </p:sp>
      <p:sp>
        <p:nvSpPr>
          <p:cNvPr id="55" name="Text 52"/>
          <p:cNvSpPr/>
          <p:nvPr/>
        </p:nvSpPr>
        <p:spPr>
          <a:xfrm>
            <a:off x="4661297" y="1879839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工具指令生成</a:t>
            </a:r>
            <a:endParaRPr lang="en-US" sz="570" dirty="0"/>
          </a:p>
        </p:txBody>
      </p:sp>
      <p:sp>
        <p:nvSpPr>
          <p:cNvPr id="56" name="Shape 53"/>
          <p:cNvSpPr/>
          <p:nvPr/>
        </p:nvSpPr>
        <p:spPr>
          <a:xfrm>
            <a:off x="5493544" y="1730183"/>
            <a:ext cx="107870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F1C27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536406" y="1780189"/>
            <a:ext cx="99298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SSE 状态推送</a:t>
            </a:r>
            <a:endParaRPr lang="en-US" sz="535" dirty="0"/>
          </a:p>
        </p:txBody>
      </p:sp>
      <p:sp>
        <p:nvSpPr>
          <p:cNvPr id="58" name="Text 55"/>
          <p:cNvSpPr/>
          <p:nvPr/>
        </p:nvSpPr>
        <p:spPr>
          <a:xfrm>
            <a:off x="5797153" y="1879839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流式结果输出</a:t>
            </a:r>
            <a:endParaRPr lang="en-US" sz="570" dirty="0"/>
          </a:p>
        </p:txBody>
      </p:sp>
      <p:sp>
        <p:nvSpPr>
          <p:cNvPr id="59" name="Shape 56"/>
          <p:cNvSpPr/>
          <p:nvPr/>
        </p:nvSpPr>
        <p:spPr>
          <a:xfrm>
            <a:off x="6715125" y="701483"/>
            <a:ext cx="2214563" cy="2257425"/>
          </a:xfrm>
          <a:prstGeom prst="rect">
            <a:avLst/>
          </a:prstGeom>
          <a:solidFill>
            <a:srgbClr val="FFFFFF"/>
          </a:solidFill>
          <a:ln w="18288">
            <a:solidFill>
              <a:srgbClr val="86D4A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715125" y="701483"/>
            <a:ext cx="2214563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61" name="Shape 58"/>
          <p:cNvSpPr/>
          <p:nvPr/>
        </p:nvSpPr>
        <p:spPr>
          <a:xfrm>
            <a:off x="6715125" y="908652"/>
            <a:ext cx="2214563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62" name="Text 59"/>
          <p:cNvSpPr/>
          <p:nvPr/>
        </p:nvSpPr>
        <p:spPr>
          <a:xfrm>
            <a:off x="6715125" y="701483"/>
            <a:ext cx="2214563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④ 沙箱执行层（E2B）</a:t>
            </a:r>
            <a:endParaRPr lang="en-US" sz="585" dirty="0"/>
          </a:p>
        </p:txBody>
      </p:sp>
      <p:sp>
        <p:nvSpPr>
          <p:cNvPr id="63" name="Shape 60"/>
          <p:cNvSpPr/>
          <p:nvPr/>
        </p:nvSpPr>
        <p:spPr>
          <a:xfrm>
            <a:off x="6786563" y="987233"/>
            <a:ext cx="2071688" cy="314325"/>
          </a:xfrm>
          <a:prstGeom prst="rect">
            <a:avLst/>
          </a:prstGeom>
          <a:solidFill>
            <a:srgbClr val="F8FB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86563" y="987233"/>
            <a:ext cx="2071688" cy="19143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 沙箱调度器</a:t>
            </a:r>
            <a:endParaRPr lang="en-US" sz="685" dirty="0"/>
          </a:p>
        </p:txBody>
      </p:sp>
      <p:sp>
        <p:nvSpPr>
          <p:cNvPr id="65" name="Shape 62"/>
          <p:cNvSpPr/>
          <p:nvPr/>
        </p:nvSpPr>
        <p:spPr>
          <a:xfrm>
            <a:off x="6786563" y="1358708"/>
            <a:ext cx="100726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829425" y="1408714"/>
            <a:ext cx="92154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网络隔离</a:t>
            </a:r>
            <a:endParaRPr lang="en-US" sz="535" dirty="0"/>
          </a:p>
        </p:txBody>
      </p:sp>
      <p:sp>
        <p:nvSpPr>
          <p:cNvPr id="67" name="Text 64"/>
          <p:cNvSpPr/>
          <p:nvPr/>
        </p:nvSpPr>
        <p:spPr>
          <a:xfrm>
            <a:off x="6966998" y="1508364"/>
            <a:ext cx="64639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VPC / Namespace</a:t>
            </a:r>
            <a:endParaRPr lang="en-US" sz="570" dirty="0"/>
          </a:p>
        </p:txBody>
      </p:sp>
      <p:sp>
        <p:nvSpPr>
          <p:cNvPr id="68" name="Shape 65"/>
          <p:cNvSpPr/>
          <p:nvPr/>
        </p:nvSpPr>
        <p:spPr>
          <a:xfrm>
            <a:off x="7850981" y="1358708"/>
            <a:ext cx="100726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893844" y="1408714"/>
            <a:ext cx="92154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资源限制</a:t>
            </a:r>
            <a:endParaRPr lang="en-US" sz="535" dirty="0"/>
          </a:p>
        </p:txBody>
      </p:sp>
      <p:sp>
        <p:nvSpPr>
          <p:cNvPr id="70" name="Text 67"/>
          <p:cNvSpPr/>
          <p:nvPr/>
        </p:nvSpPr>
        <p:spPr>
          <a:xfrm>
            <a:off x="8066298" y="1508364"/>
            <a:ext cx="576607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Cgroups / Quota</a:t>
            </a:r>
            <a:endParaRPr lang="en-US" sz="570" dirty="0"/>
          </a:p>
        </p:txBody>
      </p:sp>
      <p:sp>
        <p:nvSpPr>
          <p:cNvPr id="71" name="Shape 68"/>
          <p:cNvSpPr/>
          <p:nvPr/>
        </p:nvSpPr>
        <p:spPr>
          <a:xfrm>
            <a:off x="6786563" y="1730183"/>
            <a:ext cx="47505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786563" y="1730183"/>
            <a:ext cx="475059" cy="150577"/>
          </a:xfrm>
          <a:prstGeom prst="rect">
            <a:avLst/>
          </a:prstGeom>
          <a:noFill/>
        </p:spPr>
        <p:txBody>
          <a:bodyPr wrap="none" lIns="51054" tIns="59563" rIns="51054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Nmap</a:t>
            </a:r>
            <a:endParaRPr lang="en-US" sz="570" dirty="0"/>
          </a:p>
        </p:txBody>
      </p:sp>
      <p:sp>
        <p:nvSpPr>
          <p:cNvPr id="73" name="Shape 70"/>
          <p:cNvSpPr/>
          <p:nvPr/>
        </p:nvSpPr>
        <p:spPr>
          <a:xfrm>
            <a:off x="7318772" y="1730183"/>
            <a:ext cx="47505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318772" y="1730183"/>
            <a:ext cx="475059" cy="150577"/>
          </a:xfrm>
          <a:prstGeom prst="rect">
            <a:avLst/>
          </a:prstGeom>
          <a:noFill/>
        </p:spPr>
        <p:txBody>
          <a:bodyPr wrap="none" lIns="51054" tIns="59563" rIns="51054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SQLMap</a:t>
            </a:r>
            <a:endParaRPr lang="en-US" sz="570" dirty="0"/>
          </a:p>
        </p:txBody>
      </p:sp>
      <p:sp>
        <p:nvSpPr>
          <p:cNvPr id="75" name="Shape 72"/>
          <p:cNvSpPr/>
          <p:nvPr/>
        </p:nvSpPr>
        <p:spPr>
          <a:xfrm>
            <a:off x="7850981" y="1730183"/>
            <a:ext cx="47505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850981" y="1730183"/>
            <a:ext cx="475059" cy="150577"/>
          </a:xfrm>
          <a:prstGeom prst="rect">
            <a:avLst/>
          </a:prstGeom>
          <a:noFill/>
        </p:spPr>
        <p:txBody>
          <a:bodyPr wrap="none" lIns="51054" tIns="59563" rIns="51054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Burp Suite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8383191" y="1730183"/>
            <a:ext cx="475059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383191" y="1730183"/>
            <a:ext cx="475059" cy="150577"/>
          </a:xfrm>
          <a:prstGeom prst="rect">
            <a:avLst/>
          </a:prstGeom>
          <a:noFill/>
        </p:spPr>
        <p:txBody>
          <a:bodyPr wrap="none" lIns="51054" tIns="59563" rIns="51054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Metasploit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6786563" y="2101658"/>
            <a:ext cx="207168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86D4A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786563" y="2101658"/>
            <a:ext cx="2071688" cy="150577"/>
          </a:xfrm>
          <a:prstGeom prst="rect">
            <a:avLst/>
          </a:prstGeom>
          <a:noFill/>
        </p:spPr>
        <p:txBody>
          <a:bodyPr wrap="none" lIns="51054" tIns="59563" rIns="51054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执行日志采集 &amp; 结果捕获</a:t>
            </a:r>
            <a:endParaRPr lang="en-US" sz="570" dirty="0"/>
          </a:p>
        </p:txBody>
      </p:sp>
      <p:sp>
        <p:nvSpPr>
          <p:cNvPr id="81" name="Shape 78"/>
          <p:cNvSpPr/>
          <p:nvPr/>
        </p:nvSpPr>
        <p:spPr>
          <a:xfrm>
            <a:off x="214313" y="3030345"/>
            <a:ext cx="2857500" cy="1128713"/>
          </a:xfrm>
          <a:prstGeom prst="rect">
            <a:avLst/>
          </a:prstGeom>
          <a:solidFill>
            <a:srgbClr val="FFFFFF"/>
          </a:solidFill>
          <a:ln w="18288">
            <a:solidFill>
              <a:srgbClr val="EF9EC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14313" y="3030345"/>
            <a:ext cx="2857500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83" name="Shape 80"/>
          <p:cNvSpPr/>
          <p:nvPr/>
        </p:nvSpPr>
        <p:spPr>
          <a:xfrm>
            <a:off x="214313" y="3237514"/>
            <a:ext cx="2857500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84" name="Text 81"/>
          <p:cNvSpPr/>
          <p:nvPr/>
        </p:nvSpPr>
        <p:spPr>
          <a:xfrm>
            <a:off x="214313" y="3030345"/>
            <a:ext cx="2857500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DB277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⑤-A 计费系统</a:t>
            </a:r>
            <a:endParaRPr lang="en-US" sz="585" dirty="0"/>
          </a:p>
        </p:txBody>
      </p:sp>
      <p:sp>
        <p:nvSpPr>
          <p:cNvPr id="85" name="Shape 82"/>
          <p:cNvSpPr/>
          <p:nvPr/>
        </p:nvSpPr>
        <p:spPr>
          <a:xfrm>
            <a:off x="285750" y="3316095"/>
            <a:ext cx="86676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8613" y="3366102"/>
            <a:ext cx="78104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Kafka</a:t>
            </a:r>
            <a:endParaRPr lang="en-US" sz="535" dirty="0"/>
          </a:p>
        </p:txBody>
      </p:sp>
      <p:sp>
        <p:nvSpPr>
          <p:cNvPr id="87" name="Text 84"/>
          <p:cNvSpPr/>
          <p:nvPr/>
        </p:nvSpPr>
        <p:spPr>
          <a:xfrm>
            <a:off x="561956" y="3465751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事件总线</a:t>
            </a:r>
            <a:endParaRPr lang="en-US" sz="570" dirty="0"/>
          </a:p>
        </p:txBody>
      </p:sp>
      <p:sp>
        <p:nvSpPr>
          <p:cNvPr id="88" name="Shape 85"/>
          <p:cNvSpPr/>
          <p:nvPr/>
        </p:nvSpPr>
        <p:spPr>
          <a:xfrm>
            <a:off x="1209666" y="3316095"/>
            <a:ext cx="86676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252528" y="3366102"/>
            <a:ext cx="78104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OpenMeter</a:t>
            </a:r>
            <a:endParaRPr lang="en-US" sz="535" dirty="0"/>
          </a:p>
        </p:txBody>
      </p:sp>
      <p:sp>
        <p:nvSpPr>
          <p:cNvPr id="90" name="Text 87"/>
          <p:cNvSpPr/>
          <p:nvPr/>
        </p:nvSpPr>
        <p:spPr>
          <a:xfrm>
            <a:off x="1407291" y="3465751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实时计量引擎</a:t>
            </a:r>
            <a:endParaRPr lang="en-US" sz="570" dirty="0"/>
          </a:p>
        </p:txBody>
      </p:sp>
      <p:sp>
        <p:nvSpPr>
          <p:cNvPr id="91" name="Shape 88"/>
          <p:cNvSpPr/>
          <p:nvPr/>
        </p:nvSpPr>
        <p:spPr>
          <a:xfrm>
            <a:off x="2133581" y="3316095"/>
            <a:ext cx="866794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2176444" y="3366102"/>
            <a:ext cx="781069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ClickHouse</a:t>
            </a:r>
            <a:endParaRPr lang="en-US" sz="535" dirty="0"/>
          </a:p>
        </p:txBody>
      </p:sp>
      <p:sp>
        <p:nvSpPr>
          <p:cNvPr id="93" name="Text 90"/>
          <p:cNvSpPr/>
          <p:nvPr/>
        </p:nvSpPr>
        <p:spPr>
          <a:xfrm>
            <a:off x="2331234" y="3465751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计量数据存储</a:t>
            </a:r>
            <a:endParaRPr lang="en-US" sz="570" dirty="0"/>
          </a:p>
        </p:txBody>
      </p:sp>
      <p:sp>
        <p:nvSpPr>
          <p:cNvPr id="94" name="Shape 91"/>
          <p:cNvSpPr/>
          <p:nvPr/>
        </p:nvSpPr>
        <p:spPr>
          <a:xfrm>
            <a:off x="285750" y="3687570"/>
            <a:ext cx="86676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8613" y="3737577"/>
            <a:ext cx="78104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Stripe</a:t>
            </a:r>
            <a:endParaRPr lang="en-US" sz="535" dirty="0"/>
          </a:p>
        </p:txBody>
      </p:sp>
      <p:sp>
        <p:nvSpPr>
          <p:cNvPr id="96" name="Text 93"/>
          <p:cNvSpPr/>
          <p:nvPr/>
        </p:nvSpPr>
        <p:spPr>
          <a:xfrm>
            <a:off x="522666" y="3837226"/>
            <a:ext cx="392906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账单与支付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1209666" y="3687570"/>
            <a:ext cx="866766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252528" y="3737577"/>
            <a:ext cx="781041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预付费积分系统</a:t>
            </a:r>
            <a:endParaRPr lang="en-US" sz="535" dirty="0"/>
          </a:p>
        </p:txBody>
      </p:sp>
      <p:sp>
        <p:nvSpPr>
          <p:cNvPr id="99" name="Text 96"/>
          <p:cNvSpPr/>
          <p:nvPr/>
        </p:nvSpPr>
        <p:spPr>
          <a:xfrm>
            <a:off x="1485872" y="3837226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余额扣减</a:t>
            </a:r>
            <a:endParaRPr lang="en-US" sz="570" dirty="0"/>
          </a:p>
        </p:txBody>
      </p:sp>
      <p:sp>
        <p:nvSpPr>
          <p:cNvPr id="100" name="Shape 97"/>
          <p:cNvSpPr/>
          <p:nvPr/>
        </p:nvSpPr>
        <p:spPr>
          <a:xfrm>
            <a:off x="2133581" y="3687570"/>
            <a:ext cx="866794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EF9EC2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2176444" y="3737577"/>
            <a:ext cx="781069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账单自动生成</a:t>
            </a:r>
            <a:endParaRPr lang="en-US" sz="535" dirty="0"/>
          </a:p>
        </p:txBody>
      </p:sp>
      <p:sp>
        <p:nvSpPr>
          <p:cNvPr id="102" name="Text 99"/>
          <p:cNvSpPr/>
          <p:nvPr/>
        </p:nvSpPr>
        <p:spPr>
          <a:xfrm>
            <a:off x="2409816" y="3837226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邮件通知</a:t>
            </a:r>
            <a:endParaRPr lang="en-US" sz="570" dirty="0"/>
          </a:p>
        </p:txBody>
      </p:sp>
      <p:sp>
        <p:nvSpPr>
          <p:cNvPr id="103" name="Shape 100"/>
          <p:cNvSpPr/>
          <p:nvPr/>
        </p:nvSpPr>
        <p:spPr>
          <a:xfrm>
            <a:off x="3143250" y="3030345"/>
            <a:ext cx="2857500" cy="1128713"/>
          </a:xfrm>
          <a:prstGeom prst="rect">
            <a:avLst/>
          </a:prstGeom>
          <a:solidFill>
            <a:srgbClr val="FFFFFF"/>
          </a:solidFill>
          <a:ln w="18288">
            <a:solidFill>
              <a:srgbClr val="C4A6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143250" y="3030345"/>
            <a:ext cx="2857500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05" name="Shape 102"/>
          <p:cNvSpPr/>
          <p:nvPr/>
        </p:nvSpPr>
        <p:spPr>
          <a:xfrm>
            <a:off x="3143250" y="3237514"/>
            <a:ext cx="2857500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106" name="Text 103"/>
          <p:cNvSpPr/>
          <p:nvPr/>
        </p:nvSpPr>
        <p:spPr>
          <a:xfrm>
            <a:off x="3143250" y="3030345"/>
            <a:ext cx="2857500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7C3AE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⑤-B 多租户与权限</a:t>
            </a:r>
            <a:endParaRPr lang="en-US" sz="585" dirty="0"/>
          </a:p>
        </p:txBody>
      </p:sp>
      <p:sp>
        <p:nvSpPr>
          <p:cNvPr id="107" name="Shape 104"/>
          <p:cNvSpPr/>
          <p:nvPr/>
        </p:nvSpPr>
        <p:spPr>
          <a:xfrm>
            <a:off x="3214688" y="3316095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C4A6FF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3257550" y="3366102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PostgreSQL</a:t>
            </a:r>
            <a:endParaRPr lang="en-US" sz="535" dirty="0"/>
          </a:p>
        </p:txBody>
      </p:sp>
      <p:sp>
        <p:nvSpPr>
          <p:cNvPr id="109" name="Text 106"/>
          <p:cNvSpPr/>
          <p:nvPr/>
        </p:nvSpPr>
        <p:spPr>
          <a:xfrm>
            <a:off x="3527534" y="3465751"/>
            <a:ext cx="70301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Schema 级租户隔离</a:t>
            </a:r>
            <a:endParaRPr lang="en-US" sz="570" dirty="0"/>
          </a:p>
        </p:txBody>
      </p:sp>
      <p:sp>
        <p:nvSpPr>
          <p:cNvPr id="110" name="Shape 107"/>
          <p:cNvSpPr/>
          <p:nvPr/>
        </p:nvSpPr>
        <p:spPr>
          <a:xfrm>
            <a:off x="4600575" y="3316095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C4A6FF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643438" y="3366102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RBAC 权限中心</a:t>
            </a:r>
            <a:endParaRPr lang="en-US" sz="535" dirty="0"/>
          </a:p>
        </p:txBody>
      </p:sp>
      <p:sp>
        <p:nvSpPr>
          <p:cNvPr id="112" name="Text 109"/>
          <p:cNvSpPr/>
          <p:nvPr/>
        </p:nvSpPr>
        <p:spPr>
          <a:xfrm>
            <a:off x="4963678" y="3465751"/>
            <a:ext cx="602503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角色 / 资源 / 策略</a:t>
            </a:r>
            <a:endParaRPr lang="en-US" sz="570" dirty="0"/>
          </a:p>
        </p:txBody>
      </p:sp>
      <p:sp>
        <p:nvSpPr>
          <p:cNvPr id="113" name="Shape 110"/>
          <p:cNvSpPr/>
          <p:nvPr/>
        </p:nvSpPr>
        <p:spPr>
          <a:xfrm>
            <a:off x="3214688" y="3687570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C4A6FF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257550" y="3737577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Redis</a:t>
            </a:r>
            <a:endParaRPr lang="en-US" sz="535" dirty="0"/>
          </a:p>
        </p:txBody>
      </p:sp>
      <p:sp>
        <p:nvSpPr>
          <p:cNvPr id="115" name="Text 112"/>
          <p:cNvSpPr/>
          <p:nvPr/>
        </p:nvSpPr>
        <p:spPr>
          <a:xfrm>
            <a:off x="3534063" y="3837226"/>
            <a:ext cx="689986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Session &amp; 配额缓存</a:t>
            </a:r>
            <a:endParaRPr lang="en-US" sz="570" dirty="0"/>
          </a:p>
        </p:txBody>
      </p:sp>
      <p:sp>
        <p:nvSpPr>
          <p:cNvPr id="116" name="Shape 113"/>
          <p:cNvSpPr/>
          <p:nvPr/>
        </p:nvSpPr>
        <p:spPr>
          <a:xfrm>
            <a:off x="4600575" y="3687570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C4A6FF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4643438" y="3737577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审计日志</a:t>
            </a:r>
            <a:endParaRPr lang="en-US" sz="535" dirty="0"/>
          </a:p>
        </p:txBody>
      </p:sp>
      <p:sp>
        <p:nvSpPr>
          <p:cNvPr id="118" name="Text 115"/>
          <p:cNvSpPr/>
          <p:nvPr/>
        </p:nvSpPr>
        <p:spPr>
          <a:xfrm>
            <a:off x="4981147" y="3837226"/>
            <a:ext cx="56756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操作记录 &amp; 合规</a:t>
            </a:r>
            <a:endParaRPr lang="en-US" sz="570" dirty="0"/>
          </a:p>
        </p:txBody>
      </p:sp>
      <p:sp>
        <p:nvSpPr>
          <p:cNvPr id="119" name="Shape 116"/>
          <p:cNvSpPr/>
          <p:nvPr/>
        </p:nvSpPr>
        <p:spPr>
          <a:xfrm>
            <a:off x="6072188" y="3030345"/>
            <a:ext cx="2857500" cy="1128713"/>
          </a:xfrm>
          <a:prstGeom prst="rect">
            <a:avLst/>
          </a:prstGeom>
          <a:solidFill>
            <a:srgbClr val="FFFFFF"/>
          </a:solidFill>
          <a:ln w="18288">
            <a:solidFill>
              <a:srgbClr val="D1D5DB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072188" y="3030345"/>
            <a:ext cx="2857500" cy="21431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21" name="Shape 118"/>
          <p:cNvSpPr/>
          <p:nvPr/>
        </p:nvSpPr>
        <p:spPr>
          <a:xfrm>
            <a:off x="6072188" y="3237514"/>
            <a:ext cx="2857500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122" name="Text 119"/>
          <p:cNvSpPr/>
          <p:nvPr/>
        </p:nvSpPr>
        <p:spPr>
          <a:xfrm>
            <a:off x="6072188" y="3030345"/>
            <a:ext cx="2857500" cy="142875"/>
          </a:xfrm>
          <a:prstGeom prst="rect">
            <a:avLst/>
          </a:prstGeom>
          <a:noFill/>
        </p:spPr>
        <p:txBody>
          <a:bodyPr wrap="none" lIns="85090" tIns="42545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⑤-C 运维监控</a:t>
            </a:r>
            <a:endParaRPr lang="en-US" sz="585" dirty="0"/>
          </a:p>
        </p:txBody>
      </p:sp>
      <p:sp>
        <p:nvSpPr>
          <p:cNvPr id="123" name="Shape 120"/>
          <p:cNvSpPr/>
          <p:nvPr/>
        </p:nvSpPr>
        <p:spPr>
          <a:xfrm>
            <a:off x="6143625" y="3316095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186488" y="3366102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Kubernetes + Helm</a:t>
            </a:r>
            <a:endParaRPr lang="en-US" sz="535" dirty="0"/>
          </a:p>
        </p:txBody>
      </p:sp>
      <p:sp>
        <p:nvSpPr>
          <p:cNvPr id="125" name="Text 122"/>
          <p:cNvSpPr/>
          <p:nvPr/>
        </p:nvSpPr>
        <p:spPr>
          <a:xfrm>
            <a:off x="6650831" y="3465751"/>
            <a:ext cx="3143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集群管控</a:t>
            </a:r>
            <a:endParaRPr lang="en-US" sz="570" dirty="0"/>
          </a:p>
        </p:txBody>
      </p:sp>
      <p:sp>
        <p:nvSpPr>
          <p:cNvPr id="126" name="Shape 123"/>
          <p:cNvSpPr/>
          <p:nvPr/>
        </p:nvSpPr>
        <p:spPr>
          <a:xfrm>
            <a:off x="7529513" y="3316095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7572375" y="3366102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Prometheus + Grafana</a:t>
            </a:r>
            <a:endParaRPr lang="en-US" sz="535" dirty="0"/>
          </a:p>
        </p:txBody>
      </p:sp>
      <p:sp>
        <p:nvSpPr>
          <p:cNvPr id="128" name="Text 125"/>
          <p:cNvSpPr/>
          <p:nvPr/>
        </p:nvSpPr>
        <p:spPr>
          <a:xfrm>
            <a:off x="7918847" y="3465751"/>
            <a:ext cx="550069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指标监控与告警</a:t>
            </a:r>
            <a:endParaRPr lang="en-US" sz="570" dirty="0"/>
          </a:p>
        </p:txBody>
      </p:sp>
      <p:sp>
        <p:nvSpPr>
          <p:cNvPr id="129" name="Shape 126"/>
          <p:cNvSpPr/>
          <p:nvPr/>
        </p:nvSpPr>
        <p:spPr>
          <a:xfrm>
            <a:off x="6143625" y="3687570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6186488" y="3737577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 Actions</a:t>
            </a:r>
            <a:endParaRPr lang="en-US" sz="535" dirty="0"/>
          </a:p>
        </p:txBody>
      </p:sp>
      <p:sp>
        <p:nvSpPr>
          <p:cNvPr id="131" name="Text 128"/>
          <p:cNvSpPr/>
          <p:nvPr/>
        </p:nvSpPr>
        <p:spPr>
          <a:xfrm>
            <a:off x="6572250" y="3837226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CI/CD 自动化</a:t>
            </a:r>
            <a:endParaRPr lang="en-US" sz="570" dirty="0"/>
          </a:p>
        </p:txBody>
      </p:sp>
      <p:sp>
        <p:nvSpPr>
          <p:cNvPr id="132" name="Shape 129"/>
          <p:cNvSpPr/>
          <p:nvPr/>
        </p:nvSpPr>
        <p:spPr>
          <a:xfrm>
            <a:off x="7529513" y="3687570"/>
            <a:ext cx="1328738" cy="314325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7572375" y="3737577"/>
            <a:ext cx="1243013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ELK Stack</a:t>
            </a:r>
            <a:endParaRPr lang="en-US" sz="535" dirty="0"/>
          </a:p>
        </p:txBody>
      </p:sp>
      <p:sp>
        <p:nvSpPr>
          <p:cNvPr id="134" name="Text 131"/>
          <p:cNvSpPr/>
          <p:nvPr/>
        </p:nvSpPr>
        <p:spPr>
          <a:xfrm>
            <a:off x="7958138" y="3837226"/>
            <a:ext cx="471488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日志聚合分析</a:t>
            </a:r>
            <a:endParaRPr lang="en-US" sz="570" dirty="0"/>
          </a:p>
        </p:txBody>
      </p:sp>
      <p:sp>
        <p:nvSpPr>
          <p:cNvPr id="135" name="Text 132"/>
          <p:cNvSpPr/>
          <p:nvPr/>
        </p:nvSpPr>
        <p:spPr>
          <a:xfrm>
            <a:off x="214313" y="4223352"/>
            <a:ext cx="8715375" cy="163218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链路说明：HTTPS、路由转发、MCP 指令、结果回传、SSE 推送、Token 消耗事件、沙箱时长事件、校验租户身份。图例：</a:t>
            </a:r>
            <a:r>
              <a:rPr lang="en-US" sz="535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蓝色=流量调度</a:t>
            </a: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535" b="1" dirty="0">
                <a:solidFill>
                  <a:srgbClr val="D9770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橙色=智能体编排</a:t>
            </a: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53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绿色=沙箱执行</a:t>
            </a: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535" b="1" dirty="0">
                <a:solidFill>
                  <a:srgbClr val="7C3AE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紫色=多租户权限</a:t>
            </a: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535" b="1" dirty="0">
                <a:solidFill>
                  <a:srgbClr val="DB277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粉色=计费系统</a:t>
            </a:r>
            <a:r>
              <a:rPr lang="en-US" sz="57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535" b="1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灰色=运维监控</a:t>
            </a:r>
            <a:endParaRPr lang="en-US" sz="5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142875"/>
            <a:ext cx="8715375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网络安全大模型智能体平台 — 业务流转逻辑图</a:t>
            </a:r>
            <a:endParaRPr lang="en-US" sz="1395" dirty="0"/>
          </a:p>
        </p:txBody>
      </p:sp>
      <p:sp>
        <p:nvSpPr>
          <p:cNvPr id="4" name="Text 1"/>
          <p:cNvSpPr/>
          <p:nvPr/>
        </p:nvSpPr>
        <p:spPr>
          <a:xfrm>
            <a:off x="214313" y="411463"/>
            <a:ext cx="8715375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智能化调度循环体：指令输入 → 鉴权路由 → ［任务规划 ⇄ 沙箱执行（循环往复）］ → 结果输出 → 计量计费</a:t>
            </a:r>
            <a:endParaRPr lang="en-US" sz="835" dirty="0"/>
          </a:p>
        </p:txBody>
      </p:sp>
      <p:sp>
        <p:nvSpPr>
          <p:cNvPr id="5" name="Shape 2"/>
          <p:cNvSpPr/>
          <p:nvPr/>
        </p:nvSpPr>
        <p:spPr>
          <a:xfrm>
            <a:off x="214313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AEB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313" y="701483"/>
            <a:ext cx="1393031" cy="315302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7" name="Shape 4"/>
          <p:cNvSpPr/>
          <p:nvPr/>
        </p:nvSpPr>
        <p:spPr>
          <a:xfrm>
            <a:off x="214313" y="1009641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8" name="Text 5"/>
          <p:cNvSpPr/>
          <p:nvPr/>
        </p:nvSpPr>
        <p:spPr>
          <a:xfrm>
            <a:off x="278606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4F46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1</a:t>
            </a:r>
            <a:endParaRPr lang="en-US" sz="585" dirty="0"/>
          </a:p>
        </p:txBody>
      </p:sp>
      <p:sp>
        <p:nvSpPr>
          <p:cNvPr id="9" name="Text 6"/>
          <p:cNvSpPr/>
          <p:nvPr/>
        </p:nvSpPr>
        <p:spPr>
          <a:xfrm>
            <a:off x="278606" y="861492"/>
            <a:ext cx="1264444" cy="1481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用户接入</a:t>
            </a:r>
            <a:endParaRPr lang="en-US" sz="835" dirty="0"/>
          </a:p>
        </p:txBody>
      </p:sp>
      <p:sp>
        <p:nvSpPr>
          <p:cNvPr id="10" name="Shape 7"/>
          <p:cNvSpPr/>
          <p:nvPr/>
        </p:nvSpPr>
        <p:spPr>
          <a:xfrm>
            <a:off x="271463" y="106679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7181" y="111679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安全工程师</a:t>
            </a:r>
            <a:endParaRPr lang="en-US" sz="535" dirty="0"/>
          </a:p>
        </p:txBody>
      </p:sp>
      <p:sp>
        <p:nvSpPr>
          <p:cNvPr id="12" name="Shape 9"/>
          <p:cNvSpPr/>
          <p:nvPr/>
        </p:nvSpPr>
        <p:spPr>
          <a:xfrm>
            <a:off x="271463" y="147398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7181" y="1523991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Web 控制台</a:t>
            </a:r>
            <a:endParaRPr lang="en-US" sz="535" dirty="0"/>
          </a:p>
        </p:txBody>
      </p:sp>
      <p:sp>
        <p:nvSpPr>
          <p:cNvPr id="14" name="Text 11"/>
          <p:cNvSpPr/>
          <p:nvPr/>
        </p:nvSpPr>
        <p:spPr>
          <a:xfrm>
            <a:off x="767255" y="1623640"/>
            <a:ext cx="287117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(Next.js)</a:t>
            </a:r>
            <a:endParaRPr lang="en-US" sz="560" dirty="0"/>
          </a:p>
        </p:txBody>
      </p:sp>
      <p:sp>
        <p:nvSpPr>
          <p:cNvPr id="15" name="Shape 12"/>
          <p:cNvSpPr/>
          <p:nvPr/>
        </p:nvSpPr>
        <p:spPr>
          <a:xfrm>
            <a:off x="271463" y="1881178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181" y="193118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输入安全测试指令</a:t>
            </a:r>
            <a:endParaRPr lang="en-US" sz="535" dirty="0"/>
          </a:p>
        </p:txBody>
      </p:sp>
      <p:sp>
        <p:nvSpPr>
          <p:cNvPr id="17" name="Text 14"/>
          <p:cNvSpPr/>
          <p:nvPr/>
        </p:nvSpPr>
        <p:spPr>
          <a:xfrm>
            <a:off x="680442" y="2030834"/>
            <a:ext cx="46077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（自然语言）</a:t>
            </a:r>
            <a:endParaRPr lang="en-US" sz="560" dirty="0"/>
          </a:p>
        </p:txBody>
      </p:sp>
      <p:sp>
        <p:nvSpPr>
          <p:cNvPr id="18" name="Shape 15"/>
          <p:cNvSpPr/>
          <p:nvPr/>
        </p:nvSpPr>
        <p:spPr>
          <a:xfrm>
            <a:off x="271463" y="2288372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7181" y="2338378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打包 REST 请求</a:t>
            </a:r>
            <a:endParaRPr lang="en-US" sz="535" dirty="0"/>
          </a:p>
        </p:txBody>
      </p:sp>
      <p:sp>
        <p:nvSpPr>
          <p:cNvPr id="20" name="Text 17"/>
          <p:cNvSpPr/>
          <p:nvPr/>
        </p:nvSpPr>
        <p:spPr>
          <a:xfrm>
            <a:off x="572588" y="2438028"/>
            <a:ext cx="67645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附带 API Key / JWT</a:t>
            </a:r>
            <a:endParaRPr lang="en-US" sz="560" dirty="0"/>
          </a:p>
        </p:txBody>
      </p:sp>
      <p:sp>
        <p:nvSpPr>
          <p:cNvPr id="21" name="Shape 18"/>
          <p:cNvSpPr/>
          <p:nvPr/>
        </p:nvSpPr>
        <p:spPr>
          <a:xfrm>
            <a:off x="1678781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A5B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78781" y="701483"/>
            <a:ext cx="1393031" cy="315302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23" name="Shape 20"/>
          <p:cNvSpPr/>
          <p:nvPr/>
        </p:nvSpPr>
        <p:spPr>
          <a:xfrm>
            <a:off x="1678781" y="1009641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24" name="Text 21"/>
          <p:cNvSpPr/>
          <p:nvPr/>
        </p:nvSpPr>
        <p:spPr>
          <a:xfrm>
            <a:off x="1743075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4F46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2</a:t>
            </a:r>
            <a:endParaRPr lang="en-US" sz="585" dirty="0"/>
          </a:p>
        </p:txBody>
      </p:sp>
      <p:sp>
        <p:nvSpPr>
          <p:cNvPr id="25" name="Text 22"/>
          <p:cNvSpPr/>
          <p:nvPr/>
        </p:nvSpPr>
        <p:spPr>
          <a:xfrm>
            <a:off x="1743075" y="861492"/>
            <a:ext cx="1264444" cy="1481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鉴权路由（Higress）</a:t>
            </a:r>
            <a:endParaRPr lang="en-US" sz="835" dirty="0"/>
          </a:p>
        </p:txBody>
      </p:sp>
      <p:sp>
        <p:nvSpPr>
          <p:cNvPr id="26" name="Shape 23"/>
          <p:cNvSpPr/>
          <p:nvPr/>
        </p:nvSpPr>
        <p:spPr>
          <a:xfrm>
            <a:off x="1735931" y="106679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71650" y="111679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JWT / API Key</a:t>
            </a:r>
            <a:endParaRPr lang="en-US" sz="535" dirty="0"/>
          </a:p>
        </p:txBody>
      </p:sp>
      <p:sp>
        <p:nvSpPr>
          <p:cNvPr id="28" name="Text 25"/>
          <p:cNvSpPr/>
          <p:nvPr/>
        </p:nvSpPr>
        <p:spPr>
          <a:xfrm>
            <a:off x="2221706" y="1216447"/>
            <a:ext cx="307181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身份鉴权</a:t>
            </a:r>
            <a:endParaRPr lang="en-US" sz="560" dirty="0"/>
          </a:p>
        </p:txBody>
      </p:sp>
      <p:sp>
        <p:nvSpPr>
          <p:cNvPr id="29" name="Shape 26"/>
          <p:cNvSpPr/>
          <p:nvPr/>
        </p:nvSpPr>
        <p:spPr>
          <a:xfrm>
            <a:off x="1735931" y="147398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735931" y="1473984"/>
            <a:ext cx="1278731" cy="148763"/>
          </a:xfrm>
          <a:prstGeom prst="rect">
            <a:avLst/>
          </a:prstGeom>
          <a:noFill/>
        </p:spPr>
        <p:txBody>
          <a:bodyPr wrap="square" lIns="42545" tIns="59563" rIns="42545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✗ 鉴权失败 → 返回 401</a:t>
            </a:r>
            <a:endParaRPr lang="en-US" sz="560" dirty="0"/>
          </a:p>
        </p:txBody>
      </p:sp>
      <p:sp>
        <p:nvSpPr>
          <p:cNvPr id="31" name="Shape 28"/>
          <p:cNvSpPr/>
          <p:nvPr/>
        </p:nvSpPr>
        <p:spPr>
          <a:xfrm>
            <a:off x="1735931" y="1881178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71650" y="193118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配额 &amp; 限流检查</a:t>
            </a:r>
            <a:endParaRPr lang="en-US" sz="535" dirty="0"/>
          </a:p>
        </p:txBody>
      </p:sp>
      <p:sp>
        <p:nvSpPr>
          <p:cNvPr id="33" name="Text 30"/>
          <p:cNvSpPr/>
          <p:nvPr/>
        </p:nvSpPr>
        <p:spPr>
          <a:xfrm>
            <a:off x="1991990" y="2030834"/>
            <a:ext cx="766614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（ai-quota / ratelimit）</a:t>
            </a:r>
            <a:endParaRPr lang="en-US" sz="560" dirty="0"/>
          </a:p>
        </p:txBody>
      </p:sp>
      <p:sp>
        <p:nvSpPr>
          <p:cNvPr id="34" name="Shape 31"/>
          <p:cNvSpPr/>
          <p:nvPr/>
        </p:nvSpPr>
        <p:spPr>
          <a:xfrm>
            <a:off x="1735931" y="2288372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735931" y="2288372"/>
            <a:ext cx="1278731" cy="148763"/>
          </a:xfrm>
          <a:prstGeom prst="rect">
            <a:avLst/>
          </a:prstGeom>
          <a:noFill/>
        </p:spPr>
        <p:txBody>
          <a:bodyPr wrap="square" lIns="42545" tIns="59563" rIns="42545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✗ 超限 → 返回 429</a:t>
            </a:r>
            <a:endParaRPr lang="en-US" sz="560" dirty="0"/>
          </a:p>
        </p:txBody>
      </p:sp>
      <p:sp>
        <p:nvSpPr>
          <p:cNvPr id="36" name="Shape 33"/>
          <p:cNvSpPr/>
          <p:nvPr/>
        </p:nvSpPr>
        <p:spPr>
          <a:xfrm>
            <a:off x="1735931" y="2695566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71650" y="2745572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大模型智能路由</a:t>
            </a:r>
            <a:endParaRPr lang="en-US" sz="535" dirty="0"/>
          </a:p>
        </p:txBody>
      </p:sp>
      <p:sp>
        <p:nvSpPr>
          <p:cNvPr id="38" name="Text 35"/>
          <p:cNvSpPr/>
          <p:nvPr/>
        </p:nvSpPr>
        <p:spPr>
          <a:xfrm>
            <a:off x="1916534" y="2845222"/>
            <a:ext cx="917525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SecLLM / OpenAI / Claude</a:t>
            </a:r>
            <a:endParaRPr lang="en-US" sz="560" dirty="0"/>
          </a:p>
        </p:txBody>
      </p:sp>
      <p:sp>
        <p:nvSpPr>
          <p:cNvPr id="39" name="Shape 36"/>
          <p:cNvSpPr/>
          <p:nvPr/>
        </p:nvSpPr>
        <p:spPr>
          <a:xfrm>
            <a:off x="1735931" y="3102759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5B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71650" y="3152766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ai-statistics</a:t>
            </a:r>
            <a:endParaRPr lang="en-US" sz="535" dirty="0"/>
          </a:p>
        </p:txBody>
      </p:sp>
      <p:sp>
        <p:nvSpPr>
          <p:cNvPr id="41" name="Text 38"/>
          <p:cNvSpPr/>
          <p:nvPr/>
        </p:nvSpPr>
        <p:spPr>
          <a:xfrm>
            <a:off x="2108076" y="3252415"/>
            <a:ext cx="53444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Token 计量上报</a:t>
            </a:r>
            <a:endParaRPr lang="en-US" sz="560" dirty="0"/>
          </a:p>
        </p:txBody>
      </p:sp>
      <p:sp>
        <p:nvSpPr>
          <p:cNvPr id="42" name="Shape 39"/>
          <p:cNvSpPr/>
          <p:nvPr/>
        </p:nvSpPr>
        <p:spPr>
          <a:xfrm>
            <a:off x="3143250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F3C48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143250" y="701483"/>
            <a:ext cx="1393031" cy="463451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44" name="Shape 41"/>
          <p:cNvSpPr/>
          <p:nvPr/>
        </p:nvSpPr>
        <p:spPr>
          <a:xfrm>
            <a:off x="3143250" y="1157790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45" name="Text 42"/>
          <p:cNvSpPr/>
          <p:nvPr/>
        </p:nvSpPr>
        <p:spPr>
          <a:xfrm>
            <a:off x="3207544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D9770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3</a:t>
            </a:r>
            <a:endParaRPr lang="en-US" sz="585" dirty="0"/>
          </a:p>
        </p:txBody>
      </p:sp>
      <p:sp>
        <p:nvSpPr>
          <p:cNvPr id="46" name="Text 43"/>
          <p:cNvSpPr/>
          <p:nvPr/>
        </p:nvSpPr>
        <p:spPr>
          <a:xfrm>
            <a:off x="3207544" y="861492"/>
            <a:ext cx="1264444" cy="2962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智能体编排（OpenCode）</a:t>
            </a:r>
            <a:endParaRPr lang="en-US" sz="835" dirty="0"/>
          </a:p>
        </p:txBody>
      </p:sp>
      <p:sp>
        <p:nvSpPr>
          <p:cNvPr id="47" name="Shape 44"/>
          <p:cNvSpPr/>
          <p:nvPr/>
        </p:nvSpPr>
        <p:spPr>
          <a:xfrm>
            <a:off x="3200400" y="1214940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36119" y="1264946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FastAPI 接收请求</a:t>
            </a:r>
            <a:endParaRPr lang="en-US" sz="535" dirty="0"/>
          </a:p>
        </p:txBody>
      </p:sp>
      <p:sp>
        <p:nvSpPr>
          <p:cNvPr id="49" name="Text 46"/>
          <p:cNvSpPr/>
          <p:nvPr/>
        </p:nvSpPr>
        <p:spPr>
          <a:xfrm>
            <a:off x="3532584" y="1364596"/>
            <a:ext cx="614363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初始化任务上下文</a:t>
            </a:r>
            <a:endParaRPr lang="en-US" sz="560" dirty="0"/>
          </a:p>
        </p:txBody>
      </p:sp>
      <p:sp>
        <p:nvSpPr>
          <p:cNvPr id="50" name="Shape 47"/>
          <p:cNvSpPr/>
          <p:nvPr/>
        </p:nvSpPr>
        <p:spPr>
          <a:xfrm>
            <a:off x="3200400" y="162213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36119" y="1672140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Celery 任务入队</a:t>
            </a:r>
            <a:endParaRPr lang="en-US" sz="535" dirty="0"/>
          </a:p>
        </p:txBody>
      </p:sp>
      <p:sp>
        <p:nvSpPr>
          <p:cNvPr id="52" name="Text 49"/>
          <p:cNvSpPr/>
          <p:nvPr/>
        </p:nvSpPr>
        <p:spPr>
          <a:xfrm>
            <a:off x="3500047" y="1771790"/>
            <a:ext cx="679410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（Redis 消息队列）</a:t>
            </a:r>
            <a:endParaRPr lang="en-US" sz="560" dirty="0"/>
          </a:p>
        </p:txBody>
      </p:sp>
      <p:sp>
        <p:nvSpPr>
          <p:cNvPr id="53" name="Shape 50"/>
          <p:cNvSpPr/>
          <p:nvPr/>
        </p:nvSpPr>
        <p:spPr>
          <a:xfrm>
            <a:off x="3200400" y="2029327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36119" y="207933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Planner Agent</a:t>
            </a:r>
            <a:endParaRPr lang="en-US" sz="535" dirty="0"/>
          </a:p>
        </p:txBody>
      </p:sp>
      <p:sp>
        <p:nvSpPr>
          <p:cNvPr id="55" name="Text 52"/>
          <p:cNvSpPr/>
          <p:nvPr/>
        </p:nvSpPr>
        <p:spPr>
          <a:xfrm>
            <a:off x="3272033" y="2178983"/>
            <a:ext cx="1135438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大模型推理 · 意图解析 · 任务拆解</a:t>
            </a:r>
            <a:endParaRPr lang="en-US" sz="560" dirty="0"/>
          </a:p>
        </p:txBody>
      </p:sp>
      <p:sp>
        <p:nvSpPr>
          <p:cNvPr id="56" name="Shape 53"/>
          <p:cNvSpPr/>
          <p:nvPr/>
        </p:nvSpPr>
        <p:spPr>
          <a:xfrm>
            <a:off x="3200400" y="243652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36119" y="248652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MCP 工具调度器</a:t>
            </a:r>
            <a:endParaRPr lang="en-US" sz="535" dirty="0"/>
          </a:p>
        </p:txBody>
      </p:sp>
      <p:sp>
        <p:nvSpPr>
          <p:cNvPr id="58" name="Text 55"/>
          <p:cNvSpPr/>
          <p:nvPr/>
        </p:nvSpPr>
        <p:spPr>
          <a:xfrm>
            <a:off x="3532584" y="2586177"/>
            <a:ext cx="614363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生成工具调用指令</a:t>
            </a:r>
            <a:endParaRPr lang="en-US" sz="560" dirty="0"/>
          </a:p>
        </p:txBody>
      </p:sp>
      <p:sp>
        <p:nvSpPr>
          <p:cNvPr id="59" name="Shape 56"/>
          <p:cNvSpPr/>
          <p:nvPr/>
        </p:nvSpPr>
        <p:spPr>
          <a:xfrm>
            <a:off x="3200400" y="2843715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236119" y="2893721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状态管理器</a:t>
            </a:r>
            <a:endParaRPr lang="en-US" sz="535" dirty="0"/>
          </a:p>
        </p:txBody>
      </p:sp>
      <p:sp>
        <p:nvSpPr>
          <p:cNvPr id="61" name="Text 58"/>
          <p:cNvSpPr/>
          <p:nvPr/>
        </p:nvSpPr>
        <p:spPr>
          <a:xfrm>
            <a:off x="3447027" y="2993371"/>
            <a:ext cx="785478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记录执行历史 &amp; 上下文</a:t>
            </a:r>
            <a:endParaRPr lang="en-US" sz="560" dirty="0"/>
          </a:p>
        </p:txBody>
      </p:sp>
      <p:sp>
        <p:nvSpPr>
          <p:cNvPr id="62" name="Shape 59"/>
          <p:cNvSpPr/>
          <p:nvPr/>
        </p:nvSpPr>
        <p:spPr>
          <a:xfrm>
            <a:off x="3200400" y="3250909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F3C48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236119" y="3300915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SSE 流式推送</a:t>
            </a:r>
            <a:endParaRPr lang="en-US" sz="535" dirty="0"/>
          </a:p>
        </p:txBody>
      </p:sp>
      <p:sp>
        <p:nvSpPr>
          <p:cNvPr id="64" name="Text 61"/>
          <p:cNvSpPr/>
          <p:nvPr/>
        </p:nvSpPr>
        <p:spPr>
          <a:xfrm>
            <a:off x="3532584" y="3400565"/>
            <a:ext cx="614363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实时返回执行状态</a:t>
            </a:r>
            <a:endParaRPr lang="en-US" sz="560" dirty="0"/>
          </a:p>
        </p:txBody>
      </p:sp>
      <p:sp>
        <p:nvSpPr>
          <p:cNvPr id="65" name="Shape 62"/>
          <p:cNvSpPr/>
          <p:nvPr/>
        </p:nvSpPr>
        <p:spPr>
          <a:xfrm>
            <a:off x="4607719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9BD6AD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607719" y="701483"/>
            <a:ext cx="1393031" cy="315302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67" name="Shape 64"/>
          <p:cNvSpPr/>
          <p:nvPr/>
        </p:nvSpPr>
        <p:spPr>
          <a:xfrm>
            <a:off x="4607719" y="1009641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68" name="Text 65"/>
          <p:cNvSpPr/>
          <p:nvPr/>
        </p:nvSpPr>
        <p:spPr>
          <a:xfrm>
            <a:off x="4672013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4</a:t>
            </a:r>
            <a:endParaRPr lang="en-US" sz="585" dirty="0"/>
          </a:p>
        </p:txBody>
      </p:sp>
      <p:sp>
        <p:nvSpPr>
          <p:cNvPr id="69" name="Text 66"/>
          <p:cNvSpPr/>
          <p:nvPr/>
        </p:nvSpPr>
        <p:spPr>
          <a:xfrm>
            <a:off x="4672013" y="861492"/>
            <a:ext cx="1264444" cy="1481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沙箱执行（E2B）</a:t>
            </a:r>
            <a:endParaRPr lang="en-US" sz="835" dirty="0"/>
          </a:p>
        </p:txBody>
      </p:sp>
      <p:sp>
        <p:nvSpPr>
          <p:cNvPr id="70" name="Shape 67"/>
          <p:cNvSpPr/>
          <p:nvPr/>
        </p:nvSpPr>
        <p:spPr>
          <a:xfrm>
            <a:off x="4664869" y="106679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700588" y="111679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 沙箱调度器</a:t>
            </a:r>
            <a:endParaRPr lang="en-US" sz="535" dirty="0"/>
          </a:p>
        </p:txBody>
      </p:sp>
      <p:sp>
        <p:nvSpPr>
          <p:cNvPr id="72" name="Text 69"/>
          <p:cNvSpPr/>
          <p:nvPr/>
        </p:nvSpPr>
        <p:spPr>
          <a:xfrm>
            <a:off x="4967418" y="1216447"/>
            <a:ext cx="673633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 MCP 工具指令</a:t>
            </a:r>
            <a:endParaRPr lang="en-US" sz="560" dirty="0"/>
          </a:p>
        </p:txBody>
      </p:sp>
      <p:sp>
        <p:nvSpPr>
          <p:cNvPr id="73" name="Shape 70"/>
          <p:cNvSpPr/>
          <p:nvPr/>
        </p:nvSpPr>
        <p:spPr>
          <a:xfrm>
            <a:off x="4664869" y="147398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700588" y="1523991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动态启动</a:t>
            </a:r>
            <a:endParaRPr lang="en-US" sz="535" dirty="0"/>
          </a:p>
        </p:txBody>
      </p:sp>
      <p:sp>
        <p:nvSpPr>
          <p:cNvPr id="75" name="Text 72"/>
          <p:cNvSpPr/>
          <p:nvPr/>
        </p:nvSpPr>
        <p:spPr>
          <a:xfrm>
            <a:off x="4948554" y="1623640"/>
            <a:ext cx="711361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Firecracker microVM</a:t>
            </a:r>
            <a:endParaRPr lang="en-US" sz="560" dirty="0"/>
          </a:p>
        </p:txBody>
      </p:sp>
      <p:sp>
        <p:nvSpPr>
          <p:cNvPr id="76" name="Shape 73"/>
          <p:cNvSpPr/>
          <p:nvPr/>
        </p:nvSpPr>
        <p:spPr>
          <a:xfrm>
            <a:off x="4664869" y="1881178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700588" y="193118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网络隔离 &amp; 资源限制</a:t>
            </a:r>
            <a:endParaRPr lang="en-US" sz="535" dirty="0"/>
          </a:p>
        </p:txBody>
      </p:sp>
      <p:sp>
        <p:nvSpPr>
          <p:cNvPr id="78" name="Text 75"/>
          <p:cNvSpPr/>
          <p:nvPr/>
        </p:nvSpPr>
        <p:spPr>
          <a:xfrm>
            <a:off x="4909821" y="2030834"/>
            <a:ext cx="788826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VPC / Cgroups / Quota</a:t>
            </a:r>
            <a:endParaRPr lang="en-US" sz="560" dirty="0"/>
          </a:p>
        </p:txBody>
      </p:sp>
      <p:sp>
        <p:nvSpPr>
          <p:cNvPr id="79" name="Shape 76"/>
          <p:cNvSpPr/>
          <p:nvPr/>
        </p:nvSpPr>
        <p:spPr>
          <a:xfrm>
            <a:off x="4664869" y="2288372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700588" y="2338378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执行安全工具</a:t>
            </a:r>
            <a:endParaRPr lang="en-US" sz="535" dirty="0"/>
          </a:p>
        </p:txBody>
      </p:sp>
      <p:sp>
        <p:nvSpPr>
          <p:cNvPr id="81" name="Text 78"/>
          <p:cNvSpPr/>
          <p:nvPr/>
        </p:nvSpPr>
        <p:spPr>
          <a:xfrm>
            <a:off x="4759970" y="2438028"/>
            <a:ext cx="1088501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2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Nmap / SQLMap / Burp Suite /</a:t>
            </a:r>
            <a:endParaRPr lang="en-US" sz="525" dirty="0"/>
          </a:p>
        </p:txBody>
      </p:sp>
      <p:sp>
        <p:nvSpPr>
          <p:cNvPr id="82" name="Text 79"/>
          <p:cNvSpPr/>
          <p:nvPr/>
        </p:nvSpPr>
        <p:spPr>
          <a:xfrm>
            <a:off x="4889395" y="2536785"/>
            <a:ext cx="829680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25" b="1" dirty="0">
                <a:solidFill>
                  <a:srgbClr val="16A3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Metasploit / 自定义脚本</a:t>
            </a:r>
            <a:endParaRPr lang="en-US" sz="525" dirty="0"/>
          </a:p>
        </p:txBody>
      </p:sp>
      <p:sp>
        <p:nvSpPr>
          <p:cNvPr id="83" name="Shape 80"/>
          <p:cNvSpPr/>
          <p:nvPr/>
        </p:nvSpPr>
        <p:spPr>
          <a:xfrm>
            <a:off x="4664869" y="2695566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700588" y="2745572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日志采集 &amp; 结果捕获</a:t>
            </a:r>
            <a:endParaRPr lang="en-US" sz="535" dirty="0"/>
          </a:p>
        </p:txBody>
      </p:sp>
      <p:sp>
        <p:nvSpPr>
          <p:cNvPr id="85" name="Text 82"/>
          <p:cNvSpPr/>
          <p:nvPr/>
        </p:nvSpPr>
        <p:spPr>
          <a:xfrm>
            <a:off x="5112246" y="2845222"/>
            <a:ext cx="383977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结构化输出</a:t>
            </a:r>
            <a:endParaRPr lang="en-US" sz="560" dirty="0"/>
          </a:p>
        </p:txBody>
      </p:sp>
      <p:sp>
        <p:nvSpPr>
          <p:cNvPr id="86" name="Shape 83"/>
          <p:cNvSpPr/>
          <p:nvPr/>
        </p:nvSpPr>
        <p:spPr>
          <a:xfrm>
            <a:off x="4664869" y="3102759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9BD6AD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700588" y="3152766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沙箱销毁 &amp; 清理</a:t>
            </a:r>
            <a:endParaRPr lang="en-US" sz="535" dirty="0"/>
          </a:p>
        </p:txBody>
      </p:sp>
      <p:sp>
        <p:nvSpPr>
          <p:cNvPr id="88" name="Text 85"/>
          <p:cNvSpPr/>
          <p:nvPr/>
        </p:nvSpPr>
        <p:spPr>
          <a:xfrm>
            <a:off x="5150644" y="3252415"/>
            <a:ext cx="307181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资源释放</a:t>
            </a:r>
            <a:endParaRPr lang="en-US" sz="560" dirty="0"/>
          </a:p>
        </p:txBody>
      </p:sp>
      <p:sp>
        <p:nvSpPr>
          <p:cNvPr id="89" name="Shape 86"/>
          <p:cNvSpPr/>
          <p:nvPr/>
        </p:nvSpPr>
        <p:spPr>
          <a:xfrm>
            <a:off x="6072188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EFABC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072188" y="701483"/>
            <a:ext cx="1393031" cy="315302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91" name="Shape 88"/>
          <p:cNvSpPr/>
          <p:nvPr/>
        </p:nvSpPr>
        <p:spPr>
          <a:xfrm>
            <a:off x="6072188" y="1009641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92" name="Text 89"/>
          <p:cNvSpPr/>
          <p:nvPr/>
        </p:nvSpPr>
        <p:spPr>
          <a:xfrm>
            <a:off x="6136481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DB277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5</a:t>
            </a:r>
            <a:endParaRPr lang="en-US" sz="585" dirty="0"/>
          </a:p>
        </p:txBody>
      </p:sp>
      <p:sp>
        <p:nvSpPr>
          <p:cNvPr id="93" name="Text 90"/>
          <p:cNvSpPr/>
          <p:nvPr/>
        </p:nvSpPr>
        <p:spPr>
          <a:xfrm>
            <a:off x="6136481" y="861492"/>
            <a:ext cx="1264444" cy="1481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计量计费</a:t>
            </a:r>
            <a:endParaRPr lang="en-US" sz="835" dirty="0"/>
          </a:p>
        </p:txBody>
      </p:sp>
      <p:sp>
        <p:nvSpPr>
          <p:cNvPr id="94" name="Shape 91"/>
          <p:cNvSpPr/>
          <p:nvPr/>
        </p:nvSpPr>
        <p:spPr>
          <a:xfrm>
            <a:off x="6129338" y="106679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165056" y="111679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Kafka 事件总线</a:t>
            </a:r>
            <a:endParaRPr lang="en-US" sz="535" dirty="0"/>
          </a:p>
        </p:txBody>
      </p:sp>
      <p:sp>
        <p:nvSpPr>
          <p:cNvPr id="96" name="Text 93"/>
          <p:cNvSpPr/>
          <p:nvPr/>
        </p:nvSpPr>
        <p:spPr>
          <a:xfrm>
            <a:off x="6538317" y="1216447"/>
            <a:ext cx="46077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接收计量事件</a:t>
            </a:r>
            <a:endParaRPr lang="en-US" sz="560" dirty="0"/>
          </a:p>
        </p:txBody>
      </p:sp>
      <p:sp>
        <p:nvSpPr>
          <p:cNvPr id="97" name="Shape 94"/>
          <p:cNvSpPr/>
          <p:nvPr/>
        </p:nvSpPr>
        <p:spPr>
          <a:xfrm>
            <a:off x="6129338" y="147398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165056" y="1523991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OpenMeter</a:t>
            </a:r>
            <a:endParaRPr lang="en-US" sz="535" dirty="0"/>
          </a:p>
        </p:txBody>
      </p:sp>
      <p:sp>
        <p:nvSpPr>
          <p:cNvPr id="99" name="Text 96"/>
          <p:cNvSpPr/>
          <p:nvPr/>
        </p:nvSpPr>
        <p:spPr>
          <a:xfrm>
            <a:off x="6538317" y="1623640"/>
            <a:ext cx="46077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实时聚合计算</a:t>
            </a:r>
            <a:endParaRPr lang="en-US" sz="560" dirty="0"/>
          </a:p>
        </p:txBody>
      </p:sp>
      <p:sp>
        <p:nvSpPr>
          <p:cNvPr id="100" name="Shape 97"/>
          <p:cNvSpPr/>
          <p:nvPr/>
        </p:nvSpPr>
        <p:spPr>
          <a:xfrm>
            <a:off x="6129338" y="1881178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6165056" y="193118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ClickHouse</a:t>
            </a:r>
            <a:endParaRPr lang="en-US" sz="535" dirty="0"/>
          </a:p>
        </p:txBody>
      </p:sp>
      <p:sp>
        <p:nvSpPr>
          <p:cNvPr id="102" name="Text 99"/>
          <p:cNvSpPr/>
          <p:nvPr/>
        </p:nvSpPr>
        <p:spPr>
          <a:xfrm>
            <a:off x="6499920" y="2030834"/>
            <a:ext cx="537567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计量数据持久化</a:t>
            </a:r>
            <a:endParaRPr lang="en-US" sz="560" dirty="0"/>
          </a:p>
        </p:txBody>
      </p:sp>
      <p:sp>
        <p:nvSpPr>
          <p:cNvPr id="103" name="Shape 100"/>
          <p:cNvSpPr/>
          <p:nvPr/>
        </p:nvSpPr>
        <p:spPr>
          <a:xfrm>
            <a:off x="6129338" y="2288372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6165056" y="2338378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余额 / 配额是否充足？</a:t>
            </a:r>
            <a:endParaRPr lang="en-US" sz="535" dirty="0"/>
          </a:p>
        </p:txBody>
      </p:sp>
      <p:sp>
        <p:nvSpPr>
          <p:cNvPr id="105" name="Text 102"/>
          <p:cNvSpPr/>
          <p:nvPr/>
        </p:nvSpPr>
        <p:spPr>
          <a:xfrm>
            <a:off x="6401526" y="2438028"/>
            <a:ext cx="734355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不足 → 通知用户充值</a:t>
            </a:r>
            <a:endParaRPr lang="en-US" sz="560" dirty="0"/>
          </a:p>
        </p:txBody>
      </p:sp>
      <p:sp>
        <p:nvSpPr>
          <p:cNvPr id="106" name="Shape 103"/>
          <p:cNvSpPr/>
          <p:nvPr/>
        </p:nvSpPr>
        <p:spPr>
          <a:xfrm>
            <a:off x="6129338" y="2695566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6165056" y="2745572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Stripe 账单生成</a:t>
            </a:r>
            <a:endParaRPr lang="en-US" sz="535" dirty="0"/>
          </a:p>
        </p:txBody>
      </p:sp>
      <p:sp>
        <p:nvSpPr>
          <p:cNvPr id="108" name="Text 105"/>
          <p:cNvSpPr/>
          <p:nvPr/>
        </p:nvSpPr>
        <p:spPr>
          <a:xfrm>
            <a:off x="6429375" y="2845222"/>
            <a:ext cx="678656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自动扣费 / 邮件通知</a:t>
            </a:r>
            <a:endParaRPr lang="en-US" sz="560" dirty="0"/>
          </a:p>
        </p:txBody>
      </p:sp>
      <p:sp>
        <p:nvSpPr>
          <p:cNvPr id="109" name="Shape 106"/>
          <p:cNvSpPr/>
          <p:nvPr/>
        </p:nvSpPr>
        <p:spPr>
          <a:xfrm>
            <a:off x="6129338" y="3102759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FABCF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165056" y="3152766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更新租户配额</a:t>
            </a:r>
            <a:endParaRPr lang="en-US" sz="535" dirty="0"/>
          </a:p>
        </p:txBody>
      </p:sp>
      <p:sp>
        <p:nvSpPr>
          <p:cNvPr id="111" name="Text 108"/>
          <p:cNvSpPr/>
          <p:nvPr/>
        </p:nvSpPr>
        <p:spPr>
          <a:xfrm>
            <a:off x="6424547" y="3252415"/>
            <a:ext cx="688284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同步至 Higress 插件</a:t>
            </a:r>
            <a:endParaRPr lang="en-US" sz="560" dirty="0"/>
          </a:p>
        </p:txBody>
      </p:sp>
      <p:sp>
        <p:nvSpPr>
          <p:cNvPr id="112" name="Shape 109"/>
          <p:cNvSpPr/>
          <p:nvPr/>
        </p:nvSpPr>
        <p:spPr>
          <a:xfrm>
            <a:off x="7536656" y="701483"/>
            <a:ext cx="1393031" cy="3643313"/>
          </a:xfrm>
          <a:prstGeom prst="rect">
            <a:avLst/>
          </a:prstGeom>
          <a:solidFill>
            <a:srgbClr val="FFFFFF"/>
          </a:solidFill>
          <a:ln w="18288">
            <a:solidFill>
              <a:srgbClr val="AEB7F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536656" y="701483"/>
            <a:ext cx="1393031" cy="315302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14" name="Shape 111"/>
          <p:cNvSpPr/>
          <p:nvPr/>
        </p:nvSpPr>
        <p:spPr>
          <a:xfrm>
            <a:off x="7536656" y="1009641"/>
            <a:ext cx="1393031" cy="7144"/>
          </a:xfrm>
          <a:prstGeom prst="rect">
            <a:avLst/>
          </a:prstGeom>
          <a:solidFill>
            <a:srgbClr val="E5EDF6"/>
          </a:solidFill>
        </p:spPr>
      </p:sp>
      <p:sp>
        <p:nvSpPr>
          <p:cNvPr id="115" name="Text 112"/>
          <p:cNvSpPr/>
          <p:nvPr/>
        </p:nvSpPr>
        <p:spPr>
          <a:xfrm>
            <a:off x="7600950" y="744345"/>
            <a:ext cx="1264444" cy="1028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4F46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 6</a:t>
            </a:r>
            <a:endParaRPr lang="en-US" sz="585" dirty="0"/>
          </a:p>
        </p:txBody>
      </p:sp>
      <p:sp>
        <p:nvSpPr>
          <p:cNvPr id="116" name="Text 113"/>
          <p:cNvSpPr/>
          <p:nvPr/>
        </p:nvSpPr>
        <p:spPr>
          <a:xfrm>
            <a:off x="7600950" y="861492"/>
            <a:ext cx="1264444" cy="1481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结果输出</a:t>
            </a:r>
            <a:endParaRPr lang="en-US" sz="835" dirty="0"/>
          </a:p>
        </p:txBody>
      </p:sp>
      <p:sp>
        <p:nvSpPr>
          <p:cNvPr id="117" name="Shape 114"/>
          <p:cNvSpPr/>
          <p:nvPr/>
        </p:nvSpPr>
        <p:spPr>
          <a:xfrm>
            <a:off x="7593806" y="1066791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7629525" y="1116797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汇总分析报告</a:t>
            </a:r>
            <a:endParaRPr lang="en-US" sz="535" dirty="0"/>
          </a:p>
        </p:txBody>
      </p:sp>
      <p:sp>
        <p:nvSpPr>
          <p:cNvPr id="119" name="Text 116"/>
          <p:cNvSpPr/>
          <p:nvPr/>
        </p:nvSpPr>
        <p:spPr>
          <a:xfrm>
            <a:off x="7843475" y="1216447"/>
            <a:ext cx="779394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（Markdown / JSON）</a:t>
            </a:r>
            <a:endParaRPr lang="en-US" sz="560" dirty="0"/>
          </a:p>
        </p:txBody>
      </p:sp>
      <p:sp>
        <p:nvSpPr>
          <p:cNvPr id="120" name="Shape 117"/>
          <p:cNvSpPr/>
          <p:nvPr/>
        </p:nvSpPr>
        <p:spPr>
          <a:xfrm>
            <a:off x="7593806" y="1473984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7629525" y="1523991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SSE 流式推送</a:t>
            </a:r>
            <a:endParaRPr lang="en-US" sz="535" dirty="0"/>
          </a:p>
        </p:txBody>
      </p:sp>
      <p:sp>
        <p:nvSpPr>
          <p:cNvPr id="122" name="Text 119"/>
          <p:cNvSpPr/>
          <p:nvPr/>
        </p:nvSpPr>
        <p:spPr>
          <a:xfrm>
            <a:off x="8002786" y="1623640"/>
            <a:ext cx="460772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实时返回前端</a:t>
            </a:r>
            <a:endParaRPr lang="en-US" sz="560" dirty="0"/>
          </a:p>
        </p:txBody>
      </p:sp>
      <p:sp>
        <p:nvSpPr>
          <p:cNvPr id="123" name="Shape 120"/>
          <p:cNvSpPr/>
          <p:nvPr/>
        </p:nvSpPr>
        <p:spPr>
          <a:xfrm>
            <a:off x="7593806" y="1881178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7629525" y="1931184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前端渲染展示</a:t>
            </a:r>
            <a:endParaRPr lang="en-US" sz="535" dirty="0"/>
          </a:p>
        </p:txBody>
      </p:sp>
      <p:sp>
        <p:nvSpPr>
          <p:cNvPr id="125" name="Text 122"/>
          <p:cNvSpPr/>
          <p:nvPr/>
        </p:nvSpPr>
        <p:spPr>
          <a:xfrm>
            <a:off x="7893844" y="2030834"/>
            <a:ext cx="678656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漏洞列表 / 风险评级</a:t>
            </a:r>
            <a:endParaRPr lang="en-US" sz="560" dirty="0"/>
          </a:p>
        </p:txBody>
      </p:sp>
      <p:sp>
        <p:nvSpPr>
          <p:cNvPr id="126" name="Shape 123"/>
          <p:cNvSpPr/>
          <p:nvPr/>
        </p:nvSpPr>
        <p:spPr>
          <a:xfrm>
            <a:off x="7593806" y="2288372"/>
            <a:ext cx="1278731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AEB7FF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7629525" y="2338378"/>
            <a:ext cx="1207294" cy="94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安全工程师</a:t>
            </a:r>
            <a:endParaRPr lang="en-US" sz="535" dirty="0"/>
          </a:p>
        </p:txBody>
      </p:sp>
      <p:sp>
        <p:nvSpPr>
          <p:cNvPr id="128" name="Text 125"/>
          <p:cNvSpPr/>
          <p:nvPr/>
        </p:nvSpPr>
        <p:spPr>
          <a:xfrm>
            <a:off x="7964388" y="2438028"/>
            <a:ext cx="537567" cy="85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6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查看并下载报告</a:t>
            </a:r>
            <a:endParaRPr lang="en-US" sz="560" dirty="0"/>
          </a:p>
        </p:txBody>
      </p:sp>
      <p:sp>
        <p:nvSpPr>
          <p:cNvPr id="129" name="Shape 126"/>
          <p:cNvSpPr/>
          <p:nvPr/>
        </p:nvSpPr>
        <p:spPr>
          <a:xfrm>
            <a:off x="214313" y="4416233"/>
            <a:ext cx="8715375" cy="414338"/>
          </a:xfrm>
          <a:prstGeom prst="rect">
            <a:avLst/>
          </a:prstGeom>
          <a:solidFill>
            <a:srgbClr val="FFFDF4"/>
          </a:solidFill>
        </p:spPr>
      </p:sp>
      <p:sp>
        <p:nvSpPr>
          <p:cNvPr id="130" name="Shape 127"/>
          <p:cNvSpPr/>
          <p:nvPr/>
        </p:nvSpPr>
        <p:spPr>
          <a:xfrm>
            <a:off x="214313" y="4416233"/>
            <a:ext cx="8715375" cy="14288"/>
          </a:xfrm>
          <a:prstGeom prst="rect">
            <a:avLst/>
          </a:prstGeom>
          <a:solidFill>
            <a:srgbClr val="F2B643"/>
          </a:solidFill>
        </p:spPr>
      </p:sp>
      <p:sp>
        <p:nvSpPr>
          <p:cNvPr id="131" name="Shape 128"/>
          <p:cNvSpPr/>
          <p:nvPr/>
        </p:nvSpPr>
        <p:spPr>
          <a:xfrm>
            <a:off x="214313" y="4823427"/>
            <a:ext cx="8715375" cy="7144"/>
          </a:xfrm>
          <a:prstGeom prst="rect">
            <a:avLst/>
          </a:prstGeom>
          <a:solidFill>
            <a:srgbClr val="EAD9A0"/>
          </a:solidFill>
        </p:spPr>
      </p:sp>
      <p:sp>
        <p:nvSpPr>
          <p:cNvPr id="132" name="Text 129"/>
          <p:cNvSpPr/>
          <p:nvPr/>
        </p:nvSpPr>
        <p:spPr>
          <a:xfrm>
            <a:off x="328613" y="4416233"/>
            <a:ext cx="8486775" cy="385763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5B4A1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⟳ </a:t>
            </a:r>
            <a:r>
              <a:rPr lang="en-US" sz="6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智能化调度循环（循环往复）：</a:t>
            </a:r>
            <a:r>
              <a:rPr lang="en-US" sz="725" dirty="0">
                <a:solidFill>
                  <a:srgbClr val="5B4A1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Planner Agent 根据每次工具执行结果动态调整下一步计划，直至任务完成。补充链路：HTTPS、转发、MCP 指令、结果回传、任务完成 → 汇总报告、Token </a:t>
            </a:r>
            <a:r>
              <a:rPr lang="en-US" sz="725" dirty="0">
                <a:solidFill>
                  <a:srgbClr val="5B4A1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消耗事件（异步）。</a:t>
            </a:r>
            <a:endParaRPr lang="en-US" sz="725" dirty="0"/>
          </a:p>
        </p:txBody>
      </p:sp>
      <p:sp>
        <p:nvSpPr>
          <p:cNvPr id="133" name="Text 130"/>
          <p:cNvSpPr/>
          <p:nvPr/>
        </p:nvSpPr>
        <p:spPr>
          <a:xfrm>
            <a:off x="214313" y="4866289"/>
            <a:ext cx="8715375" cy="140364"/>
          </a:xfrm>
          <a:prstGeom prst="rect">
            <a:avLst/>
          </a:prstGeom>
          <a:noFill/>
        </p:spPr>
        <p:txBody>
          <a:bodyPr wrap="none" lIns="0" tIns="51054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图例：蓝色=鉴权路由 橙色=智能体编排 绿色=沙箱执行 粉色=计量计费 靛蓝=用户接入/结果输出 ⟳=循环往复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28600"/>
            <a:ext cx="8286750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整体架构四层设计</a:t>
            </a:r>
            <a:endParaRPr lang="en-US" sz="1705" dirty="0"/>
          </a:p>
        </p:txBody>
      </p:sp>
      <p:sp>
        <p:nvSpPr>
          <p:cNvPr id="4" name="Text 1"/>
          <p:cNvSpPr/>
          <p:nvPr/>
        </p:nvSpPr>
        <p:spPr>
          <a:xfrm>
            <a:off x="428625" y="591480"/>
            <a:ext cx="8286750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从用户交互到基础设施的端到端支撑体系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084399"/>
            <a:ext cx="8286750" cy="8429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3"/>
          <p:cNvSpPr/>
          <p:nvPr/>
        </p:nvSpPr>
        <p:spPr>
          <a:xfrm>
            <a:off x="428625" y="1920218"/>
            <a:ext cx="828675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7" name="Text 4"/>
          <p:cNvSpPr/>
          <p:nvPr/>
        </p:nvSpPr>
        <p:spPr>
          <a:xfrm>
            <a:off x="639366" y="1390157"/>
            <a:ext cx="1357313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交互与应用层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2457450" y="1262825"/>
            <a:ext cx="5857875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4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官网 / 控制台（Next.js）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2457450" y="1536771"/>
            <a:ext cx="585787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用户交互、任务下发、实时状态展示、账单与配额管理。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428625" y="1927361"/>
            <a:ext cx="8286750" cy="8429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8"/>
          <p:cNvSpPr/>
          <p:nvPr/>
        </p:nvSpPr>
        <p:spPr>
          <a:xfrm>
            <a:off x="428625" y="2763180"/>
            <a:ext cx="828675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12" name="Text 9"/>
          <p:cNvSpPr/>
          <p:nvPr/>
        </p:nvSpPr>
        <p:spPr>
          <a:xfrm>
            <a:off x="639366" y="2233120"/>
            <a:ext cx="1357313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网关与控制面</a:t>
            </a:r>
            <a:endParaRPr lang="en-US" sz="1195" dirty="0"/>
          </a:p>
        </p:txBody>
      </p:sp>
      <p:sp>
        <p:nvSpPr>
          <p:cNvPr id="13" name="Text 10"/>
          <p:cNvSpPr/>
          <p:nvPr/>
        </p:nvSpPr>
        <p:spPr>
          <a:xfrm>
            <a:off x="2457450" y="2105788"/>
            <a:ext cx="5857875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4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 AI 网关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2457450" y="2379734"/>
            <a:ext cx="585787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多模型统一路由、租户鉴权、Token 级限流、实时计量采集、MCP 协议托管。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28625" y="2770324"/>
            <a:ext cx="8286750" cy="8429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3"/>
          <p:cNvSpPr/>
          <p:nvPr/>
        </p:nvSpPr>
        <p:spPr>
          <a:xfrm>
            <a:off x="428625" y="3606143"/>
            <a:ext cx="828675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17" name="Text 14"/>
          <p:cNvSpPr/>
          <p:nvPr/>
        </p:nvSpPr>
        <p:spPr>
          <a:xfrm>
            <a:off x="639366" y="3076082"/>
            <a:ext cx="1357313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智能体执行层</a:t>
            </a:r>
            <a:endParaRPr lang="en-US" sz="1195" dirty="0"/>
          </a:p>
        </p:txBody>
      </p:sp>
      <p:sp>
        <p:nvSpPr>
          <p:cNvPr id="18" name="Text 15"/>
          <p:cNvSpPr/>
          <p:nvPr/>
        </p:nvSpPr>
        <p:spPr>
          <a:xfrm>
            <a:off x="2457450" y="2948750"/>
            <a:ext cx="5857875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4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OpenCode + E2B 沙箱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2457450" y="3222696"/>
            <a:ext cx="585787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复杂任务规划、代码执行、外部工具调用、实时流式状态回传。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428625" y="3613286"/>
            <a:ext cx="8286750" cy="84296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8"/>
          <p:cNvSpPr/>
          <p:nvPr/>
        </p:nvSpPr>
        <p:spPr>
          <a:xfrm>
            <a:off x="428625" y="4449105"/>
            <a:ext cx="828675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22" name="Text 19"/>
          <p:cNvSpPr/>
          <p:nvPr/>
        </p:nvSpPr>
        <p:spPr>
          <a:xfrm>
            <a:off x="639366" y="3919045"/>
            <a:ext cx="1357313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基础设施层</a:t>
            </a:r>
            <a:endParaRPr lang="en-US" sz="1195" dirty="0"/>
          </a:p>
        </p:txBody>
      </p:sp>
      <p:sp>
        <p:nvSpPr>
          <p:cNvPr id="23" name="Text 20"/>
          <p:cNvSpPr/>
          <p:nvPr/>
        </p:nvSpPr>
        <p:spPr>
          <a:xfrm>
            <a:off x="2457450" y="3791713"/>
            <a:ext cx="5857875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4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Kubernetes + Firecracker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2457450" y="4065659"/>
            <a:ext cx="5857875" cy="2121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容器编排、微虚拟机调度、网络隔离、物理级安全防护。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428625" y="4684849"/>
            <a:ext cx="82867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四层结构按照“前端交互 → 网关治理 → Agent 执行 → 底层支撑”的顺序自上而下展开，以统一白底与线性信息层次增强端到端关系的清晰度。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286750" cy="2657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模块一：网络安全大模型网关（Higress）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428625" y="551492"/>
            <a:ext cx="8286750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平台的“流量中枢”，统一管理所有安全与通用 AI 请求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022979"/>
            <a:ext cx="50006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985" dirty="0"/>
          </a:p>
        </p:txBody>
      </p:sp>
      <p:sp>
        <p:nvSpPr>
          <p:cNvPr id="6" name="Shape 3"/>
          <p:cNvSpPr/>
          <p:nvPr/>
        </p:nvSpPr>
        <p:spPr>
          <a:xfrm>
            <a:off x="428625" y="1415886"/>
            <a:ext cx="2421731" cy="1214438"/>
          </a:xfrm>
          <a:prstGeom prst="rect">
            <a:avLst/>
          </a:prstGeom>
          <a:solidFill>
            <a:srgbClr val="FBFD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925" y="1530186"/>
            <a:ext cx="2193131" cy="1639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多模型路由与负载均衡</a:t>
            </a:r>
            <a:endParaRPr lang="en-US" sz="835" dirty="0"/>
          </a:p>
        </p:txBody>
      </p:sp>
      <p:sp>
        <p:nvSpPr>
          <p:cNvPr id="8" name="Text 5"/>
          <p:cNvSpPr/>
          <p:nvPr/>
        </p:nvSpPr>
        <p:spPr>
          <a:xfrm>
            <a:off x="542925" y="1779854"/>
            <a:ext cx="2193131" cy="353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4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统一对接 SecLLM、Qwen-Sec 等安全大模型及 OpenAI 通用大模型，屏蔽 API 差异。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007519" y="1415886"/>
            <a:ext cx="2421731" cy="1214438"/>
          </a:xfrm>
          <a:prstGeom prst="rect">
            <a:avLst/>
          </a:prstGeom>
          <a:solidFill>
            <a:srgbClr val="FBFD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1819" y="1530186"/>
            <a:ext cx="2193131" cy="1639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身份鉴权与消费者管理</a:t>
            </a:r>
            <a:endParaRPr lang="en-US" sz="835" dirty="0"/>
          </a:p>
        </p:txBody>
      </p:sp>
      <p:sp>
        <p:nvSpPr>
          <p:cNvPr id="11" name="Text 8"/>
          <p:cNvSpPr/>
          <p:nvPr/>
        </p:nvSpPr>
        <p:spPr>
          <a:xfrm>
            <a:off x="3121819" y="1779854"/>
            <a:ext cx="2193131" cy="353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4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为每个租户分配独立 API Key / JWT，实现精确身份鉴权。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28625" y="2758911"/>
            <a:ext cx="2421731" cy="1214438"/>
          </a:xfrm>
          <a:prstGeom prst="rect">
            <a:avLst/>
          </a:prstGeom>
          <a:solidFill>
            <a:srgbClr val="FBFD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925" y="2873211"/>
            <a:ext cx="2193131" cy="1639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流量控制与资源配额</a:t>
            </a:r>
            <a:endParaRPr lang="en-US" sz="835" dirty="0"/>
          </a:p>
        </p:txBody>
      </p:sp>
      <p:sp>
        <p:nvSpPr>
          <p:cNvPr id="14" name="Text 11"/>
          <p:cNvSpPr/>
          <p:nvPr/>
        </p:nvSpPr>
        <p:spPr>
          <a:xfrm>
            <a:off x="542925" y="3122879"/>
            <a:ext cx="2193131" cy="353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4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 Token 级别动态限流，防止资源滥用与攻击。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007519" y="2758911"/>
            <a:ext cx="2421731" cy="1214438"/>
          </a:xfrm>
          <a:prstGeom prst="rect">
            <a:avLst/>
          </a:prstGeom>
          <a:solidFill>
            <a:srgbClr val="FBFD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21819" y="2873211"/>
            <a:ext cx="2193131" cy="1639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可观测性与计量采集</a:t>
            </a:r>
            <a:endParaRPr lang="en-US" sz="835" dirty="0"/>
          </a:p>
        </p:txBody>
      </p:sp>
      <p:sp>
        <p:nvSpPr>
          <p:cNvPr id="17" name="Text 14"/>
          <p:cNvSpPr/>
          <p:nvPr/>
        </p:nvSpPr>
        <p:spPr>
          <a:xfrm>
            <a:off x="3121819" y="3122879"/>
            <a:ext cx="2193131" cy="353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4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实时采集每次调用的 Token 消耗，输出计量事件至计费系统。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715000" y="1022979"/>
            <a:ext cx="30003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985" dirty="0"/>
          </a:p>
        </p:txBody>
      </p:sp>
      <p:sp>
        <p:nvSpPr>
          <p:cNvPr id="19" name="Shape 16"/>
          <p:cNvSpPr/>
          <p:nvPr/>
        </p:nvSpPr>
        <p:spPr>
          <a:xfrm>
            <a:off x="5715000" y="1415886"/>
            <a:ext cx="3000375" cy="1900238"/>
          </a:xfrm>
          <a:prstGeom prst="rect">
            <a:avLst/>
          </a:prstGeom>
          <a:solidFill>
            <a:srgbClr val="FFFF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3588" y="1530186"/>
            <a:ext cx="2743200" cy="82287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 Kubernetes 部署 Higress 集群，配置为系统的统一 Ingress 入口。启用 key-auth、ai-quota、ai-token-ratelimit、ai-statistics 四大插件，构建完整的鉴权-配额-计量链路。</a:t>
            </a:r>
            <a:endParaRPr lang="en-US" sz="835" dirty="0"/>
          </a:p>
        </p:txBody>
      </p:sp>
      <p:sp>
        <p:nvSpPr>
          <p:cNvPr id="21" name="Text 18"/>
          <p:cNvSpPr/>
          <p:nvPr/>
        </p:nvSpPr>
        <p:spPr>
          <a:xfrm>
            <a:off x="5715000" y="3530436"/>
            <a:ext cx="30003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985" dirty="0"/>
          </a:p>
        </p:txBody>
      </p:sp>
      <p:sp>
        <p:nvSpPr>
          <p:cNvPr id="22" name="Shape 19"/>
          <p:cNvSpPr/>
          <p:nvPr/>
        </p:nvSpPr>
        <p:spPr>
          <a:xfrm>
            <a:off x="5718572" y="3926914"/>
            <a:ext cx="997725" cy="335756"/>
          </a:xfrm>
          <a:prstGeom prst="rect">
            <a:avLst/>
          </a:prstGeom>
          <a:solidFill>
            <a:srgbClr val="F8FB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8572" y="3928700"/>
            <a:ext cx="994153" cy="328613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35" dirty="0"/>
          </a:p>
        </p:txBody>
      </p:sp>
      <p:sp>
        <p:nvSpPr>
          <p:cNvPr id="24" name="Shape 21"/>
          <p:cNvSpPr/>
          <p:nvPr/>
        </p:nvSpPr>
        <p:spPr>
          <a:xfrm>
            <a:off x="6716297" y="3926914"/>
            <a:ext cx="997725" cy="335756"/>
          </a:xfrm>
          <a:prstGeom prst="rect">
            <a:avLst/>
          </a:prstGeom>
          <a:solidFill>
            <a:srgbClr val="F8FB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16297" y="3928700"/>
            <a:ext cx="994153" cy="328613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35" dirty="0"/>
          </a:p>
        </p:txBody>
      </p:sp>
      <p:sp>
        <p:nvSpPr>
          <p:cNvPr id="26" name="Shape 23"/>
          <p:cNvSpPr/>
          <p:nvPr/>
        </p:nvSpPr>
        <p:spPr>
          <a:xfrm>
            <a:off x="7714022" y="3926914"/>
            <a:ext cx="997781" cy="335756"/>
          </a:xfrm>
          <a:prstGeom prst="rect">
            <a:avLst/>
          </a:prstGeom>
          <a:solidFill>
            <a:srgbClr val="F8FBFF"/>
          </a:solidFill>
          <a:ln w="9144">
            <a:solidFill>
              <a:srgbClr val="D9E2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14022" y="3923342"/>
            <a:ext cx="997781" cy="328613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35" dirty="0"/>
          </a:p>
        </p:txBody>
      </p:sp>
      <p:sp>
        <p:nvSpPr>
          <p:cNvPr id="28" name="Text 25"/>
          <p:cNvSpPr/>
          <p:nvPr/>
        </p:nvSpPr>
        <p:spPr>
          <a:xfrm>
            <a:off x="5807869" y="4364468"/>
            <a:ext cx="39310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</a:t>
            </a:r>
            <a:endParaRPr lang="en-US" sz="735" dirty="0"/>
          </a:p>
        </p:txBody>
      </p:sp>
      <p:sp>
        <p:nvSpPr>
          <p:cNvPr id="29" name="Text 26"/>
          <p:cNvSpPr/>
          <p:nvPr/>
        </p:nvSpPr>
        <p:spPr>
          <a:xfrm>
            <a:off x="6719869" y="4259098"/>
            <a:ext cx="990581" cy="328613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7717594" y="4259098"/>
            <a:ext cx="990637" cy="328613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8.1k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85738"/>
            <a:ext cx="828675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模块二 · 智能体执行平台（OpenCode + E2B）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28625" y="500063"/>
            <a:ext cx="8286750" cy="2025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5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 Agent 像人类专家一样自主规划并安全执行任务</a:t>
            </a:r>
            <a:endParaRPr lang="en-US" sz="1105" dirty="0"/>
          </a:p>
        </p:txBody>
      </p:sp>
      <p:sp>
        <p:nvSpPr>
          <p:cNvPr id="5" name="Text 2"/>
          <p:cNvSpPr/>
          <p:nvPr/>
        </p:nvSpPr>
        <p:spPr>
          <a:xfrm>
            <a:off x="428625" y="966890"/>
            <a:ext cx="4929188" cy="260021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1355499"/>
            <a:ext cx="2286000" cy="110013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428625" y="1355499"/>
            <a:ext cx="228600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8" name="Text 5"/>
          <p:cNvSpPr/>
          <p:nvPr/>
        </p:nvSpPr>
        <p:spPr>
          <a:xfrm>
            <a:off x="428625" y="1455511"/>
            <a:ext cx="2286000" cy="1832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任务规划与拆解</a:t>
            </a:r>
            <a:endParaRPr lang="en-US" sz="935" dirty="0"/>
          </a:p>
        </p:txBody>
      </p:sp>
      <p:sp>
        <p:nvSpPr>
          <p:cNvPr id="9" name="Text 6"/>
          <p:cNvSpPr/>
          <p:nvPr/>
        </p:nvSpPr>
        <p:spPr>
          <a:xfrm>
            <a:off x="428625" y="1724462"/>
            <a:ext cx="2286000" cy="4128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Planner Agent 接收自然语言指令，自动拆解为多个可执行子任务，形成执行计划。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2971800" y="1355499"/>
            <a:ext cx="2286000" cy="110013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8"/>
          <p:cNvSpPr/>
          <p:nvPr/>
        </p:nvSpPr>
        <p:spPr>
          <a:xfrm>
            <a:off x="2971800" y="1355499"/>
            <a:ext cx="228600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12" name="Text 9"/>
          <p:cNvSpPr/>
          <p:nvPr/>
        </p:nvSpPr>
        <p:spPr>
          <a:xfrm>
            <a:off x="2971800" y="1455511"/>
            <a:ext cx="2286000" cy="1832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沙箱执行与隔离</a:t>
            </a:r>
            <a:endParaRPr lang="en-US" sz="935" dirty="0"/>
          </a:p>
        </p:txBody>
      </p:sp>
      <p:sp>
        <p:nvSpPr>
          <p:cNvPr id="13" name="Text 10"/>
          <p:cNvSpPr/>
          <p:nvPr/>
        </p:nvSpPr>
        <p:spPr>
          <a:xfrm>
            <a:off x="2971800" y="1724462"/>
            <a:ext cx="2286000" cy="4128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 为每个任务分配独立 Firecracker microVM，安全执行代码与命令。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428625" y="2627086"/>
            <a:ext cx="2286000" cy="110013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2"/>
          <p:cNvSpPr/>
          <p:nvPr/>
        </p:nvSpPr>
        <p:spPr>
          <a:xfrm>
            <a:off x="428625" y="2627086"/>
            <a:ext cx="228600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16" name="Text 13"/>
          <p:cNvSpPr/>
          <p:nvPr/>
        </p:nvSpPr>
        <p:spPr>
          <a:xfrm>
            <a:off x="428625" y="2727099"/>
            <a:ext cx="2286000" cy="1832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MCP 工具调用</a:t>
            </a:r>
            <a:endParaRPr lang="en-US" sz="935" dirty="0"/>
          </a:p>
        </p:txBody>
      </p:sp>
      <p:sp>
        <p:nvSpPr>
          <p:cNvPr id="17" name="Text 14"/>
          <p:cNvSpPr/>
          <p:nvPr/>
        </p:nvSpPr>
        <p:spPr>
          <a:xfrm>
            <a:off x="428625" y="2996050"/>
            <a:ext cx="2286000" cy="4128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 MCP 协议统一调用 Nmap、SQLMap 等安全工具，支持动态扩展。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2971800" y="2627086"/>
            <a:ext cx="2286000" cy="110013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6"/>
          <p:cNvSpPr/>
          <p:nvPr/>
        </p:nvSpPr>
        <p:spPr>
          <a:xfrm>
            <a:off x="2971800" y="2627086"/>
            <a:ext cx="2286000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20" name="Text 17"/>
          <p:cNvSpPr/>
          <p:nvPr/>
        </p:nvSpPr>
        <p:spPr>
          <a:xfrm>
            <a:off x="2971800" y="2727099"/>
            <a:ext cx="2286000" cy="1832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流式状态回传</a:t>
            </a:r>
            <a:endParaRPr lang="en-US" sz="935" dirty="0"/>
          </a:p>
        </p:txBody>
      </p:sp>
      <p:sp>
        <p:nvSpPr>
          <p:cNvPr id="21" name="Text 18"/>
          <p:cNvSpPr/>
          <p:nvPr/>
        </p:nvSpPr>
        <p:spPr>
          <a:xfrm>
            <a:off x="2971800" y="2996050"/>
            <a:ext cx="2286000" cy="4128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Agent 思考过程与执行日志通过 SSE 实时推送到前端，提供透明化执行体验。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5643563" y="966890"/>
            <a:ext cx="3071813" cy="260021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643563" y="1462655"/>
            <a:ext cx="3071813" cy="8501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 OpenCode 框架搭建 Agent 编排服务，FastAPI 提供 REST/SSE 接口，Celery 处理异步任务队列。E2B SDK 负责沙箱生命周期管理，每个任务独占一个 Firecracker 实例，任务完成后自动销毁。</a:t>
            </a:r>
            <a:endParaRPr lang="en-US" sz="890" dirty="0"/>
          </a:p>
        </p:txBody>
      </p:sp>
      <p:sp>
        <p:nvSpPr>
          <p:cNvPr id="24" name="Text 21"/>
          <p:cNvSpPr/>
          <p:nvPr/>
        </p:nvSpPr>
        <p:spPr>
          <a:xfrm>
            <a:off x="5643563" y="3541486"/>
            <a:ext cx="3071813" cy="260021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5647134" y="3805079"/>
            <a:ext cx="1021556" cy="217884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7134" y="3805079"/>
            <a:ext cx="1017984" cy="210741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35" dirty="0"/>
          </a:p>
        </p:txBody>
      </p:sp>
      <p:sp>
        <p:nvSpPr>
          <p:cNvPr id="27" name="Shape 24"/>
          <p:cNvSpPr/>
          <p:nvPr/>
        </p:nvSpPr>
        <p:spPr>
          <a:xfrm>
            <a:off x="6668691" y="3805079"/>
            <a:ext cx="1021556" cy="217884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8691" y="3805079"/>
            <a:ext cx="1017984" cy="210741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35" dirty="0"/>
          </a:p>
        </p:txBody>
      </p:sp>
      <p:sp>
        <p:nvSpPr>
          <p:cNvPr id="29" name="Shape 26"/>
          <p:cNvSpPr/>
          <p:nvPr/>
        </p:nvSpPr>
        <p:spPr>
          <a:xfrm>
            <a:off x="7690247" y="3805079"/>
            <a:ext cx="1021556" cy="217884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90247" y="3801507"/>
            <a:ext cx="1021556" cy="210741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35" dirty="0"/>
          </a:p>
        </p:txBody>
      </p:sp>
      <p:sp>
        <p:nvSpPr>
          <p:cNvPr id="31" name="Text 28"/>
          <p:cNvSpPr/>
          <p:nvPr/>
        </p:nvSpPr>
        <p:spPr>
          <a:xfrm>
            <a:off x="5650706" y="4019392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OpenCode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6672263" y="4019392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MIT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7693819" y="4019392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5650706" y="4258707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6672263" y="4258707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7693819" y="4258707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7.8k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5650706" y="4498023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FastAPI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6672263" y="4498023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7693819" y="4498023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82k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5650706" y="4737339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Celery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6672263" y="4737339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BSD-3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7693819" y="4737339"/>
            <a:ext cx="1014413" cy="232172"/>
          </a:xfrm>
          <a:prstGeom prst="rect">
            <a:avLst/>
          </a:prstGeom>
          <a:noFill/>
        </p:spPr>
        <p:txBody>
          <a:bodyPr wrap="none" lIns="85090" tIns="85090" rIns="8509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24k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5643563" y="4976654"/>
            <a:ext cx="3071813" cy="1550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说明：内容保持与原稿一致，仅优化视觉层级、留白与版式均衡。</a:t>
            </a:r>
            <a:endParaRPr lang="en-US" sz="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00025"/>
            <a:ext cx="828675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模块三：多租户隔离与配额管理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545771"/>
            <a:ext cx="8286750" cy="1735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四层隔离架构，确保企业客户数据绝对安全</a:t>
            </a:r>
            <a:endParaRPr lang="en-US" sz="940" dirty="0"/>
          </a:p>
        </p:txBody>
      </p:sp>
      <p:sp>
        <p:nvSpPr>
          <p:cNvPr id="5" name="Text 2"/>
          <p:cNvSpPr/>
          <p:nvPr/>
        </p:nvSpPr>
        <p:spPr>
          <a:xfrm>
            <a:off x="428625" y="969373"/>
            <a:ext cx="5000625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1343695"/>
            <a:ext cx="2393156" cy="9429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428625" y="1343695"/>
            <a:ext cx="2393156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/>
          <p:nvPr/>
        </p:nvSpPr>
        <p:spPr>
          <a:xfrm>
            <a:off x="428625" y="1443707"/>
            <a:ext cx="2393156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身份隔离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1696585"/>
            <a:ext cx="2393156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每个租户独立 API Key，Higress 在网关层完成身份识别与鉴权。</a:t>
            </a:r>
            <a:endParaRPr lang="en-US" sz="835" dirty="0"/>
          </a:p>
        </p:txBody>
      </p:sp>
      <p:sp>
        <p:nvSpPr>
          <p:cNvPr id="10" name="Shape 7"/>
          <p:cNvSpPr/>
          <p:nvPr/>
        </p:nvSpPr>
        <p:spPr>
          <a:xfrm>
            <a:off x="3036094" y="1343695"/>
            <a:ext cx="2393156" cy="9429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8"/>
          <p:cNvSpPr/>
          <p:nvPr/>
        </p:nvSpPr>
        <p:spPr>
          <a:xfrm>
            <a:off x="3036094" y="1343695"/>
            <a:ext cx="2393156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9"/>
          <p:cNvSpPr/>
          <p:nvPr/>
        </p:nvSpPr>
        <p:spPr>
          <a:xfrm>
            <a:off x="3036094" y="1443707"/>
            <a:ext cx="2393156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数据隔离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036094" y="1696585"/>
            <a:ext cx="2393156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PostgreSQL Schema 级别隔离，每个租户独立数据库 Schema，防止数据越权。</a:t>
            </a:r>
            <a:endParaRPr lang="en-US" sz="835" dirty="0"/>
          </a:p>
        </p:txBody>
      </p:sp>
      <p:sp>
        <p:nvSpPr>
          <p:cNvPr id="14" name="Shape 11"/>
          <p:cNvSpPr/>
          <p:nvPr/>
        </p:nvSpPr>
        <p:spPr>
          <a:xfrm>
            <a:off x="428625" y="2472407"/>
            <a:ext cx="2393156" cy="9429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2"/>
          <p:cNvSpPr/>
          <p:nvPr/>
        </p:nvSpPr>
        <p:spPr>
          <a:xfrm>
            <a:off x="428625" y="2472407"/>
            <a:ext cx="2393156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3"/>
          <p:cNvSpPr/>
          <p:nvPr/>
        </p:nvSpPr>
        <p:spPr>
          <a:xfrm>
            <a:off x="428625" y="2572420"/>
            <a:ext cx="2393156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沙箱隔离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28625" y="2825297"/>
            <a:ext cx="2393156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 Firecracker microVM 提供物理级隔离，每个 Agent 任务独占虚拟机。</a:t>
            </a:r>
            <a:endParaRPr lang="en-US" sz="835" dirty="0"/>
          </a:p>
        </p:txBody>
      </p:sp>
      <p:sp>
        <p:nvSpPr>
          <p:cNvPr id="18" name="Shape 15"/>
          <p:cNvSpPr/>
          <p:nvPr/>
        </p:nvSpPr>
        <p:spPr>
          <a:xfrm>
            <a:off x="3036094" y="2472407"/>
            <a:ext cx="2393156" cy="9429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6"/>
          <p:cNvSpPr/>
          <p:nvPr/>
        </p:nvSpPr>
        <p:spPr>
          <a:xfrm>
            <a:off x="3036094" y="2472407"/>
            <a:ext cx="2393156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7"/>
          <p:cNvSpPr/>
          <p:nvPr/>
        </p:nvSpPr>
        <p:spPr>
          <a:xfrm>
            <a:off x="3036094" y="2572420"/>
            <a:ext cx="2393156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配额管理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3036094" y="2825297"/>
            <a:ext cx="2393156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 ai-quota 插件实现 Token 级别配额，支持按租户、按模型精细化控制。</a:t>
            </a:r>
            <a:endParaRPr lang="en-US" sz="835" dirty="0"/>
          </a:p>
        </p:txBody>
      </p:sp>
      <p:sp>
        <p:nvSpPr>
          <p:cNvPr id="22" name="Text 19"/>
          <p:cNvSpPr/>
          <p:nvPr/>
        </p:nvSpPr>
        <p:spPr>
          <a:xfrm>
            <a:off x="5715000" y="969373"/>
            <a:ext cx="3000375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715000" y="1465138"/>
            <a:ext cx="3000375" cy="8137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 Higress 配置 Consumer 对象绑定租户 API Key；PostgreSQL 为每个租户创建独立 Schema；E2B 通过 Metadata 标签关联租户 ID；配额数据存储于 Redis，支持毫秒级实时查询与扣减。</a:t>
            </a:r>
            <a:endParaRPr lang="en-US" sz="835" dirty="0"/>
          </a:p>
        </p:txBody>
      </p:sp>
      <p:sp>
        <p:nvSpPr>
          <p:cNvPr id="24" name="Text 21"/>
          <p:cNvSpPr/>
          <p:nvPr/>
        </p:nvSpPr>
        <p:spPr>
          <a:xfrm>
            <a:off x="5715000" y="3586832"/>
            <a:ext cx="3000375" cy="167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5715000" y="3961154"/>
            <a:ext cx="3007519" cy="105370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3"/>
          <p:cNvSpPr/>
          <p:nvPr/>
        </p:nvSpPr>
        <p:spPr>
          <a:xfrm>
            <a:off x="5718572" y="3964725"/>
            <a:ext cx="1143000" cy="321469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8572" y="3966511"/>
            <a:ext cx="1139428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35" dirty="0"/>
          </a:p>
        </p:txBody>
      </p:sp>
      <p:sp>
        <p:nvSpPr>
          <p:cNvPr id="28" name="Shape 25"/>
          <p:cNvSpPr/>
          <p:nvPr/>
        </p:nvSpPr>
        <p:spPr>
          <a:xfrm>
            <a:off x="6861572" y="3964725"/>
            <a:ext cx="1143000" cy="321469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61572" y="3966511"/>
            <a:ext cx="1139428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35" dirty="0"/>
          </a:p>
        </p:txBody>
      </p:sp>
      <p:sp>
        <p:nvSpPr>
          <p:cNvPr id="30" name="Shape 27"/>
          <p:cNvSpPr/>
          <p:nvPr/>
        </p:nvSpPr>
        <p:spPr>
          <a:xfrm>
            <a:off x="8004572" y="3964725"/>
            <a:ext cx="714375" cy="321469"/>
          </a:xfrm>
          <a:prstGeom prst="rect">
            <a:avLst/>
          </a:prstGeom>
          <a:solidFill>
            <a:srgbClr val="F8FB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04572" y="3961154"/>
            <a:ext cx="714375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35" dirty="0"/>
          </a:p>
        </p:txBody>
      </p:sp>
      <p:sp>
        <p:nvSpPr>
          <p:cNvPr id="32" name="Text 29"/>
          <p:cNvSpPr/>
          <p:nvPr/>
        </p:nvSpPr>
        <p:spPr>
          <a:xfrm>
            <a:off x="5722144" y="4323699"/>
            <a:ext cx="1135856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PostgreSQL</a:t>
            </a:r>
            <a:endParaRPr lang="en-US" sz="735" dirty="0"/>
          </a:p>
        </p:txBody>
      </p:sp>
      <p:sp>
        <p:nvSpPr>
          <p:cNvPr id="33" name="Text 30"/>
          <p:cNvSpPr/>
          <p:nvPr/>
        </p:nvSpPr>
        <p:spPr>
          <a:xfrm>
            <a:off x="6865144" y="4282622"/>
            <a:ext cx="1135856" cy="396478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PostgreSQL License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8008144" y="4323699"/>
            <a:ext cx="707231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16.5k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5722144" y="4686244"/>
            <a:ext cx="1135856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Redis</a:t>
            </a:r>
            <a:endParaRPr lang="en-US" sz="735" dirty="0"/>
          </a:p>
        </p:txBody>
      </p:sp>
      <p:sp>
        <p:nvSpPr>
          <p:cNvPr id="36" name="Text 33"/>
          <p:cNvSpPr/>
          <p:nvPr/>
        </p:nvSpPr>
        <p:spPr>
          <a:xfrm>
            <a:off x="6865144" y="4686244"/>
            <a:ext cx="1135856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BSD-3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8008144" y="4686244"/>
            <a:ext cx="707231" cy="314325"/>
          </a:xfrm>
          <a:prstGeom prst="rect">
            <a:avLst/>
          </a:prstGeom>
          <a:noFill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67k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286750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模块四 · 计费系统集成</a:t>
            </a:r>
            <a:endParaRPr lang="en-US" sz="1705" dirty="0"/>
          </a:p>
        </p:txBody>
      </p:sp>
      <p:sp>
        <p:nvSpPr>
          <p:cNvPr id="4" name="Text 1"/>
          <p:cNvSpPr/>
          <p:nvPr/>
        </p:nvSpPr>
        <p:spPr>
          <a:xfrm>
            <a:off x="428625" y="577193"/>
            <a:ext cx="828675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 Token 消耗到账单扣款的完整自动化闭环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028700"/>
            <a:ext cx="5000625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428625" y="1295865"/>
            <a:ext cx="2407444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事件采集</a:t>
            </a:r>
            <a:endParaRPr lang="en-US" sz="985" dirty="0"/>
          </a:p>
        </p:txBody>
      </p:sp>
      <p:sp>
        <p:nvSpPr>
          <p:cNvPr id="7" name="Text 4"/>
          <p:cNvSpPr/>
          <p:nvPr/>
        </p:nvSpPr>
        <p:spPr>
          <a:xfrm>
            <a:off x="428625" y="1574471"/>
            <a:ext cx="2407444" cy="493756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 ai-statistics 插件采集 Token 消耗；E2B Webhook 采集沙箱运行时长。</a:t>
            </a:r>
            <a:endParaRPr lang="en-US" sz="890" dirty="0"/>
          </a:p>
        </p:txBody>
      </p:sp>
      <p:sp>
        <p:nvSpPr>
          <p:cNvPr id="8" name="Text 5"/>
          <p:cNvSpPr/>
          <p:nvPr/>
        </p:nvSpPr>
        <p:spPr>
          <a:xfrm>
            <a:off x="3021806" y="1295865"/>
            <a:ext cx="2407444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实时计量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3021806" y="1574471"/>
            <a:ext cx="2407444" cy="493756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OpenMeter 基于 Kafka + ClickHouse 实时聚合，支持多维度统计分析。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428625" y="2453153"/>
            <a:ext cx="2407444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账单生成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428625" y="2731759"/>
            <a:ext cx="2407444" cy="493756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Stripe Billing 支持基础订阅 + 阶梯按量计费混合模型，自动生成月度账单。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3021806" y="2453153"/>
            <a:ext cx="2407444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预付费积分</a:t>
            </a:r>
            <a:endParaRPr lang="en-US" sz="985" dirty="0"/>
          </a:p>
        </p:txBody>
      </p:sp>
      <p:sp>
        <p:nvSpPr>
          <p:cNvPr id="13" name="Text 10"/>
          <p:cNvSpPr/>
          <p:nvPr/>
        </p:nvSpPr>
        <p:spPr>
          <a:xfrm>
            <a:off x="3021806" y="2731759"/>
            <a:ext cx="2407444" cy="493756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支持预付费积分系统，积分余额不足时 Higress 自动拦截请求。</a:t>
            </a:r>
            <a:endParaRPr lang="en-US" sz="890" dirty="0"/>
          </a:p>
        </p:txBody>
      </p:sp>
      <p:sp>
        <p:nvSpPr>
          <p:cNvPr id="14" name="Text 11"/>
          <p:cNvSpPr/>
          <p:nvPr/>
        </p:nvSpPr>
        <p:spPr>
          <a:xfrm>
            <a:off x="5715000" y="1028700"/>
            <a:ext cx="3000375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835" dirty="0"/>
          </a:p>
        </p:txBody>
      </p:sp>
      <p:sp>
        <p:nvSpPr>
          <p:cNvPr id="15" name="Text 12"/>
          <p:cNvSpPr/>
          <p:nvPr/>
        </p:nvSpPr>
        <p:spPr>
          <a:xfrm>
            <a:off x="5715000" y="1281578"/>
            <a:ext cx="3000375" cy="1019547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 插件将计量事件以 CloudEvents 格式发送至 Kafka；OpenMeter 消费 Kafka 消息并聚合到 ClickHouse；定时任务从 OpenMeter 拉取账单数据，通过 Stripe API 完成扣款。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428625" y="3603296"/>
            <a:ext cx="8286750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835" dirty="0"/>
          </a:p>
        </p:txBody>
      </p:sp>
      <p:sp>
        <p:nvSpPr>
          <p:cNvPr id="17" name="Shape 14"/>
          <p:cNvSpPr/>
          <p:nvPr/>
        </p:nvSpPr>
        <p:spPr>
          <a:xfrm>
            <a:off x="432197" y="3838315"/>
            <a:ext cx="2069902" cy="25003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2197" y="3840100"/>
            <a:ext cx="2066330" cy="242888"/>
          </a:xfrm>
          <a:prstGeom prst="rect">
            <a:avLst/>
          </a:prstGeom>
          <a:noFill/>
        </p:spPr>
        <p:txBody>
          <a:bodyPr wrap="square" lIns="102108" tIns="51054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85" dirty="0"/>
          </a:p>
        </p:txBody>
      </p:sp>
      <p:sp>
        <p:nvSpPr>
          <p:cNvPr id="19" name="Shape 16"/>
          <p:cNvSpPr/>
          <p:nvPr/>
        </p:nvSpPr>
        <p:spPr>
          <a:xfrm>
            <a:off x="2502098" y="3838315"/>
            <a:ext cx="2069902" cy="25003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02098" y="3840100"/>
            <a:ext cx="2066330" cy="242888"/>
          </a:xfrm>
          <a:prstGeom prst="rect">
            <a:avLst/>
          </a:prstGeom>
          <a:noFill/>
        </p:spPr>
        <p:txBody>
          <a:bodyPr wrap="square" lIns="102108" tIns="51054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85" dirty="0"/>
          </a:p>
        </p:txBody>
      </p:sp>
      <p:sp>
        <p:nvSpPr>
          <p:cNvPr id="21" name="Shape 18"/>
          <p:cNvSpPr/>
          <p:nvPr/>
        </p:nvSpPr>
        <p:spPr>
          <a:xfrm>
            <a:off x="4572000" y="3838315"/>
            <a:ext cx="2069902" cy="25003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3840100"/>
            <a:ext cx="2066330" cy="242888"/>
          </a:xfrm>
          <a:prstGeom prst="rect">
            <a:avLst/>
          </a:prstGeom>
          <a:noFill/>
        </p:spPr>
        <p:txBody>
          <a:bodyPr wrap="square" lIns="102108" tIns="51054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85" dirty="0"/>
          </a:p>
        </p:txBody>
      </p:sp>
      <p:sp>
        <p:nvSpPr>
          <p:cNvPr id="23" name="Shape 20"/>
          <p:cNvSpPr/>
          <p:nvPr/>
        </p:nvSpPr>
        <p:spPr>
          <a:xfrm>
            <a:off x="6641902" y="3838315"/>
            <a:ext cx="2069902" cy="25003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41902" y="3834743"/>
            <a:ext cx="2069902" cy="242888"/>
          </a:xfrm>
          <a:prstGeom prst="rect">
            <a:avLst/>
          </a:prstGeom>
          <a:noFill/>
        </p:spPr>
        <p:txBody>
          <a:bodyPr wrap="square" lIns="102108" tIns="51054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</a:t>
            </a:r>
            <a:endParaRPr lang="en-US" sz="785" dirty="0"/>
          </a:p>
        </p:txBody>
      </p:sp>
      <p:sp>
        <p:nvSpPr>
          <p:cNvPr id="25" name="Text 22"/>
          <p:cNvSpPr/>
          <p:nvPr/>
        </p:nvSpPr>
        <p:spPr>
          <a:xfrm>
            <a:off x="435769" y="4084774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OpenMeter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2505670" y="4084774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835" dirty="0"/>
          </a:p>
        </p:txBody>
      </p:sp>
      <p:sp>
        <p:nvSpPr>
          <p:cNvPr id="27" name="Text 24"/>
          <p:cNvSpPr/>
          <p:nvPr/>
        </p:nvSpPr>
        <p:spPr>
          <a:xfrm>
            <a:off x="4575572" y="4084774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1.8k</a:t>
            </a:r>
            <a:endParaRPr lang="en-US" sz="835" dirty="0"/>
          </a:p>
        </p:txBody>
      </p:sp>
      <p:sp>
        <p:nvSpPr>
          <p:cNvPr id="28" name="Text 25"/>
          <p:cNvSpPr/>
          <p:nvPr/>
        </p:nvSpPr>
        <p:spPr>
          <a:xfrm>
            <a:off x="6645473" y="4084774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实时计量引擎</a:t>
            </a:r>
            <a:endParaRPr lang="en-US" sz="835" dirty="0"/>
          </a:p>
        </p:txBody>
      </p:sp>
      <p:sp>
        <p:nvSpPr>
          <p:cNvPr id="29" name="Text 26"/>
          <p:cNvSpPr/>
          <p:nvPr/>
        </p:nvSpPr>
        <p:spPr>
          <a:xfrm>
            <a:off x="435769" y="4334805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Kafka</a:t>
            </a:r>
            <a:endParaRPr lang="en-US" sz="785" dirty="0"/>
          </a:p>
        </p:txBody>
      </p:sp>
      <p:sp>
        <p:nvSpPr>
          <p:cNvPr id="30" name="Text 27"/>
          <p:cNvSpPr/>
          <p:nvPr/>
        </p:nvSpPr>
        <p:spPr>
          <a:xfrm>
            <a:off x="2505670" y="4334805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835" dirty="0"/>
          </a:p>
        </p:txBody>
      </p:sp>
      <p:sp>
        <p:nvSpPr>
          <p:cNvPr id="31" name="Text 28"/>
          <p:cNvSpPr/>
          <p:nvPr/>
        </p:nvSpPr>
        <p:spPr>
          <a:xfrm>
            <a:off x="4575572" y="4334805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28k</a:t>
            </a:r>
            <a:endParaRPr lang="en-US" sz="835" dirty="0"/>
          </a:p>
        </p:txBody>
      </p:sp>
      <p:sp>
        <p:nvSpPr>
          <p:cNvPr id="32" name="Text 29"/>
          <p:cNvSpPr/>
          <p:nvPr/>
        </p:nvSpPr>
        <p:spPr>
          <a:xfrm>
            <a:off x="6645473" y="4334805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事件总线</a:t>
            </a:r>
            <a:endParaRPr lang="en-US" sz="835" dirty="0"/>
          </a:p>
        </p:txBody>
      </p:sp>
      <p:sp>
        <p:nvSpPr>
          <p:cNvPr id="33" name="Text 30"/>
          <p:cNvSpPr/>
          <p:nvPr/>
        </p:nvSpPr>
        <p:spPr>
          <a:xfrm>
            <a:off x="435769" y="4584836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ClickHouse</a:t>
            </a:r>
            <a:endParaRPr lang="en-US" sz="785" dirty="0"/>
          </a:p>
        </p:txBody>
      </p:sp>
      <p:sp>
        <p:nvSpPr>
          <p:cNvPr id="34" name="Text 31"/>
          <p:cNvSpPr/>
          <p:nvPr/>
        </p:nvSpPr>
        <p:spPr>
          <a:xfrm>
            <a:off x="2505670" y="4584836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835" dirty="0"/>
          </a:p>
        </p:txBody>
      </p:sp>
      <p:sp>
        <p:nvSpPr>
          <p:cNvPr id="35" name="Text 32"/>
          <p:cNvSpPr/>
          <p:nvPr/>
        </p:nvSpPr>
        <p:spPr>
          <a:xfrm>
            <a:off x="4575572" y="4584836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37k</a:t>
            </a:r>
            <a:endParaRPr lang="en-US" sz="835" dirty="0"/>
          </a:p>
        </p:txBody>
      </p:sp>
      <p:sp>
        <p:nvSpPr>
          <p:cNvPr id="36" name="Text 33"/>
          <p:cNvSpPr/>
          <p:nvPr/>
        </p:nvSpPr>
        <p:spPr>
          <a:xfrm>
            <a:off x="6645473" y="4584836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计量数据存储</a:t>
            </a:r>
            <a:endParaRPr lang="en-US" sz="835" dirty="0"/>
          </a:p>
        </p:txBody>
      </p:sp>
      <p:sp>
        <p:nvSpPr>
          <p:cNvPr id="37" name="Text 34"/>
          <p:cNvSpPr/>
          <p:nvPr/>
        </p:nvSpPr>
        <p:spPr>
          <a:xfrm>
            <a:off x="435769" y="4834868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Stripe SDK</a:t>
            </a:r>
            <a:endParaRPr lang="en-US" sz="785" dirty="0"/>
          </a:p>
        </p:txBody>
      </p:sp>
      <p:sp>
        <p:nvSpPr>
          <p:cNvPr id="38" name="Text 35"/>
          <p:cNvSpPr/>
          <p:nvPr/>
        </p:nvSpPr>
        <p:spPr>
          <a:xfrm>
            <a:off x="2505670" y="4834868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MIT</a:t>
            </a:r>
            <a:endParaRPr lang="en-US" sz="835" dirty="0"/>
          </a:p>
        </p:txBody>
      </p:sp>
      <p:sp>
        <p:nvSpPr>
          <p:cNvPr id="39" name="Text 36"/>
          <p:cNvSpPr/>
          <p:nvPr/>
        </p:nvSpPr>
        <p:spPr>
          <a:xfrm>
            <a:off x="4575572" y="4834868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</a:t>
            </a:r>
            <a:endParaRPr lang="en-US" sz="835" dirty="0"/>
          </a:p>
        </p:txBody>
      </p:sp>
      <p:sp>
        <p:nvSpPr>
          <p:cNvPr id="40" name="Text 37"/>
          <p:cNvSpPr/>
          <p:nvPr/>
        </p:nvSpPr>
        <p:spPr>
          <a:xfrm>
            <a:off x="6645473" y="4834868"/>
            <a:ext cx="2062758" cy="242888"/>
          </a:xfrm>
          <a:prstGeom prst="rect">
            <a:avLst/>
          </a:prstGeom>
          <a:noFill/>
        </p:spPr>
        <p:txBody>
          <a:bodyPr wrap="none" lIns="102108" tIns="51054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支付与账单接入</a:t>
            </a:r>
            <a:endParaRPr lang="en-US" sz="8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00025"/>
            <a:ext cx="8286750" cy="2828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模块五 · 官网与前端</a:t>
            </a:r>
            <a:endParaRPr lang="en-US" sz="1655" dirty="0"/>
          </a:p>
        </p:txBody>
      </p:sp>
      <p:sp>
        <p:nvSpPr>
          <p:cNvPr id="4" name="Text 1"/>
          <p:cNvSpPr/>
          <p:nvPr/>
        </p:nvSpPr>
        <p:spPr>
          <a:xfrm>
            <a:off x="428625" y="482901"/>
            <a:ext cx="8286750" cy="271463"/>
          </a:xfrm>
          <a:prstGeom prst="rect">
            <a:avLst/>
          </a:prstGeom>
          <a:noFill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面向用户的完整交互界面与可视化体验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885825"/>
            <a:ext cx="3000375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835" dirty="0"/>
          </a:p>
        </p:txBody>
      </p:sp>
      <p:sp>
        <p:nvSpPr>
          <p:cNvPr id="6" name="Shape 3"/>
          <p:cNvSpPr/>
          <p:nvPr/>
        </p:nvSpPr>
        <p:spPr>
          <a:xfrm>
            <a:off x="428625" y="1088696"/>
            <a:ext cx="3000375" cy="1714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428625" y="1088696"/>
            <a:ext cx="3000375" cy="21431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8" name="Shape 5"/>
          <p:cNvSpPr/>
          <p:nvPr/>
        </p:nvSpPr>
        <p:spPr>
          <a:xfrm>
            <a:off x="428625" y="2796053"/>
            <a:ext cx="3000375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9" name="Text 6"/>
          <p:cNvSpPr/>
          <p:nvPr/>
        </p:nvSpPr>
        <p:spPr>
          <a:xfrm>
            <a:off x="428625" y="1088696"/>
            <a:ext cx="3000375" cy="743787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Next.js 14 App Router 构建前端；Tailwind CSS 提供样式系统；SSE 接口实现 Agent 流式输出；Grafana 面板通过 iframe 嵌入控制台。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3714750" y="885825"/>
            <a:ext cx="5000625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835" dirty="0"/>
          </a:p>
        </p:txBody>
      </p:sp>
      <p:sp>
        <p:nvSpPr>
          <p:cNvPr id="11" name="Shape 8"/>
          <p:cNvSpPr/>
          <p:nvPr/>
        </p:nvSpPr>
        <p:spPr>
          <a:xfrm>
            <a:off x="3714750" y="1102984"/>
            <a:ext cx="24003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9"/>
          <p:cNvSpPr/>
          <p:nvPr/>
        </p:nvSpPr>
        <p:spPr>
          <a:xfrm>
            <a:off x="3714750" y="1102984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0"/>
          <p:cNvSpPr/>
          <p:nvPr/>
        </p:nvSpPr>
        <p:spPr>
          <a:xfrm>
            <a:off x="3714750" y="1102984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官网门户</a:t>
            </a:r>
            <a:endParaRPr lang="en-US" sz="985" dirty="0"/>
          </a:p>
        </p:txBody>
      </p:sp>
      <p:sp>
        <p:nvSpPr>
          <p:cNvPr id="14" name="Text 11"/>
          <p:cNvSpPr/>
          <p:nvPr/>
        </p:nvSpPr>
        <p:spPr>
          <a:xfrm>
            <a:off x="3714750" y="1381590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产品介绍、定价方案、注册引导，采用 Next.js 静态生成，SEO 友好。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6272213" y="1102984"/>
            <a:ext cx="24003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3"/>
          <p:cNvSpPr/>
          <p:nvPr/>
        </p:nvSpPr>
        <p:spPr>
          <a:xfrm>
            <a:off x="6272213" y="1102984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4"/>
          <p:cNvSpPr/>
          <p:nvPr/>
        </p:nvSpPr>
        <p:spPr>
          <a:xfrm>
            <a:off x="6272213" y="1102984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控制台</a:t>
            </a:r>
            <a:endParaRPr lang="en-US" sz="985" dirty="0"/>
          </a:p>
        </p:txBody>
      </p:sp>
      <p:sp>
        <p:nvSpPr>
          <p:cNvPr id="18" name="Text 15"/>
          <p:cNvSpPr/>
          <p:nvPr/>
        </p:nvSpPr>
        <p:spPr>
          <a:xfrm>
            <a:off x="6272213" y="1381590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租户管理、API Key 管理、配额查看、账单历史，提供完整的自助服务能力。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3714750" y="2045959"/>
            <a:ext cx="24003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7"/>
          <p:cNvSpPr/>
          <p:nvPr/>
        </p:nvSpPr>
        <p:spPr>
          <a:xfrm>
            <a:off x="3714750" y="2045959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8"/>
          <p:cNvSpPr/>
          <p:nvPr/>
        </p:nvSpPr>
        <p:spPr>
          <a:xfrm>
            <a:off x="3714750" y="2045959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Agent 交互</a:t>
            </a:r>
            <a:endParaRPr lang="en-US" sz="985" dirty="0"/>
          </a:p>
        </p:txBody>
      </p:sp>
      <p:sp>
        <p:nvSpPr>
          <p:cNvPr id="22" name="Text 19"/>
          <p:cNvSpPr/>
          <p:nvPr/>
        </p:nvSpPr>
        <p:spPr>
          <a:xfrm>
            <a:off x="3714750" y="2324565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类 Manus 的对话界面，支持实时流式输出 Agent 思考过程与执行结果。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6272213" y="2045959"/>
            <a:ext cx="24003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1"/>
          <p:cNvSpPr/>
          <p:nvPr/>
        </p:nvSpPr>
        <p:spPr>
          <a:xfrm>
            <a:off x="6272213" y="2045959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2"/>
          <p:cNvSpPr/>
          <p:nvPr/>
        </p:nvSpPr>
        <p:spPr>
          <a:xfrm>
            <a:off x="6272213" y="2045959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监控大盘</a:t>
            </a:r>
            <a:endParaRPr lang="en-US" sz="985" dirty="0"/>
          </a:p>
        </p:txBody>
      </p:sp>
      <p:sp>
        <p:nvSpPr>
          <p:cNvPr id="26" name="Text 23"/>
          <p:cNvSpPr/>
          <p:nvPr/>
        </p:nvSpPr>
        <p:spPr>
          <a:xfrm>
            <a:off x="6272213" y="2324565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 Grafana 嵌入的可视化大盘，展示 API 调用量、Token 消耗趋势。</a:t>
            </a:r>
            <a:endParaRPr lang="en-US" sz="890" dirty="0"/>
          </a:p>
        </p:txBody>
      </p:sp>
      <p:sp>
        <p:nvSpPr>
          <p:cNvPr id="27" name="Text 24"/>
          <p:cNvSpPr/>
          <p:nvPr/>
        </p:nvSpPr>
        <p:spPr>
          <a:xfrm>
            <a:off x="428625" y="2988934"/>
            <a:ext cx="8286750" cy="1457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835" dirty="0"/>
          </a:p>
        </p:txBody>
      </p:sp>
      <p:sp>
        <p:nvSpPr>
          <p:cNvPr id="28" name="Shape 25"/>
          <p:cNvSpPr/>
          <p:nvPr/>
        </p:nvSpPr>
        <p:spPr>
          <a:xfrm>
            <a:off x="428625" y="3191805"/>
            <a:ext cx="8286750" cy="10644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Shape 26"/>
          <p:cNvSpPr/>
          <p:nvPr/>
        </p:nvSpPr>
        <p:spPr>
          <a:xfrm>
            <a:off x="432197" y="3195377"/>
            <a:ext cx="2069902" cy="264319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2197" y="3197163"/>
            <a:ext cx="2066330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85" dirty="0"/>
          </a:p>
        </p:txBody>
      </p:sp>
      <p:sp>
        <p:nvSpPr>
          <p:cNvPr id="31" name="Shape 28"/>
          <p:cNvSpPr/>
          <p:nvPr/>
        </p:nvSpPr>
        <p:spPr>
          <a:xfrm>
            <a:off x="2502098" y="3195377"/>
            <a:ext cx="2069902" cy="264319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02098" y="3197163"/>
            <a:ext cx="2066330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85" dirty="0"/>
          </a:p>
        </p:txBody>
      </p:sp>
      <p:sp>
        <p:nvSpPr>
          <p:cNvPr id="33" name="Shape 30"/>
          <p:cNvSpPr/>
          <p:nvPr/>
        </p:nvSpPr>
        <p:spPr>
          <a:xfrm>
            <a:off x="4572000" y="3195377"/>
            <a:ext cx="2069902" cy="264319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0" y="3197163"/>
            <a:ext cx="2066330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85" dirty="0"/>
          </a:p>
        </p:txBody>
      </p:sp>
      <p:sp>
        <p:nvSpPr>
          <p:cNvPr id="35" name="Shape 32"/>
          <p:cNvSpPr/>
          <p:nvPr/>
        </p:nvSpPr>
        <p:spPr>
          <a:xfrm>
            <a:off x="6641902" y="3195377"/>
            <a:ext cx="2069902" cy="264319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41902" y="3191805"/>
            <a:ext cx="2069902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</a:t>
            </a:r>
            <a:endParaRPr lang="en-US" sz="785" dirty="0"/>
          </a:p>
        </p:txBody>
      </p:sp>
      <p:sp>
        <p:nvSpPr>
          <p:cNvPr id="37" name="Text 34"/>
          <p:cNvSpPr/>
          <p:nvPr/>
        </p:nvSpPr>
        <p:spPr>
          <a:xfrm>
            <a:off x="435769" y="3456124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Next.js</a:t>
            </a:r>
            <a:endParaRPr lang="en-US" sz="785" dirty="0"/>
          </a:p>
        </p:txBody>
      </p:sp>
      <p:sp>
        <p:nvSpPr>
          <p:cNvPr id="38" name="Text 35"/>
          <p:cNvSpPr/>
          <p:nvPr/>
        </p:nvSpPr>
        <p:spPr>
          <a:xfrm>
            <a:off x="2505670" y="3456124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MIT</a:t>
            </a:r>
            <a:endParaRPr lang="en-US" sz="835" dirty="0"/>
          </a:p>
        </p:txBody>
      </p:sp>
      <p:sp>
        <p:nvSpPr>
          <p:cNvPr id="39" name="Text 36"/>
          <p:cNvSpPr/>
          <p:nvPr/>
        </p:nvSpPr>
        <p:spPr>
          <a:xfrm>
            <a:off x="4575572" y="3456124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128k</a:t>
            </a:r>
            <a:endParaRPr lang="en-US" sz="835" dirty="0"/>
          </a:p>
        </p:txBody>
      </p:sp>
      <p:sp>
        <p:nvSpPr>
          <p:cNvPr id="40" name="Text 37"/>
          <p:cNvSpPr/>
          <p:nvPr/>
        </p:nvSpPr>
        <p:spPr>
          <a:xfrm>
            <a:off x="6645473" y="3456124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前端框架</a:t>
            </a:r>
            <a:endParaRPr lang="en-US" sz="835" dirty="0"/>
          </a:p>
        </p:txBody>
      </p:sp>
      <p:sp>
        <p:nvSpPr>
          <p:cNvPr id="41" name="Text 38"/>
          <p:cNvSpPr/>
          <p:nvPr/>
        </p:nvSpPr>
        <p:spPr>
          <a:xfrm>
            <a:off x="435769" y="3720443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Tailwind CSS</a:t>
            </a:r>
            <a:endParaRPr lang="en-US" sz="785" dirty="0"/>
          </a:p>
        </p:txBody>
      </p:sp>
      <p:sp>
        <p:nvSpPr>
          <p:cNvPr id="42" name="Text 39"/>
          <p:cNvSpPr/>
          <p:nvPr/>
        </p:nvSpPr>
        <p:spPr>
          <a:xfrm>
            <a:off x="2505670" y="3720443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MIT</a:t>
            </a:r>
            <a:endParaRPr lang="en-US" sz="835" dirty="0"/>
          </a:p>
        </p:txBody>
      </p:sp>
      <p:sp>
        <p:nvSpPr>
          <p:cNvPr id="43" name="Text 40"/>
          <p:cNvSpPr/>
          <p:nvPr/>
        </p:nvSpPr>
        <p:spPr>
          <a:xfrm>
            <a:off x="4575572" y="3720443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83k</a:t>
            </a:r>
            <a:endParaRPr lang="en-US" sz="835" dirty="0"/>
          </a:p>
        </p:txBody>
      </p:sp>
      <p:sp>
        <p:nvSpPr>
          <p:cNvPr id="44" name="Text 41"/>
          <p:cNvSpPr/>
          <p:nvPr/>
        </p:nvSpPr>
        <p:spPr>
          <a:xfrm>
            <a:off x="6645473" y="3720443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样式系统</a:t>
            </a:r>
            <a:endParaRPr lang="en-US" sz="835" dirty="0"/>
          </a:p>
        </p:txBody>
      </p:sp>
      <p:sp>
        <p:nvSpPr>
          <p:cNvPr id="45" name="Text 42"/>
          <p:cNvSpPr/>
          <p:nvPr/>
        </p:nvSpPr>
        <p:spPr>
          <a:xfrm>
            <a:off x="435769" y="3984761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Grafana</a:t>
            </a:r>
            <a:endParaRPr lang="en-US" sz="785" dirty="0"/>
          </a:p>
        </p:txBody>
      </p:sp>
      <p:sp>
        <p:nvSpPr>
          <p:cNvPr id="46" name="Text 43"/>
          <p:cNvSpPr/>
          <p:nvPr/>
        </p:nvSpPr>
        <p:spPr>
          <a:xfrm>
            <a:off x="2505670" y="3984761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AGPL-3.0</a:t>
            </a:r>
            <a:endParaRPr lang="en-US" sz="835" dirty="0"/>
          </a:p>
        </p:txBody>
      </p:sp>
      <p:sp>
        <p:nvSpPr>
          <p:cNvPr id="47" name="Text 44"/>
          <p:cNvSpPr/>
          <p:nvPr/>
        </p:nvSpPr>
        <p:spPr>
          <a:xfrm>
            <a:off x="4575572" y="3984761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63k</a:t>
            </a:r>
            <a:endParaRPr lang="en-US" sz="835" dirty="0"/>
          </a:p>
        </p:txBody>
      </p:sp>
      <p:sp>
        <p:nvSpPr>
          <p:cNvPr id="48" name="Text 45"/>
          <p:cNvSpPr/>
          <p:nvPr/>
        </p:nvSpPr>
        <p:spPr>
          <a:xfrm>
            <a:off x="6645473" y="3984761"/>
            <a:ext cx="2062758" cy="257175"/>
          </a:xfrm>
          <a:prstGeom prst="rect">
            <a:avLst/>
          </a:prstGeom>
          <a:noFill/>
        </p:spPr>
        <p:txBody>
          <a:bodyPr wrap="square" lIns="102108" tIns="68072" rIns="102108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可视化监控</a:t>
            </a:r>
            <a:endParaRPr lang="en-US" sz="835" dirty="0"/>
          </a:p>
        </p:txBody>
      </p:sp>
      <p:sp>
        <p:nvSpPr>
          <p:cNvPr id="49" name="Text 46"/>
          <p:cNvSpPr/>
          <p:nvPr/>
        </p:nvSpPr>
        <p:spPr>
          <a:xfrm>
            <a:off x="428625" y="4249080"/>
            <a:ext cx="8286750" cy="212164"/>
          </a:xfrm>
          <a:prstGeom prst="rect">
            <a:avLst/>
          </a:prstGeom>
          <a:noFill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说明：本页仅优化排版结构与信息层级，不改变原始内容。</a:t>
            </a:r>
            <a:endParaRPr lang="en-US" sz="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00025"/>
            <a:ext cx="8286750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模块六 · 测试与运维</a:t>
            </a:r>
            <a:endParaRPr lang="en-US" sz="1705" dirty="0"/>
          </a:p>
        </p:txBody>
      </p:sp>
      <p:sp>
        <p:nvSpPr>
          <p:cNvPr id="4" name="Text 1"/>
          <p:cNvSpPr/>
          <p:nvPr/>
        </p:nvSpPr>
        <p:spPr>
          <a:xfrm>
            <a:off x="428625" y="562905"/>
            <a:ext cx="828675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坚实的底层保障，支撑百万级 Agent 并发与系统高可用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143000"/>
            <a:ext cx="5000625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要做什么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1383013"/>
            <a:ext cx="2400300" cy="8858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428625" y="1383013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/>
          <p:nvPr/>
        </p:nvSpPr>
        <p:spPr>
          <a:xfrm>
            <a:off x="428625" y="1383013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CI/CD 流水线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428625" y="1661620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代码提交即触发自动化测试与构建，GitHub Actions + Helm 实现一键部署。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3000375" y="1383013"/>
            <a:ext cx="2400300" cy="8858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8"/>
          <p:cNvSpPr/>
          <p:nvPr/>
        </p:nvSpPr>
        <p:spPr>
          <a:xfrm>
            <a:off x="3000375" y="1383013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9"/>
          <p:cNvSpPr/>
          <p:nvPr/>
        </p:nvSpPr>
        <p:spPr>
          <a:xfrm>
            <a:off x="3000375" y="1383013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压力测试</a:t>
            </a:r>
            <a:endParaRPr lang="en-US" sz="985" dirty="0"/>
          </a:p>
        </p:txBody>
      </p:sp>
      <p:sp>
        <p:nvSpPr>
          <p:cNvPr id="13" name="Text 10"/>
          <p:cNvSpPr/>
          <p:nvPr/>
        </p:nvSpPr>
        <p:spPr>
          <a:xfrm>
            <a:off x="3000375" y="1661620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k6 模拟高并发 Agent 调度场景，确保系统在百万级请求下的稳定吞吐。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428625" y="2397426"/>
            <a:ext cx="2400300" cy="8858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2"/>
          <p:cNvSpPr/>
          <p:nvPr/>
        </p:nvSpPr>
        <p:spPr>
          <a:xfrm>
            <a:off x="428625" y="2397426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3"/>
          <p:cNvSpPr/>
          <p:nvPr/>
        </p:nvSpPr>
        <p:spPr>
          <a:xfrm>
            <a:off x="428625" y="2397426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安全渗透测试</a:t>
            </a:r>
            <a:endParaRPr lang="en-US" sz="985" dirty="0"/>
          </a:p>
        </p:txBody>
      </p:sp>
      <p:sp>
        <p:nvSpPr>
          <p:cNvPr id="17" name="Text 14"/>
          <p:cNvSpPr/>
          <p:nvPr/>
        </p:nvSpPr>
        <p:spPr>
          <a:xfrm>
            <a:off x="428625" y="2676032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OWASP ZAP 定期对沙箱隔离机制与网关鉴权进行自动化漏洞扫描。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3000375" y="2397426"/>
            <a:ext cx="2400300" cy="8858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6"/>
          <p:cNvSpPr/>
          <p:nvPr/>
        </p:nvSpPr>
        <p:spPr>
          <a:xfrm>
            <a:off x="3000375" y="2397426"/>
            <a:ext cx="2400300" cy="2143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7"/>
          <p:cNvSpPr/>
          <p:nvPr/>
        </p:nvSpPr>
        <p:spPr>
          <a:xfrm>
            <a:off x="3000375" y="2397426"/>
            <a:ext cx="2400300" cy="278606"/>
          </a:xfrm>
          <a:prstGeom prst="rect">
            <a:avLst/>
          </a:prstGeom>
          <a:noFill/>
        </p:spPr>
        <p:txBody>
          <a:bodyPr wrap="none" lIns="0" tIns="102108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监控告警</a:t>
            </a:r>
            <a:endParaRPr lang="en-US" sz="985" dirty="0"/>
          </a:p>
        </p:txBody>
      </p:sp>
      <p:sp>
        <p:nvSpPr>
          <p:cNvPr id="21" name="Text 18"/>
          <p:cNvSpPr/>
          <p:nvPr/>
        </p:nvSpPr>
        <p:spPr>
          <a:xfrm>
            <a:off x="3000375" y="2676032"/>
            <a:ext cx="2400300" cy="465181"/>
          </a:xfrm>
          <a:prstGeom prst="rect">
            <a:avLst/>
          </a:prstGeom>
          <a:noFill/>
        </p:spPr>
        <p:txBody>
          <a:bodyPr wrap="square" lIns="0" tIns="68072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Prometheus + Grafana 构建全方位监控大盘，PagerDuty 实现智能告警。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5715000" y="1143000"/>
            <a:ext cx="3000375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如何做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715000" y="1383013"/>
            <a:ext cx="3000375" cy="1657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1"/>
          <p:cNvSpPr/>
          <p:nvPr/>
        </p:nvSpPr>
        <p:spPr>
          <a:xfrm>
            <a:off x="5715000" y="1383013"/>
            <a:ext cx="3000375" cy="21431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25" name="Shape 22"/>
          <p:cNvSpPr/>
          <p:nvPr/>
        </p:nvSpPr>
        <p:spPr>
          <a:xfrm>
            <a:off x="5715000" y="3033220"/>
            <a:ext cx="3000375" cy="7144"/>
          </a:xfrm>
          <a:prstGeom prst="rect">
            <a:avLst/>
          </a:prstGeom>
          <a:solidFill>
            <a:srgbClr val="DBE4F0"/>
          </a:solidFill>
        </p:spPr>
      </p:sp>
      <p:sp>
        <p:nvSpPr>
          <p:cNvPr id="26" name="Text 23"/>
          <p:cNvSpPr/>
          <p:nvPr/>
        </p:nvSpPr>
        <p:spPr>
          <a:xfrm>
            <a:off x="5715000" y="1383013"/>
            <a:ext cx="3000375" cy="764660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94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K8s + Helm 实现服务编排与版本管理；Prometheus 采集所有服务的 Metrics；Grafana 构建可视化监控大盘；k6 进行 API 性能压测，ZAP 进行安全扫描。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428625" y="3368976"/>
            <a:ext cx="8286750" cy="1542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开源支撑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432197" y="3612561"/>
            <a:ext cx="2069902" cy="21286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2197" y="3614347"/>
            <a:ext cx="2066330" cy="205718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</a:t>
            </a:r>
            <a:endParaRPr lang="en-US" sz="785" dirty="0"/>
          </a:p>
        </p:txBody>
      </p:sp>
      <p:sp>
        <p:nvSpPr>
          <p:cNvPr id="30" name="Shape 27"/>
          <p:cNvSpPr/>
          <p:nvPr/>
        </p:nvSpPr>
        <p:spPr>
          <a:xfrm>
            <a:off x="2502098" y="3612561"/>
            <a:ext cx="2069902" cy="21286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02098" y="3614347"/>
            <a:ext cx="2066330" cy="205718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许可证</a:t>
            </a:r>
            <a:endParaRPr lang="en-US" sz="785" dirty="0"/>
          </a:p>
        </p:txBody>
      </p:sp>
      <p:sp>
        <p:nvSpPr>
          <p:cNvPr id="32" name="Shape 29"/>
          <p:cNvSpPr/>
          <p:nvPr/>
        </p:nvSpPr>
        <p:spPr>
          <a:xfrm>
            <a:off x="4572000" y="3612561"/>
            <a:ext cx="2069902" cy="21286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3614347"/>
            <a:ext cx="2066330" cy="205718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Stars</a:t>
            </a:r>
            <a:endParaRPr lang="en-US" sz="785" dirty="0"/>
          </a:p>
        </p:txBody>
      </p:sp>
      <p:sp>
        <p:nvSpPr>
          <p:cNvPr id="34" name="Shape 31"/>
          <p:cNvSpPr/>
          <p:nvPr/>
        </p:nvSpPr>
        <p:spPr>
          <a:xfrm>
            <a:off x="6641902" y="3612561"/>
            <a:ext cx="2069902" cy="212861"/>
          </a:xfrm>
          <a:prstGeom prst="rect">
            <a:avLst/>
          </a:prstGeom>
          <a:solidFill>
            <a:srgbClr val="F8FBFF"/>
          </a:solidFill>
          <a:ln w="9144">
            <a:solidFill>
              <a:srgbClr val="D7DF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41902" y="3608989"/>
            <a:ext cx="2069902" cy="205718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</a:t>
            </a:r>
            <a:endParaRPr lang="en-US" sz="785" dirty="0"/>
          </a:p>
        </p:txBody>
      </p:sp>
      <p:sp>
        <p:nvSpPr>
          <p:cNvPr id="36" name="Text 33"/>
          <p:cNvSpPr/>
          <p:nvPr/>
        </p:nvSpPr>
        <p:spPr>
          <a:xfrm>
            <a:off x="435769" y="382185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Kubernetes</a:t>
            </a:r>
            <a:endParaRPr lang="en-US" sz="785" dirty="0"/>
          </a:p>
        </p:txBody>
      </p:sp>
      <p:sp>
        <p:nvSpPr>
          <p:cNvPr id="37" name="Text 34"/>
          <p:cNvSpPr/>
          <p:nvPr/>
        </p:nvSpPr>
        <p:spPr>
          <a:xfrm>
            <a:off x="2505670" y="382185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835" dirty="0"/>
          </a:p>
        </p:txBody>
      </p:sp>
      <p:sp>
        <p:nvSpPr>
          <p:cNvPr id="38" name="Text 35"/>
          <p:cNvSpPr/>
          <p:nvPr/>
        </p:nvSpPr>
        <p:spPr>
          <a:xfrm>
            <a:off x="4575572" y="382185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111k</a:t>
            </a:r>
            <a:endParaRPr lang="en-US" sz="835" dirty="0"/>
          </a:p>
        </p:txBody>
      </p:sp>
      <p:sp>
        <p:nvSpPr>
          <p:cNvPr id="39" name="Text 36"/>
          <p:cNvSpPr/>
          <p:nvPr/>
        </p:nvSpPr>
        <p:spPr>
          <a:xfrm>
            <a:off x="6645473" y="382185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服务编排与集群管理</a:t>
            </a:r>
            <a:endParaRPr lang="en-US" sz="835" dirty="0"/>
          </a:p>
        </p:txBody>
      </p:sp>
      <p:sp>
        <p:nvSpPr>
          <p:cNvPr id="40" name="Text 37"/>
          <p:cNvSpPr/>
          <p:nvPr/>
        </p:nvSpPr>
        <p:spPr>
          <a:xfrm>
            <a:off x="435769" y="4051874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Prometheus</a:t>
            </a:r>
            <a:endParaRPr lang="en-US" sz="785" dirty="0"/>
          </a:p>
        </p:txBody>
      </p:sp>
      <p:sp>
        <p:nvSpPr>
          <p:cNvPr id="41" name="Text 38"/>
          <p:cNvSpPr/>
          <p:nvPr/>
        </p:nvSpPr>
        <p:spPr>
          <a:xfrm>
            <a:off x="2505670" y="4051874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Apache-2.0</a:t>
            </a:r>
            <a:endParaRPr lang="en-US" sz="835" dirty="0"/>
          </a:p>
        </p:txBody>
      </p:sp>
      <p:sp>
        <p:nvSpPr>
          <p:cNvPr id="42" name="Text 39"/>
          <p:cNvSpPr/>
          <p:nvPr/>
        </p:nvSpPr>
        <p:spPr>
          <a:xfrm>
            <a:off x="4575572" y="4051874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54.7k</a:t>
            </a:r>
            <a:endParaRPr lang="en-US" sz="835" dirty="0"/>
          </a:p>
        </p:txBody>
      </p:sp>
      <p:sp>
        <p:nvSpPr>
          <p:cNvPr id="43" name="Text 40"/>
          <p:cNvSpPr/>
          <p:nvPr/>
        </p:nvSpPr>
        <p:spPr>
          <a:xfrm>
            <a:off x="6645473" y="4051874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指标采集与告警基础</a:t>
            </a:r>
            <a:endParaRPr lang="en-US" sz="835" dirty="0"/>
          </a:p>
        </p:txBody>
      </p:sp>
      <p:sp>
        <p:nvSpPr>
          <p:cNvPr id="44" name="Text 41"/>
          <p:cNvSpPr/>
          <p:nvPr/>
        </p:nvSpPr>
        <p:spPr>
          <a:xfrm>
            <a:off x="435769" y="4281897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Grafana</a:t>
            </a:r>
            <a:endParaRPr lang="en-US" sz="785" dirty="0"/>
          </a:p>
        </p:txBody>
      </p:sp>
      <p:sp>
        <p:nvSpPr>
          <p:cNvPr id="45" name="Text 42"/>
          <p:cNvSpPr/>
          <p:nvPr/>
        </p:nvSpPr>
        <p:spPr>
          <a:xfrm>
            <a:off x="2505670" y="4281897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AGPL-3.0</a:t>
            </a:r>
            <a:endParaRPr lang="en-US" sz="835" dirty="0"/>
          </a:p>
        </p:txBody>
      </p:sp>
      <p:sp>
        <p:nvSpPr>
          <p:cNvPr id="46" name="Text 43"/>
          <p:cNvSpPr/>
          <p:nvPr/>
        </p:nvSpPr>
        <p:spPr>
          <a:xfrm>
            <a:off x="4575572" y="4281897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63k</a:t>
            </a:r>
            <a:endParaRPr lang="en-US" sz="835" dirty="0"/>
          </a:p>
        </p:txBody>
      </p:sp>
      <p:sp>
        <p:nvSpPr>
          <p:cNvPr id="47" name="Text 44"/>
          <p:cNvSpPr/>
          <p:nvPr/>
        </p:nvSpPr>
        <p:spPr>
          <a:xfrm>
            <a:off x="6645473" y="4281897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可视化监控大盘</a:t>
            </a:r>
            <a:endParaRPr lang="en-US" sz="835" dirty="0"/>
          </a:p>
        </p:txBody>
      </p:sp>
      <p:sp>
        <p:nvSpPr>
          <p:cNvPr id="48" name="Text 45"/>
          <p:cNvSpPr/>
          <p:nvPr/>
        </p:nvSpPr>
        <p:spPr>
          <a:xfrm>
            <a:off x="435769" y="451192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k6</a:t>
            </a:r>
            <a:endParaRPr lang="en-US" sz="785" dirty="0"/>
          </a:p>
        </p:txBody>
      </p:sp>
      <p:sp>
        <p:nvSpPr>
          <p:cNvPr id="49" name="Text 46"/>
          <p:cNvSpPr/>
          <p:nvPr/>
        </p:nvSpPr>
        <p:spPr>
          <a:xfrm>
            <a:off x="2505670" y="451192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AGPL-3.0</a:t>
            </a:r>
            <a:endParaRPr lang="en-US" sz="835" dirty="0"/>
          </a:p>
        </p:txBody>
      </p:sp>
      <p:sp>
        <p:nvSpPr>
          <p:cNvPr id="50" name="Text 47"/>
          <p:cNvSpPr/>
          <p:nvPr/>
        </p:nvSpPr>
        <p:spPr>
          <a:xfrm>
            <a:off x="4575572" y="451192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25k</a:t>
            </a:r>
            <a:endParaRPr lang="en-US" sz="835" dirty="0"/>
          </a:p>
        </p:txBody>
      </p:sp>
      <p:sp>
        <p:nvSpPr>
          <p:cNvPr id="51" name="Text 48"/>
          <p:cNvSpPr/>
          <p:nvPr/>
        </p:nvSpPr>
        <p:spPr>
          <a:xfrm>
            <a:off x="6645473" y="4511920"/>
            <a:ext cx="2062758" cy="222879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性能压测工具</a:t>
            </a:r>
            <a:endParaRPr lang="en-US" sz="8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00025"/>
            <a:ext cx="8286750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模块七 · 全局数据流转与模块串联</a:t>
            </a:r>
            <a:endParaRPr lang="en-US" sz="1705" dirty="0"/>
          </a:p>
        </p:txBody>
      </p:sp>
      <p:sp>
        <p:nvSpPr>
          <p:cNvPr id="4" name="Text 1"/>
          <p:cNvSpPr/>
          <p:nvPr/>
        </p:nvSpPr>
        <p:spPr>
          <a:xfrm>
            <a:off x="428625" y="562905"/>
            <a:ext cx="8286750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从用户输入到最终账单，平台各组件如何协同工作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114425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114425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7" name="Shape 4"/>
          <p:cNvSpPr/>
          <p:nvPr/>
        </p:nvSpPr>
        <p:spPr>
          <a:xfrm>
            <a:off x="428625" y="1114425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5"/>
          <p:cNvSpPr/>
          <p:nvPr/>
        </p:nvSpPr>
        <p:spPr>
          <a:xfrm>
            <a:off x="550069" y="1185863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①</a:t>
            </a:r>
            <a:endParaRPr lang="en-US" sz="1195" dirty="0"/>
          </a:p>
        </p:txBody>
      </p:sp>
      <p:sp>
        <p:nvSpPr>
          <p:cNvPr id="9" name="Text 6"/>
          <p:cNvSpPr/>
          <p:nvPr/>
        </p:nvSpPr>
        <p:spPr>
          <a:xfrm>
            <a:off x="821531" y="1185863"/>
            <a:ext cx="9429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用户发起请求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50069" y="1500188"/>
            <a:ext cx="2328863" cy="532042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用户在前端输入自然语言指令，前端携带 JWT Token 访问系统网关。</a:t>
            </a:r>
            <a:endParaRPr lang="en-US" sz="890" dirty="0"/>
          </a:p>
        </p:txBody>
      </p:sp>
      <p:sp>
        <p:nvSpPr>
          <p:cNvPr id="11" name="Shape 8"/>
          <p:cNvSpPr/>
          <p:nvPr/>
        </p:nvSpPr>
        <p:spPr>
          <a:xfrm>
            <a:off x="3286125" y="1114425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6125" y="1114425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3" name="Shape 10"/>
          <p:cNvSpPr/>
          <p:nvPr/>
        </p:nvSpPr>
        <p:spPr>
          <a:xfrm>
            <a:off x="3286125" y="1114425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1"/>
          <p:cNvSpPr/>
          <p:nvPr/>
        </p:nvSpPr>
        <p:spPr>
          <a:xfrm>
            <a:off x="3407569" y="1185863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②</a:t>
            </a:r>
            <a:endParaRPr lang="en-US" sz="1195" dirty="0"/>
          </a:p>
        </p:txBody>
      </p:sp>
      <p:sp>
        <p:nvSpPr>
          <p:cNvPr id="15" name="Text 12"/>
          <p:cNvSpPr/>
          <p:nvPr/>
        </p:nvSpPr>
        <p:spPr>
          <a:xfrm>
            <a:off x="3679031" y="1185863"/>
            <a:ext cx="1100138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网关鉴权与限流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3407569" y="1500188"/>
            <a:ext cx="2328863" cy="532042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Higress 拦截请求，校验 Token，查询可用配额并进行速率限制。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6143625" y="1114425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43625" y="1114425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19" name="Shape 16"/>
          <p:cNvSpPr/>
          <p:nvPr/>
        </p:nvSpPr>
        <p:spPr>
          <a:xfrm>
            <a:off x="6143625" y="1114425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7"/>
          <p:cNvSpPr/>
          <p:nvPr/>
        </p:nvSpPr>
        <p:spPr>
          <a:xfrm>
            <a:off x="6265069" y="1185863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③</a:t>
            </a:r>
            <a:endParaRPr lang="en-US" sz="1195" dirty="0"/>
          </a:p>
        </p:txBody>
      </p:sp>
      <p:sp>
        <p:nvSpPr>
          <p:cNvPr id="21" name="Text 18"/>
          <p:cNvSpPr/>
          <p:nvPr/>
        </p:nvSpPr>
        <p:spPr>
          <a:xfrm>
            <a:off x="6536531" y="1185863"/>
            <a:ext cx="1100138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任务下发与编排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6265069" y="1500188"/>
            <a:ext cx="2328863" cy="740913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请求到达 OpenCode 平台，Planner Agent 启动，将复杂指令拆解为多个可执行子任务。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428625" y="2457450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8625" y="2457450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25" name="Shape 22"/>
          <p:cNvSpPr/>
          <p:nvPr/>
        </p:nvSpPr>
        <p:spPr>
          <a:xfrm>
            <a:off x="428625" y="2457450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3"/>
          <p:cNvSpPr/>
          <p:nvPr/>
        </p:nvSpPr>
        <p:spPr>
          <a:xfrm>
            <a:off x="550069" y="2528888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④</a:t>
            </a:r>
            <a:endParaRPr lang="en-US" sz="1195" dirty="0"/>
          </a:p>
        </p:txBody>
      </p:sp>
      <p:sp>
        <p:nvSpPr>
          <p:cNvPr id="27" name="Text 24"/>
          <p:cNvSpPr/>
          <p:nvPr/>
        </p:nvSpPr>
        <p:spPr>
          <a:xfrm>
            <a:off x="821531" y="2528888"/>
            <a:ext cx="1414463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沙箱执行与工具调用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550069" y="2843213"/>
            <a:ext cx="2328863" cy="532042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E2B 为任务分配独立 Firecracker 沙箱，安全执行代码，并通过 MCP 调用外部工具。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3286125" y="2457450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86125" y="2457450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31" name="Shape 28"/>
          <p:cNvSpPr/>
          <p:nvPr/>
        </p:nvSpPr>
        <p:spPr>
          <a:xfrm>
            <a:off x="3286125" y="2457450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29"/>
          <p:cNvSpPr/>
          <p:nvPr/>
        </p:nvSpPr>
        <p:spPr>
          <a:xfrm>
            <a:off x="3407569" y="2528888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⑤</a:t>
            </a:r>
            <a:endParaRPr lang="en-US" sz="1195" dirty="0"/>
          </a:p>
        </p:txBody>
      </p:sp>
      <p:sp>
        <p:nvSpPr>
          <p:cNvPr id="33" name="Text 30"/>
          <p:cNvSpPr/>
          <p:nvPr/>
        </p:nvSpPr>
        <p:spPr>
          <a:xfrm>
            <a:off x="3679031" y="2528888"/>
            <a:ext cx="94297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状态流式回传</a:t>
            </a:r>
            <a:endParaRPr lang="en-US" sz="1090" dirty="0"/>
          </a:p>
        </p:txBody>
      </p:sp>
      <p:sp>
        <p:nvSpPr>
          <p:cNvPr id="34" name="Text 31"/>
          <p:cNvSpPr/>
          <p:nvPr/>
        </p:nvSpPr>
        <p:spPr>
          <a:xfrm>
            <a:off x="3407569" y="2843213"/>
            <a:ext cx="2328863" cy="532042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Agent 思考过程与沙箱执行日志通过 SSE 经由网关流式推送到前端展示。</a:t>
            </a:r>
            <a:endParaRPr lang="en-US" sz="890" dirty="0"/>
          </a:p>
        </p:txBody>
      </p:sp>
      <p:sp>
        <p:nvSpPr>
          <p:cNvPr id="35" name="Shape 32"/>
          <p:cNvSpPr/>
          <p:nvPr/>
        </p:nvSpPr>
        <p:spPr>
          <a:xfrm>
            <a:off x="6143625" y="2457450"/>
            <a:ext cx="2571750" cy="1185863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43625" y="2457450"/>
            <a:ext cx="2571750" cy="385763"/>
          </a:xfrm>
          <a:prstGeom prst="rect">
            <a:avLst/>
          </a:prstGeom>
          <a:solidFill>
            <a:srgbClr val="FBFDFF"/>
          </a:solidFill>
        </p:spPr>
      </p:sp>
      <p:sp>
        <p:nvSpPr>
          <p:cNvPr id="37" name="Shape 34"/>
          <p:cNvSpPr/>
          <p:nvPr/>
        </p:nvSpPr>
        <p:spPr>
          <a:xfrm>
            <a:off x="6143625" y="2457450"/>
            <a:ext cx="2571750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5"/>
          <p:cNvSpPr/>
          <p:nvPr/>
        </p:nvSpPr>
        <p:spPr>
          <a:xfrm>
            <a:off x="6265069" y="2528888"/>
            <a:ext cx="2000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⑥</a:t>
            </a:r>
            <a:endParaRPr lang="en-US" sz="1195" dirty="0"/>
          </a:p>
        </p:txBody>
      </p:sp>
      <p:sp>
        <p:nvSpPr>
          <p:cNvPr id="39" name="Text 36"/>
          <p:cNvSpPr/>
          <p:nvPr/>
        </p:nvSpPr>
        <p:spPr>
          <a:xfrm>
            <a:off x="6536531" y="2528888"/>
            <a:ext cx="1100138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异步计量与计费</a:t>
            </a:r>
            <a:endParaRPr lang="en-US" sz="1090" dirty="0"/>
          </a:p>
        </p:txBody>
      </p:sp>
      <p:sp>
        <p:nvSpPr>
          <p:cNvPr id="40" name="Text 37"/>
          <p:cNvSpPr/>
          <p:nvPr/>
        </p:nvSpPr>
        <p:spPr>
          <a:xfrm>
            <a:off x="6265069" y="2843213"/>
            <a:ext cx="2328863" cy="740913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89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资源消耗事件异步发送至 Kafka，OpenMeter 实时聚合，Stripe 生成最终账单并扣款。</a:t>
            </a:r>
            <a:endParaRPr lang="en-US" sz="890" dirty="0"/>
          </a:p>
        </p:txBody>
      </p:sp>
      <p:sp>
        <p:nvSpPr>
          <p:cNvPr id="41" name="Shape 38"/>
          <p:cNvSpPr/>
          <p:nvPr/>
        </p:nvSpPr>
        <p:spPr>
          <a:xfrm>
            <a:off x="428625" y="3814763"/>
            <a:ext cx="8286750" cy="557213"/>
          </a:xfrm>
          <a:prstGeom prst="rect">
            <a:avLst/>
          </a:prstGeom>
          <a:solidFill>
            <a:srgbClr val="FFFDF2"/>
          </a:solidFill>
        </p:spPr>
      </p:sp>
      <p:sp>
        <p:nvSpPr>
          <p:cNvPr id="42" name="Shape 39"/>
          <p:cNvSpPr/>
          <p:nvPr/>
        </p:nvSpPr>
        <p:spPr>
          <a:xfrm>
            <a:off x="428625" y="3814763"/>
            <a:ext cx="8286750" cy="21431"/>
          </a:xfrm>
          <a:prstGeom prst="rect">
            <a:avLst/>
          </a:prstGeom>
          <a:solidFill>
            <a:srgbClr val="D6A300"/>
          </a:solidFill>
        </p:spPr>
      </p:sp>
      <p:sp>
        <p:nvSpPr>
          <p:cNvPr id="43" name="Shape 40"/>
          <p:cNvSpPr/>
          <p:nvPr/>
        </p:nvSpPr>
        <p:spPr>
          <a:xfrm>
            <a:off x="428625" y="4364831"/>
            <a:ext cx="8286750" cy="7144"/>
          </a:xfrm>
          <a:prstGeom prst="rect">
            <a:avLst/>
          </a:prstGeom>
          <a:solidFill>
            <a:srgbClr val="EADCA6"/>
          </a:solidFill>
        </p:spPr>
      </p:sp>
      <p:sp>
        <p:nvSpPr>
          <p:cNvPr id="44" name="Text 41"/>
          <p:cNvSpPr/>
          <p:nvPr/>
        </p:nvSpPr>
        <p:spPr>
          <a:xfrm>
            <a:off x="600075" y="3814763"/>
            <a:ext cx="7943850" cy="320743"/>
          </a:xfrm>
          <a:prstGeom prst="rect">
            <a:avLst/>
          </a:prstGeom>
          <a:noFill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智能化调度循环：</a:t>
            </a:r>
            <a:r>
              <a:rPr lang="en-US" sz="890" dirty="0">
                <a:solidFill>
                  <a:srgbClr val="5B4A1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步骤③与步骤④之间循环往复，Planner Agent 根据执行结果动态调整任务计划，直至目标完成。</a:t>
            </a:r>
            <a:endParaRPr lang="en-US" sz="83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28813" y="842963"/>
            <a:ext cx="5286375" cy="67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560" b="1" kern="0" spc="2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 &amp; A</a:t>
            </a:r>
            <a:endParaRPr lang="en-US" sz="4560" dirty="0"/>
          </a:p>
        </p:txBody>
      </p:sp>
      <p:sp>
        <p:nvSpPr>
          <p:cNvPr id="4" name="Text 1"/>
          <p:cNvSpPr/>
          <p:nvPr/>
        </p:nvSpPr>
        <p:spPr>
          <a:xfrm>
            <a:off x="1928813" y="1964810"/>
            <a:ext cx="5286375" cy="30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感谢聆听，欢迎交流！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500188" y="2843492"/>
            <a:ext cx="6143625" cy="585788"/>
          </a:xfrm>
          <a:prstGeom prst="rect">
            <a:avLst/>
          </a:prstGeom>
          <a:solidFill>
            <a:srgbClr val="FFFFFF"/>
          </a:solidFill>
          <a:ln w="9144">
            <a:solidFill>
              <a:srgbClr val="DB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00188" y="3014942"/>
            <a:ext cx="6143625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GitHub:</a:t>
            </a:r>
            <a:r>
              <a:rPr lang="en-US" sz="10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985" b="1" dirty="0">
                <a:solidFill>
                  <a:srgbClr val="2563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github.com/rakehellsx/higress-e2b-opencode</a:t>
            </a:r>
            <a:r>
              <a:rPr lang="en-US" sz="1050" dirty="0">
                <a:solidFill>
                  <a:srgbClr val="37415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（dev branch）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5660</Words>
  <Application>WPS 演示</Application>
  <PresentationFormat>On-screen Show (16:9)</PresentationFormat>
  <Paragraphs>752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Noto Sans SC</vt:lpstr>
      <vt:lpstr>Noto Sans SC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WPS_1628560507</cp:lastModifiedBy>
  <cp:revision>2</cp:revision>
  <dcterms:created xsi:type="dcterms:W3CDTF">2026-04-18T09:26:00Z</dcterms:created>
  <dcterms:modified xsi:type="dcterms:W3CDTF">2026-04-18T09:26:35Z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15297BC75F19490594E69350B6496375_12</vt:lpwstr>
  </property>
  <property fmtid="{D5CDD505-2E9C-101B-9397-08002B2CF9AE}" pid="3" name="KSOProductBuildVer">
    <vt:lpwstr>2052-12.1.0.25225</vt:lpwstr>
  </property>
</Properties>
</file>