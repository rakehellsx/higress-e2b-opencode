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1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9999" y="108000"/>
            <a:ext cx="11519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网络安全大模型智能体平台 — 技术架构总图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999" y="396000"/>
            <a:ext cx="11519999" cy="1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五层架构：用户接入  →  流量调度(Higress)  →  智能体编排(OpenCode)  →  沙箱执行(E2B)  →  基础设施支撑</a:t>
            </a:r>
          </a:p>
        </p:txBody>
      </p:sp>
      <p:sp>
        <p:nvSpPr>
          <p:cNvPr id="4" name="Rectangle 3"/>
          <p:cNvSpPr/>
          <p:nvPr/>
        </p:nvSpPr>
        <p:spPr>
          <a:xfrm>
            <a:off x="179999" y="611999"/>
            <a:ext cx="11833200" cy="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9999" y="719999"/>
            <a:ext cx="2088000" cy="1296000"/>
          </a:xfrm>
          <a:prstGeom prst="rect">
            <a:avLst/>
          </a:prstGeom>
          <a:solidFill>
            <a:srgbClr val="E0E7FF">
              <a:alpha val="25000"/>
            </a:srgbClr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4F46E5"/>
                </a:solidFill>
              </a:rPr>
              <a:t>① 用户接入层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359999" y="1007999"/>
            <a:ext cx="792000" cy="324000"/>
          </a:xfrm>
          <a:prstGeom prst="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A"/>
                </a:solidFill>
              </a:rPr>
              <a:t>安全工程师 / 用户</a:t>
            </a:r>
          </a:p>
        </p:txBody>
      </p:sp>
      <p:sp>
        <p:nvSpPr>
          <p:cNvPr id="7" name="Rectangle 6"/>
          <p:cNvSpPr/>
          <p:nvPr/>
        </p:nvSpPr>
        <p:spPr>
          <a:xfrm>
            <a:off x="359999" y="1404000"/>
            <a:ext cx="792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Web 控制台
(Next.js)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0000" y="1188000"/>
            <a:ext cx="792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REST API
/ SSE 流式接口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6000" y="1332000"/>
            <a:ext cx="0" cy="7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52000" y="1565999"/>
            <a:ext cx="108000" cy="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447999" y="719999"/>
            <a:ext cx="2700000" cy="3168000"/>
          </a:xfrm>
          <a:prstGeom prst="rect">
            <a:avLst/>
          </a:prstGeom>
          <a:solidFill>
            <a:srgbClr val="EFF6FF">
              <a:alpha val="25000"/>
            </a:srgbClr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3B82F6"/>
                </a:solidFill>
              </a:rPr>
              <a:t>② 流量调度层 (Higress)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2000" y="1007999"/>
            <a:ext cx="2412000" cy="324000"/>
          </a:xfrm>
          <a:prstGeom prst="rect">
            <a:avLst/>
          </a:prstGeom>
          <a:solidFill>
            <a:srgbClr val="3B82F6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统一 Ingress 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2000" y="1404000"/>
            <a:ext cx="241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B82F6"/>
                </a:solidFill>
              </a:rPr>
              <a:t>核心插件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2000" y="1548000"/>
            <a:ext cx="1116000" cy="305999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key-auth
身份鉴权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5999" y="1548000"/>
            <a:ext cx="1116000" cy="305999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ai-quota
配额管理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92000" y="1925999"/>
            <a:ext cx="1116000" cy="305999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ai-token-ratelimit
Token 限流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5999" y="1925999"/>
            <a:ext cx="1116000" cy="305999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ai-statistics
指标采集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2000" y="2304000"/>
            <a:ext cx="241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B82F6"/>
                </a:solidFill>
              </a:rPr>
              <a:t>大模型路由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92000" y="2447999"/>
            <a:ext cx="1116000" cy="305999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安全大模型
SecLLM / Qwen-Sec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15999" y="2447999"/>
            <a:ext cx="1116000" cy="305999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通用大模型
OpenAI / Claude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98000" y="1170000"/>
            <a:ext cx="0" cy="378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98000" y="1854000"/>
            <a:ext cx="0" cy="71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98000" y="2232000"/>
            <a:ext cx="0" cy="215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328000" y="719999"/>
            <a:ext cx="2700000" cy="3168000"/>
          </a:xfrm>
          <a:prstGeom prst="rect">
            <a:avLst/>
          </a:prstGeom>
          <a:solidFill>
            <a:srgbClr val="FEF3C7">
              <a:alpha val="25000"/>
            </a:srgbClr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D97706"/>
                </a:solidFill>
              </a:rPr>
              <a:t>③ 智能体编排层 (OpenCode)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72000" y="1007999"/>
            <a:ext cx="108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FastAPI
异步服务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60000" y="1007999"/>
            <a:ext cx="126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Celery + Redis
任务队列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2000" y="1404000"/>
            <a:ext cx="241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7706"/>
                </a:solidFill>
              </a:rPr>
              <a:t>Agent 核心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72000" y="1548000"/>
            <a:ext cx="2412000" cy="468000"/>
          </a:xfrm>
          <a:prstGeom prst="rect">
            <a:avLst/>
          </a:prstGeom>
          <a:solidFill>
            <a:srgbClr val="FEF3C7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</a:rPr>
              <a:t>Planner Agent
意图解析  ·  任务拆解  ·  状态管理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72000" y="2106000"/>
            <a:ext cx="1080000" cy="30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MCP 工具调度器
工具指令生成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60000" y="2106000"/>
            <a:ext cx="1260000" cy="30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SSE 状态推送
流式结果输出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12000" y="1332000"/>
            <a:ext cx="0" cy="216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12000" y="2015999"/>
            <a:ext cx="0" cy="90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208000" y="719999"/>
            <a:ext cx="2700000" cy="3168000"/>
          </a:xfrm>
          <a:prstGeom prst="rect">
            <a:avLst/>
          </a:prstGeom>
          <a:solidFill>
            <a:srgbClr val="DCFCE7">
              <a:alpha val="25000"/>
            </a:srgbClr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16A34A"/>
                </a:solidFill>
              </a:rPr>
              <a:t>④ 沙箱执行层 (E2B)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52000" y="1007999"/>
            <a:ext cx="2412000" cy="324000"/>
          </a:xfrm>
          <a:prstGeom prst="rect">
            <a:avLst/>
          </a:prstGeom>
          <a:solidFill>
            <a:srgbClr val="16A34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E2B 沙箱调度器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2000" y="1404000"/>
            <a:ext cx="241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</a:rPr>
              <a:t>安全隔离环境 (Firecracker microVM)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52000" y="1548000"/>
            <a:ext cx="1080000" cy="305999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网络隔离
VPC / Namespace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40000" y="1548000"/>
            <a:ext cx="1152000" cy="305999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资源限制
Cgroups / Quota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2000" y="1925999"/>
            <a:ext cx="241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</a:rPr>
              <a:t>安全工具链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52000" y="2070000"/>
            <a:ext cx="540000" cy="30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Nmap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3999" y="2070000"/>
            <a:ext cx="540000" cy="30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SQLMap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76000" y="2070000"/>
            <a:ext cx="540000" cy="30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Burp Suite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88000" y="2070000"/>
            <a:ext cx="576000" cy="30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Metasploit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52000" y="2465999"/>
            <a:ext cx="2412000" cy="30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执行日志采集 &amp; 结果捕获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558000" y="1332000"/>
            <a:ext cx="0" cy="216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558000" y="1854000"/>
            <a:ext cx="0" cy="71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558000" y="2376000"/>
            <a:ext cx="0" cy="89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79999" y="3960000"/>
            <a:ext cx="3780000" cy="2700000"/>
          </a:xfrm>
          <a:prstGeom prst="rect">
            <a:avLst/>
          </a:prstGeom>
          <a:solidFill>
            <a:srgbClr val="FCE7F3">
              <a:alpha val="25000"/>
            </a:srgbClr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DB2777"/>
                </a:solidFill>
              </a:rPr>
              <a:t>⑤-A 计费系统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9999" y="4248000"/>
            <a:ext cx="792000" cy="324000"/>
          </a:xfrm>
          <a:prstGeom prst="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Kafka
事件总线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60000" y="4248000"/>
            <a:ext cx="900000" cy="324000"/>
          </a:xfrm>
          <a:prstGeom prst="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OpenMeter
实时计量引擎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68000" y="4248000"/>
            <a:ext cx="900000" cy="324000"/>
          </a:xfrm>
          <a:prstGeom prst="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ClickHouse
计量数据存储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9999" y="4680000"/>
            <a:ext cx="792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Stripe
账单与支付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60000" y="4680000"/>
            <a:ext cx="90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预付费积分系统
余额扣减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68000" y="4680000"/>
            <a:ext cx="90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账单自动生成
邮件通知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52000" y="4410000"/>
            <a:ext cx="108000" cy="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160000" y="4410000"/>
            <a:ext cx="108000" cy="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56000" y="4572000"/>
            <a:ext cx="0" cy="108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710000" y="4572000"/>
            <a:ext cx="0" cy="108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718000" y="4572000"/>
            <a:ext cx="0" cy="108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068000" y="3960000"/>
            <a:ext cx="3780000" cy="2700000"/>
          </a:xfrm>
          <a:prstGeom prst="rect">
            <a:avLst/>
          </a:prstGeom>
          <a:solidFill>
            <a:srgbClr val="EDE9FE">
              <a:alpha val="25000"/>
            </a:srgbClr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8B5CF6"/>
                </a:solidFill>
              </a:rPr>
              <a:t>⑤-B 多租户与权限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48000" y="4248000"/>
            <a:ext cx="1620000" cy="324000"/>
          </a:xfrm>
          <a:prstGeom prst="rect">
            <a:avLst/>
          </a:prstGeom>
          <a:solidFill>
            <a:srgbClr val="EDE9F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PostgreSQL
(Schema 级租户隔离)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76000" y="4248000"/>
            <a:ext cx="1620000" cy="324000"/>
          </a:xfrm>
          <a:prstGeom prst="rect">
            <a:avLst/>
          </a:prstGeom>
          <a:solidFill>
            <a:srgbClr val="EDE9F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RBAC 权限中心
(角色 / 资源 / 策略)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48000" y="4680000"/>
            <a:ext cx="162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Redis
(Session &amp; 配额缓存)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76000" y="4680000"/>
            <a:ext cx="162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审计日志
(操作记录 &amp; 合规)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6000" y="3960000"/>
            <a:ext cx="3780000" cy="2700000"/>
          </a:xfrm>
          <a:prstGeom prst="rect">
            <a:avLst/>
          </a:prstGeom>
          <a:solidFill>
            <a:srgbClr val="F3F4F6">
              <a:alpha val="25000"/>
            </a:srgbClr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D1D5DB"/>
                </a:solidFill>
              </a:rPr>
              <a:t>⑤-C 运维监控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6000" y="4248000"/>
            <a:ext cx="1620000" cy="3240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Kubernetes + Helm
集群管控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63999" y="4248000"/>
            <a:ext cx="1620000" cy="3240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Prometheus + Grafana
指标监控与告警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6000" y="4680000"/>
            <a:ext cx="162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GitHub Actions
CI/CD 自动化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63999" y="4680000"/>
            <a:ext cx="162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ELK Stack
日志聚合分析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268000" y="1565999"/>
            <a:ext cx="179999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195999" y="1404000"/>
            <a:ext cx="35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B82F6"/>
                </a:solidFill>
              </a:rPr>
              <a:t>HTTPS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148000" y="1565999"/>
            <a:ext cx="180000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040000" y="1404000"/>
            <a:ext cx="4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D97706"/>
                </a:solidFill>
              </a:rPr>
              <a:t>路由转发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028000" y="2257199"/>
            <a:ext cx="18000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920000" y="2106000"/>
            <a:ext cx="4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6A34A"/>
                </a:solidFill>
              </a:rPr>
              <a:t>MCP 指令</a:t>
            </a:r>
          </a:p>
        </p:txBody>
      </p:sp>
      <p:cxnSp>
        <p:nvCxnSpPr>
          <p:cNvPr id="75" name="Connector 74"/>
          <p:cNvCxnSpPr/>
          <p:nvPr/>
        </p:nvCxnSpPr>
        <p:spPr>
          <a:xfrm flipH="1">
            <a:off x="8028000" y="2617200"/>
            <a:ext cx="180000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920000" y="2617200"/>
            <a:ext cx="4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D97706"/>
                </a:solidFill>
              </a:rPr>
              <a:t>结果回传</a:t>
            </a:r>
          </a:p>
        </p:txBody>
      </p:sp>
      <p:cxnSp>
        <p:nvCxnSpPr>
          <p:cNvPr id="77" name="Connector 76"/>
          <p:cNvCxnSpPr/>
          <p:nvPr/>
        </p:nvCxnSpPr>
        <p:spPr>
          <a:xfrm flipH="1">
            <a:off x="5148000" y="2257199"/>
            <a:ext cx="180000" cy="0"/>
          </a:xfrm>
          <a:prstGeom prst="line">
            <a:avLst/>
          </a:prstGeom>
          <a:ln w="254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4968000" y="2106000"/>
            <a:ext cx="4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F46E5"/>
                </a:solidFill>
              </a:rPr>
              <a:t>SSE 推送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2268000" y="2257199"/>
            <a:ext cx="179999" cy="0"/>
          </a:xfrm>
          <a:prstGeom prst="line">
            <a:avLst/>
          </a:prstGeom>
          <a:ln w="254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798000" y="3888000"/>
            <a:ext cx="0" cy="72000"/>
          </a:xfrm>
          <a:prstGeom prst="line">
            <a:avLst/>
          </a:prstGeom>
          <a:ln w="19050">
            <a:solidFill>
              <a:srgbClr val="DB2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420000" y="378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DB2777"/>
                </a:solidFill>
              </a:rPr>
              <a:t>Token 消耗事件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9558000" y="3888000"/>
            <a:ext cx="0" cy="72000"/>
          </a:xfrm>
          <a:prstGeom prst="line">
            <a:avLst/>
          </a:prstGeom>
          <a:ln w="19050">
            <a:solidFill>
              <a:srgbClr val="DB2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9180000" y="378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DB2777"/>
                </a:solidFill>
              </a:rPr>
              <a:t>沙箱时长事件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150000" y="3888000"/>
            <a:ext cx="0" cy="7200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772000" y="378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5CF6"/>
                </a:solidFill>
              </a:rPr>
              <a:t>校验租户身份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9999" y="6660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</a:rPr>
              <a:t>图例：蓝色=流量调度层  橙色=智能体编排层  绿色=沙箱执行层  紫色=多租户权限  粉色=计费系统  灰色=运维监控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