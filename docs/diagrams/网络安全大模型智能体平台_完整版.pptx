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3199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57297" y="967085"/>
            <a:ext cx="6229350" cy="320933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428722" y="938510"/>
            <a:ext cx="85725" cy="8572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22" y="1442145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3085" y="1995785"/>
            <a:ext cx="5057775" cy="621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3077" b="1" spc="-1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网络安全大模型智能体平台</a:t>
            </a:r>
            <a:endParaRPr lang="en-US" sz="3077" dirty="0"/>
          </a:p>
        </p:txBody>
      </p:sp>
      <p:sp>
        <p:nvSpPr>
          <p:cNvPr id="7" name="Text 3"/>
          <p:cNvSpPr/>
          <p:nvPr/>
        </p:nvSpPr>
        <p:spPr>
          <a:xfrm>
            <a:off x="2043085" y="2788741"/>
            <a:ext cx="5057775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项目启动会议 · 2026年5月</a:t>
            </a:r>
            <a:endParaRPr lang="en-US" sz="1704" dirty="0"/>
          </a:p>
        </p:txBody>
      </p:sp>
      <p:sp>
        <p:nvSpPr>
          <p:cNvPr id="8" name="Text 4"/>
          <p:cNvSpPr/>
          <p:nvPr/>
        </p:nvSpPr>
        <p:spPr>
          <a:xfrm>
            <a:off x="2499392" y="3347740"/>
            <a:ext cx="4145161" cy="385763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Higress · OpenCode · E2B 构建企业级安全 Agent 基础设施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629497" y="4119265"/>
            <a:ext cx="85725" cy="85725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1828800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我们要构建什么？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030486"/>
            <a:ext cx="6429375" cy="11430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从"聊天助手"到"安全专家"——平台的核心定位：</a:t>
            </a: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平台目标是构建一套网络安全大模型智能体平台，让 AI Agent 能够像人类安全专家一样，接受自</a:t>
            </a: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然语言指令，自主规划任务，调用安全工具，并在安全隔离的环境中执行自动化渗透测试与威胁分</a:t>
            </a:r>
            <a:r>
              <a:rPr lang="en-US" sz="10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析。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2602111"/>
            <a:ext cx="2571750" cy="155298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8625" y="2602111"/>
            <a:ext cx="2571750" cy="45005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3037880"/>
            <a:ext cx="2571750" cy="1428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48558"/>
            <a:ext cx="17859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5819" y="2716411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流量与模型调度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28625" y="3037880"/>
            <a:ext cx="2571750" cy="1074353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统一接入各类网络安全垂类大模型与通用大模型，提供企业级流量治理与成本控制。屏蔽底层差异，实现智能路由和精确到 Token 级别的动态限流。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286125" y="2602111"/>
            <a:ext cx="2571750" cy="155298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86125" y="2602111"/>
            <a:ext cx="2571750" cy="4500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9"/>
          <p:cNvSpPr/>
          <p:nvPr/>
        </p:nvSpPr>
        <p:spPr>
          <a:xfrm>
            <a:off x="3286125" y="3037880"/>
            <a:ext cx="2571750" cy="14288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48558"/>
            <a:ext cx="178594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93319" y="2716411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安全工具执行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3286125" y="3037880"/>
            <a:ext cx="2571750" cy="1074353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OpenCode + E2B，实现安全、持久化的 Agent 任务执行。将自然语言指令转化为具体动作，在 Firecracker microVM 中安全运行渗透测试等高危操作。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6143625" y="2602111"/>
            <a:ext cx="2571750" cy="155298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43625" y="2602111"/>
            <a:ext cx="2571750" cy="4500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4"/>
          <p:cNvSpPr/>
          <p:nvPr/>
        </p:nvSpPr>
        <p:spPr>
          <a:xfrm>
            <a:off x="6143625" y="3037880"/>
            <a:ext cx="2571750" cy="14288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8558"/>
            <a:ext cx="142875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15100" y="2716411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企业级安全防护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6143625" y="3037880"/>
            <a:ext cx="2571750" cy="891490"/>
          </a:xfrm>
          <a:prstGeom prst="rect">
            <a:avLst/>
          </a:prstGeom>
          <a:noFill/>
          <a:ln/>
        </p:spPr>
        <p:txBody>
          <a:bodyPr wrap="square" lIns="170053" tIns="204089" rIns="170053" bIns="204089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多租户隔离、按量计费、实时监控，支撑商业化规模运营。提供四层深度防御架构，确保企业客户数据绝对安全隔离，防止沙箱逃逸。</a:t>
            </a:r>
            <a:endParaRPr lang="en-US" sz="83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08000"/>
            <a:ext cx="11519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网络安全大模型智能体平台 — 技术架构总图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999" y="396000"/>
            <a:ext cx="115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五层架构：用户接入  →  流量调度(Higress)  →  智能体编排(OpenCode)  →  沙箱执行(E2B)  →  基础设施支撑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999" y="611999"/>
            <a:ext cx="11833200" cy="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9999" y="719999"/>
            <a:ext cx="2088000" cy="1296000"/>
          </a:xfrm>
          <a:prstGeom prst="rect">
            <a:avLst/>
          </a:prstGeom>
          <a:solidFill>
            <a:srgbClr val="E0E7FF">
              <a:alpha val="25000"/>
            </a:srgbClr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4F46E5"/>
                </a:solidFill>
              </a:rPr>
              <a:t>① 用户接入层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59999" y="1007999"/>
            <a:ext cx="792000" cy="324000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</a:rPr>
              <a:t>安全工程师 / 用户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359999" y="1404000"/>
            <a:ext cx="792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Web 控制台
(Next.js)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60000" y="1188000"/>
            <a:ext cx="792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REST API
/ SSE 流式接口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6000" y="1332000"/>
            <a:ext cx="0" cy="7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52000" y="1565999"/>
            <a:ext cx="108000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447999" y="719999"/>
            <a:ext cx="2700000" cy="3168000"/>
          </a:xfrm>
          <a:prstGeom prst="rect">
            <a:avLst/>
          </a:prstGeom>
          <a:solidFill>
            <a:srgbClr val="EFF6FF">
              <a:alpha val="25000"/>
            </a:srgb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3B82F6"/>
                </a:solidFill>
              </a:rPr>
              <a:t>② 流量调度层 (Higress)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2000" y="1007999"/>
            <a:ext cx="2412000" cy="324000"/>
          </a:xfrm>
          <a:prstGeom prst="rect">
            <a:avLst/>
          </a:prstGeom>
          <a:solidFill>
            <a:srgbClr val="3B82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统一 Ingress 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2000" y="14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B82F6"/>
                </a:solidFill>
              </a:rPr>
              <a:t>核心插件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2000" y="1548000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key-auth
身份鉴权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5999" y="1548000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ai-quota
配额管理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2000" y="1925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ai-token-ratelimit
Token 限流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5999" y="1925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ai-statistics
指标采集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2000" y="23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B82F6"/>
                </a:solidFill>
              </a:rPr>
              <a:t>大模型路由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2000" y="2447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安全大模型
SecLLM / Qwen-Sec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5999" y="2447999"/>
            <a:ext cx="1116000" cy="305999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通用大模型
OpenAI / Claude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98000" y="1170000"/>
            <a:ext cx="0" cy="37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98000" y="1854000"/>
            <a:ext cx="0" cy="7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98000" y="2232000"/>
            <a:ext cx="0" cy="215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328000" y="719999"/>
            <a:ext cx="2700000" cy="3168000"/>
          </a:xfrm>
          <a:prstGeom prst="rect">
            <a:avLst/>
          </a:prstGeom>
          <a:solidFill>
            <a:srgbClr val="FEF3C7">
              <a:alpha val="25000"/>
            </a:srgbClr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97706"/>
                </a:solidFill>
              </a:rPr>
              <a:t>③ 智能体编排层 (OpenCode)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2000" y="1007999"/>
            <a:ext cx="108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FastAPI
异步服务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60000" y="1007999"/>
            <a:ext cx="126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Celery + Redis
任务队列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0" y="14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97706"/>
                </a:solidFill>
              </a:rPr>
              <a:t>Agent 核心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72000" y="1548000"/>
            <a:ext cx="2412000" cy="468000"/>
          </a:xfrm>
          <a:prstGeom prst="rect">
            <a:avLst/>
          </a:prstGeom>
          <a:solidFill>
            <a:srgbClr val="FEF3C7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Planner Agent
意图解析  ·  任务拆解  ·  状态管理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72000" y="2106000"/>
            <a:ext cx="108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MCP 工具调度器
工具指令生成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0000" y="2106000"/>
            <a:ext cx="126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SSE 状态推送
流式结果输出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12000" y="1332000"/>
            <a:ext cx="0" cy="216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12000" y="2015999"/>
            <a:ext cx="0" cy="90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208000" y="719999"/>
            <a:ext cx="2700000" cy="3168000"/>
          </a:xfrm>
          <a:prstGeom prst="rect">
            <a:avLst/>
          </a:prstGeom>
          <a:solidFill>
            <a:srgbClr val="DCFCE7">
              <a:alpha val="25000"/>
            </a:srgbClr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16A34A"/>
                </a:solidFill>
              </a:rPr>
              <a:t>④ 沙箱执行层 (E2B)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2000" y="1007999"/>
            <a:ext cx="2412000" cy="324000"/>
          </a:xfrm>
          <a:prstGeom prst="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E2B 沙箱调度器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2000" y="1404000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</a:rPr>
              <a:t>安全隔离环境 (Firecracker microVM)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52000" y="1548000"/>
            <a:ext cx="1080000" cy="305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网络隔离
VPC / Namespace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40000" y="1548000"/>
            <a:ext cx="1152000" cy="305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资源限制
Cgroups / Quota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2000" y="1925999"/>
            <a:ext cx="241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6A34A"/>
                </a:solidFill>
              </a:rPr>
              <a:t>安全工具链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2000" y="2070000"/>
            <a:ext cx="54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Nmap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3999" y="2070000"/>
            <a:ext cx="54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SQLMap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76000" y="2070000"/>
            <a:ext cx="540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Burp Suite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88000" y="2070000"/>
            <a:ext cx="576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Metasploit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52000" y="2465999"/>
            <a:ext cx="2412000" cy="305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执行日志采集 &amp; 结果捕获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558000" y="1332000"/>
            <a:ext cx="0" cy="216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558000" y="1854000"/>
            <a:ext cx="0" cy="7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558000" y="2376000"/>
            <a:ext cx="0" cy="89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79999" y="3960000"/>
            <a:ext cx="3780000" cy="2700000"/>
          </a:xfrm>
          <a:prstGeom prst="rect">
            <a:avLst/>
          </a:prstGeom>
          <a:solidFill>
            <a:srgbClr val="FCE7F3">
              <a:alpha val="25000"/>
            </a:srgbClr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B2777"/>
                </a:solidFill>
              </a:rPr>
              <a:t>⑤-A 计费系统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999" y="4248000"/>
            <a:ext cx="792000" cy="32400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Kafka
事件总线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60000" y="4248000"/>
            <a:ext cx="900000" cy="32400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OpenMeter
实时计量引擎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68000" y="4248000"/>
            <a:ext cx="900000" cy="324000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ClickHouse
计量数据存储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9999" y="4680000"/>
            <a:ext cx="792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Stripe
账单与支付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60000" y="4680000"/>
            <a:ext cx="90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预付费积分系统
余额扣减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68000" y="4680000"/>
            <a:ext cx="90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账单自动生成
邮件通知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52000" y="4410000"/>
            <a:ext cx="108000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160000" y="4410000"/>
            <a:ext cx="108000" cy="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6000" y="4572000"/>
            <a:ext cx="0" cy="10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10000" y="4572000"/>
            <a:ext cx="0" cy="10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18000" y="4572000"/>
            <a:ext cx="0" cy="108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4068000" y="3960000"/>
            <a:ext cx="3780000" cy="2700000"/>
          </a:xfrm>
          <a:prstGeom prst="rect">
            <a:avLst/>
          </a:prstGeom>
          <a:solidFill>
            <a:srgbClr val="EDE9FE">
              <a:alpha val="25000"/>
            </a:srgbClr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8B5CF6"/>
                </a:solidFill>
              </a:rPr>
              <a:t>⑤-B 多租户与权限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48000" y="4248000"/>
            <a:ext cx="1620000" cy="3240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PostgreSQL
(Schema 级租户隔离)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76000" y="4248000"/>
            <a:ext cx="1620000" cy="324000"/>
          </a:xfrm>
          <a:prstGeom prst="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RBAC 权限中心
(角色 / 资源 / 策略)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48000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Redis
(Session &amp; 配额缓存)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76000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审计日志
(操作记录 &amp; 合规)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6000" y="3960000"/>
            <a:ext cx="3780000" cy="2700000"/>
          </a:xfrm>
          <a:prstGeom prst="rect">
            <a:avLst/>
          </a:prstGeom>
          <a:solidFill>
            <a:srgbClr val="F3F4F6">
              <a:alpha val="25000"/>
            </a:srgbClr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1D5DB"/>
                </a:solidFill>
              </a:rPr>
              <a:t>⑤-C 运维监控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6000" y="4248000"/>
            <a:ext cx="1620000" cy="324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Kubernetes + Helm
集群管控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863999" y="4248000"/>
            <a:ext cx="1620000" cy="324000"/>
          </a:xfrm>
          <a:prstGeom prst="rect">
            <a:avLst/>
          </a:prstGeom>
          <a:solidFill>
            <a:srgbClr val="F3F4F6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Prometheus + Grafana
指标监控与告警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6000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GitHub Actions
CI/CD 自动化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63999" y="4680000"/>
            <a:ext cx="1620000" cy="3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ELK Stack
日志聚合分析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268000" y="1565999"/>
            <a:ext cx="179999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195999" y="1404000"/>
            <a:ext cx="35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B82F6"/>
                </a:solidFill>
              </a:rPr>
              <a:t>HTTPS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148000" y="1565999"/>
            <a:ext cx="1800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040000" y="14040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路由转发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028000" y="2257199"/>
            <a:ext cx="18000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920000" y="21060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A34A"/>
                </a:solidFill>
              </a:rPr>
              <a:t>MCP 指令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8028000" y="2617200"/>
            <a:ext cx="1800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920000" y="26172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结果回传</a:t>
            </a:r>
          </a:p>
        </p:txBody>
      </p:sp>
      <p:cxnSp>
        <p:nvCxnSpPr>
          <p:cNvPr id="77" name="Connector 76"/>
          <p:cNvCxnSpPr/>
          <p:nvPr/>
        </p:nvCxnSpPr>
        <p:spPr>
          <a:xfrm flipH="1">
            <a:off x="5148000" y="2257199"/>
            <a:ext cx="180000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968000" y="2106000"/>
            <a:ext cx="4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F46E5"/>
                </a:solidFill>
              </a:rPr>
              <a:t>SSE 推送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2268000" y="2257199"/>
            <a:ext cx="179999" cy="0"/>
          </a:xfrm>
          <a:prstGeom prst="line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798000" y="3888000"/>
            <a:ext cx="0" cy="72000"/>
          </a:xfrm>
          <a:prstGeom prst="line">
            <a:avLst/>
          </a:prstGeom>
          <a:ln w="19050">
            <a:solidFill>
              <a:srgbClr val="DB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420000" y="378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B2777"/>
                </a:solidFill>
              </a:rPr>
              <a:t>Token 消耗事件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558000" y="3888000"/>
            <a:ext cx="0" cy="72000"/>
          </a:xfrm>
          <a:prstGeom prst="line">
            <a:avLst/>
          </a:prstGeom>
          <a:ln w="19050">
            <a:solidFill>
              <a:srgbClr val="DB2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180000" y="378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B2777"/>
                </a:solidFill>
              </a:rPr>
              <a:t>沙箱时长事件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150000" y="3888000"/>
            <a:ext cx="0" cy="7200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772000" y="378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B5CF6"/>
                </a:solidFill>
              </a:rPr>
              <a:t>校验租户身份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9999" y="6660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</a:rPr>
              <a:t>图例：蓝色=流量调度层  橙色=智能体编排层  绿色=沙箱执行层  紫色=多租户权限  粉色=计费系统  灰色=运维监控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1828800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整体架构四层设计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30486"/>
            <a:ext cx="8286750" cy="80724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8625" y="1030486"/>
            <a:ext cx="1785938" cy="778669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48383"/>
            <a:ext cx="160734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6534" y="1316236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交互与应用层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2500313" y="1201936"/>
            <a:ext cx="5929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官网 / 控制台 (Next.js)</a:t>
            </a:r>
            <a:endParaRPr lang="en-US" sz="987" dirty="0"/>
          </a:p>
        </p:txBody>
      </p:sp>
      <p:sp>
        <p:nvSpPr>
          <p:cNvPr id="9" name="Text 5"/>
          <p:cNvSpPr/>
          <p:nvPr/>
        </p:nvSpPr>
        <p:spPr>
          <a:xfrm>
            <a:off x="2500313" y="1466255"/>
            <a:ext cx="5929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用户交互、任务下发、实时状态展示、账单与配额管理。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428625" y="1980605"/>
            <a:ext cx="8286750" cy="80724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8625" y="1980605"/>
            <a:ext cx="1785938" cy="778669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8"/>
          <p:cNvSpPr/>
          <p:nvPr/>
        </p:nvSpPr>
        <p:spPr>
          <a:xfrm>
            <a:off x="2200275" y="1980605"/>
            <a:ext cx="14288" cy="778669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298502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8675" y="2266355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网关与控制面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2500313" y="2152055"/>
            <a:ext cx="5929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Higress AI 网关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2500313" y="2416373"/>
            <a:ext cx="5929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多模型统一路由、租户鉴权、Token 级限流、实时计量采集、MCP 协议托管。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428625" y="2930723"/>
            <a:ext cx="8286750" cy="80724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28625" y="2930723"/>
            <a:ext cx="1785938" cy="77866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4"/>
          <p:cNvSpPr/>
          <p:nvPr/>
        </p:nvSpPr>
        <p:spPr>
          <a:xfrm>
            <a:off x="2200275" y="2930723"/>
            <a:ext cx="14288" cy="778669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248620"/>
            <a:ext cx="178594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4394" y="3216473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智能体执行层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2500313" y="3102173"/>
            <a:ext cx="5929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 + E2B 沙箱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2500313" y="3366492"/>
            <a:ext cx="5929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复杂任务规划、代码执行、外部工具调用、实时流式状态回传。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428625" y="3880842"/>
            <a:ext cx="8286750" cy="77331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28625" y="3880842"/>
            <a:ext cx="1785938" cy="744736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6" name="Shape 20"/>
          <p:cNvSpPr/>
          <p:nvPr/>
        </p:nvSpPr>
        <p:spPr>
          <a:xfrm>
            <a:off x="2200275" y="3880842"/>
            <a:ext cx="14288" cy="744736"/>
          </a:xfrm>
          <a:prstGeom prst="rect">
            <a:avLst/>
          </a:prstGeom>
          <a:solidFill>
            <a:srgbClr val="4D4D4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5" y="4181773"/>
            <a:ext cx="142875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8675" y="4149626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基础设施层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2500313" y="4052292"/>
            <a:ext cx="59293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+ Firecracker</a:t>
            </a:r>
            <a:endParaRPr lang="en-US" sz="987" dirty="0"/>
          </a:p>
        </p:txBody>
      </p:sp>
      <p:sp>
        <p:nvSpPr>
          <p:cNvPr id="30" name="Text 23"/>
          <p:cNvSpPr/>
          <p:nvPr/>
        </p:nvSpPr>
        <p:spPr>
          <a:xfrm>
            <a:off x="2500313" y="4282678"/>
            <a:ext cx="5929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容器编排、微虚拟机调度、网络隔离、物理级安全防护。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179094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模块一 · 网络安全大模型网关（Higress）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Higress 是平台的"流量中枢"，统一管理所有安全与通用 AI 请求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3320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29480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要做什么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87" y="1705570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96153" y="1657350"/>
            <a:ext cx="50664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多模型路由与负载均衡：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统一对接 SecLLM、Qwen-Sec 等安全大模型及 OpenAI 通用大模型，屏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蔽 API 差异。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2162770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4375" y="2114550"/>
            <a:ext cx="42326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身份鉴权与消费者管理：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为每个租户分配独立 API Key / JWT，实现精确身份鉴权。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83" y="2505670"/>
            <a:ext cx="160734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4375" y="2457450"/>
            <a:ext cx="37058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流量控制与资源配额：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Token 级别动态限流，防止资源滥用与攻击。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2848570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14375" y="2800350"/>
            <a:ext cx="42773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可观测性与计量采集：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实时采集每次调用的 Token 消耗，输出计量事件至计费系统。</a:t>
            </a:r>
            <a:endParaRPr lang="en-US" sz="784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295948"/>
            <a:ext cx="171450" cy="1714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85800" y="3257550"/>
            <a:ext cx="5143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如何做</a:t>
            </a:r>
            <a:endParaRPr lang="en-US" sz="1193" dirty="0"/>
          </a:p>
        </p:txBody>
      </p:sp>
      <p:sp>
        <p:nvSpPr>
          <p:cNvPr id="17" name="Shape 8"/>
          <p:cNvSpPr/>
          <p:nvPr/>
        </p:nvSpPr>
        <p:spPr>
          <a:xfrm>
            <a:off x="428625" y="3620095"/>
            <a:ext cx="5333981" cy="83791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9"/>
          <p:cNvSpPr/>
          <p:nvPr/>
        </p:nvSpPr>
        <p:spPr>
          <a:xfrm>
            <a:off x="428625" y="3620095"/>
            <a:ext cx="28575" cy="8379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0"/>
          <p:cNvSpPr/>
          <p:nvPr/>
        </p:nvSpPr>
        <p:spPr>
          <a:xfrm>
            <a:off x="571500" y="3786188"/>
            <a:ext cx="393799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Kubernetes 部署 Higress 集群，配置为系统的统一 Ingress 入口。启用</a:t>
            </a:r>
            <a:endParaRPr lang="en-US" sz="834" dirty="0"/>
          </a:p>
        </p:txBody>
      </p:sp>
      <p:sp>
        <p:nvSpPr>
          <p:cNvPr id="20" name="Shape 11"/>
          <p:cNvSpPr/>
          <p:nvPr/>
        </p:nvSpPr>
        <p:spPr>
          <a:xfrm>
            <a:off x="4509492" y="3761184"/>
            <a:ext cx="634371" cy="18395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2"/>
          <p:cNvSpPr/>
          <p:nvPr/>
        </p:nvSpPr>
        <p:spPr>
          <a:xfrm>
            <a:off x="4509492" y="3761184"/>
            <a:ext cx="63437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key-auth</a:t>
            </a:r>
            <a:endParaRPr lang="en-US" sz="784" dirty="0"/>
          </a:p>
        </p:txBody>
      </p:sp>
      <p:sp>
        <p:nvSpPr>
          <p:cNvPr id="22" name="Text 13"/>
          <p:cNvSpPr/>
          <p:nvPr/>
        </p:nvSpPr>
        <p:spPr>
          <a:xfrm>
            <a:off x="5143863" y="3786188"/>
            <a:ext cx="114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endParaRPr lang="en-US" sz="834" dirty="0"/>
          </a:p>
        </p:txBody>
      </p:sp>
      <p:sp>
        <p:nvSpPr>
          <p:cNvPr id="23" name="Shape 14"/>
          <p:cNvSpPr/>
          <p:nvPr/>
        </p:nvSpPr>
        <p:spPr>
          <a:xfrm>
            <a:off x="571500" y="3761184"/>
            <a:ext cx="4935271" cy="368601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15"/>
          <p:cNvSpPr/>
          <p:nvPr/>
        </p:nvSpPr>
        <p:spPr>
          <a:xfrm>
            <a:off x="571500" y="3761184"/>
            <a:ext cx="4935271" cy="368601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ai-quota</a:t>
            </a:r>
            <a:endParaRPr lang="en-US" sz="784" dirty="0"/>
          </a:p>
        </p:txBody>
      </p:sp>
      <p:sp>
        <p:nvSpPr>
          <p:cNvPr id="25" name="Text 16"/>
          <p:cNvSpPr/>
          <p:nvPr/>
        </p:nvSpPr>
        <p:spPr>
          <a:xfrm>
            <a:off x="957263" y="3970837"/>
            <a:ext cx="114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endParaRPr lang="en-US" sz="834" dirty="0"/>
          </a:p>
        </p:txBody>
      </p:sp>
      <p:sp>
        <p:nvSpPr>
          <p:cNvPr id="26" name="Shape 17"/>
          <p:cNvSpPr/>
          <p:nvPr/>
        </p:nvSpPr>
        <p:spPr>
          <a:xfrm>
            <a:off x="1071563" y="3945834"/>
            <a:ext cx="1320171" cy="18395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18"/>
          <p:cNvSpPr/>
          <p:nvPr/>
        </p:nvSpPr>
        <p:spPr>
          <a:xfrm>
            <a:off x="1071563" y="3945834"/>
            <a:ext cx="132017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ai-token-ratelimit</a:t>
            </a:r>
            <a:endParaRPr lang="en-US" sz="784" dirty="0"/>
          </a:p>
        </p:txBody>
      </p:sp>
      <p:sp>
        <p:nvSpPr>
          <p:cNvPr id="28" name="Text 19"/>
          <p:cNvSpPr/>
          <p:nvPr/>
        </p:nvSpPr>
        <p:spPr>
          <a:xfrm>
            <a:off x="2391733" y="3970837"/>
            <a:ext cx="114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、</a:t>
            </a:r>
            <a:endParaRPr lang="en-US" sz="834" dirty="0"/>
          </a:p>
        </p:txBody>
      </p:sp>
      <p:sp>
        <p:nvSpPr>
          <p:cNvPr id="29" name="Shape 20"/>
          <p:cNvSpPr/>
          <p:nvPr/>
        </p:nvSpPr>
        <p:spPr>
          <a:xfrm>
            <a:off x="2506033" y="3945834"/>
            <a:ext cx="977271" cy="18395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1"/>
          <p:cNvSpPr/>
          <p:nvPr/>
        </p:nvSpPr>
        <p:spPr>
          <a:xfrm>
            <a:off x="2506033" y="3945834"/>
            <a:ext cx="977271" cy="183952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9770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ai-statistics</a:t>
            </a:r>
            <a:endParaRPr lang="en-US" sz="784" dirty="0"/>
          </a:p>
        </p:txBody>
      </p:sp>
      <p:sp>
        <p:nvSpPr>
          <p:cNvPr id="31" name="Text 22"/>
          <p:cNvSpPr/>
          <p:nvPr/>
        </p:nvSpPr>
        <p:spPr>
          <a:xfrm>
            <a:off x="3483304" y="3970837"/>
            <a:ext cx="20788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四大插件，构建完整的鉴权-配额-计量链</a:t>
            </a:r>
            <a:endParaRPr lang="en-US" sz="834" dirty="0"/>
          </a:p>
        </p:txBody>
      </p:sp>
      <p:sp>
        <p:nvSpPr>
          <p:cNvPr id="32" name="Text 23"/>
          <p:cNvSpPr/>
          <p:nvPr/>
        </p:nvSpPr>
        <p:spPr>
          <a:xfrm>
            <a:off x="571500" y="4153700"/>
            <a:ext cx="228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路。</a:t>
            </a:r>
            <a:endParaRPr lang="en-US" sz="834" dirty="0"/>
          </a:p>
        </p:txBody>
      </p:sp>
      <p:sp>
        <p:nvSpPr>
          <p:cNvPr id="33" name="Shape 24"/>
          <p:cNvSpPr/>
          <p:nvPr/>
        </p:nvSpPr>
        <p:spPr>
          <a:xfrm>
            <a:off x="6048356" y="1294805"/>
            <a:ext cx="2667019" cy="1966317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005494" y="1251942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06" y="1551087"/>
            <a:ext cx="194667" cy="20002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500199" y="1523405"/>
            <a:ext cx="712589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Higress</a:t>
            </a:r>
            <a:endParaRPr lang="en-US" sz="1397" dirty="0"/>
          </a:p>
        </p:txBody>
      </p:sp>
      <p:sp>
        <p:nvSpPr>
          <p:cNvPr id="37" name="Shape 27"/>
          <p:cNvSpPr/>
          <p:nvPr/>
        </p:nvSpPr>
        <p:spPr>
          <a:xfrm>
            <a:off x="6219806" y="1893094"/>
            <a:ext cx="703659" cy="192881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6219806" y="1893094"/>
            <a:ext cx="703659" cy="19288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Apache-2.0</a:t>
            </a:r>
            <a:endParaRPr lang="en-US" sz="683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9806" y="2197596"/>
            <a:ext cx="128588" cy="1143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405544" y="2185988"/>
            <a:ext cx="5107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8.1k Stars</a:t>
            </a:r>
            <a:endParaRPr lang="en-US" sz="834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9806" y="2392263"/>
            <a:ext cx="100013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376969" y="2380655"/>
            <a:ext cx="8286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alibaba/higress</a:t>
            </a:r>
            <a:endParaRPr lang="en-US" sz="834" dirty="0"/>
          </a:p>
        </p:txBody>
      </p:sp>
      <p:sp>
        <p:nvSpPr>
          <p:cNvPr id="43" name="Text 31"/>
          <p:cNvSpPr/>
          <p:nvPr/>
        </p:nvSpPr>
        <p:spPr>
          <a:xfrm>
            <a:off x="6219806" y="2689622"/>
            <a:ext cx="232411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 AI 网关，负责流量路由、鉴权、限流与计量插件运行。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4720233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模块二 · 智能体执行平台（OpenCode + E2B）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 + E2B 构成"安全执行引擎"，让 Agent 真正动起来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3320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29480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要做什么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83" y="1676995"/>
            <a:ext cx="16073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375" y="1628775"/>
            <a:ext cx="425588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任务拆解与智能编排：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接收自然语言指令，由 Planner Agent 拆解为可执行子任务。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1991320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4375" y="1943100"/>
            <a:ext cx="45148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安全沙箱调度：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为每个任务动态分配独立 Firecracker microVM 沙箱（约 150ms 启动）。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72" y="2305645"/>
            <a:ext cx="107156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4375" y="2257425"/>
            <a:ext cx="41987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工具调用与 MCP 集成：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 MCP 协议调用外部工具（数据库、API、浏览器等）。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2619970"/>
            <a:ext cx="142875" cy="14287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14375" y="2571750"/>
            <a:ext cx="38129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状态同步与流式输出：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 Agent 思考过程与执行结果实时流式推送至前端。</a:t>
            </a:r>
            <a:endParaRPr lang="en-US" sz="784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010198"/>
            <a:ext cx="171450" cy="17145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85800" y="2971800"/>
            <a:ext cx="5143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如何做</a:t>
            </a:r>
            <a:endParaRPr lang="en-US" sz="1193" dirty="0"/>
          </a:p>
        </p:txBody>
      </p:sp>
      <p:sp>
        <p:nvSpPr>
          <p:cNvPr id="17" name="Shape 8"/>
          <p:cNvSpPr/>
          <p:nvPr/>
        </p:nvSpPr>
        <p:spPr>
          <a:xfrm>
            <a:off x="428625" y="3305770"/>
            <a:ext cx="5333981" cy="594327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9"/>
          <p:cNvSpPr/>
          <p:nvPr/>
        </p:nvSpPr>
        <p:spPr>
          <a:xfrm>
            <a:off x="428625" y="3305770"/>
            <a:ext cx="28575" cy="59432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0"/>
          <p:cNvSpPr/>
          <p:nvPr/>
        </p:nvSpPr>
        <p:spPr>
          <a:xfrm>
            <a:off x="428625" y="3305770"/>
            <a:ext cx="5333981" cy="59432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后端通过 E2B SDK 动态创建沙箱，注入 OpenCode 运行时；FastAPI + Celery 构建异步任务队列；沙箱内通过 SSE 实时回传执行状态。</a:t>
            </a:r>
            <a:endParaRPr lang="en-US" sz="834" dirty="0"/>
          </a:p>
        </p:txBody>
      </p:sp>
      <p:sp>
        <p:nvSpPr>
          <p:cNvPr id="20" name="Shape 11"/>
          <p:cNvSpPr/>
          <p:nvPr/>
        </p:nvSpPr>
        <p:spPr>
          <a:xfrm>
            <a:off x="6048356" y="1294805"/>
            <a:ext cx="2667019" cy="632222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656" y="1425178"/>
            <a:ext cx="139303" cy="14287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301960" y="1409105"/>
            <a:ext cx="74473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OpenCode</a:t>
            </a:r>
            <a:endParaRPr lang="en-US" sz="987" dirty="0"/>
          </a:p>
        </p:txBody>
      </p:sp>
      <p:sp>
        <p:nvSpPr>
          <p:cNvPr id="23" name="Shape 13"/>
          <p:cNvSpPr/>
          <p:nvPr/>
        </p:nvSpPr>
        <p:spPr>
          <a:xfrm>
            <a:off x="8354616" y="1424285"/>
            <a:ext cx="246459" cy="151805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4" name="Text 14"/>
          <p:cNvSpPr/>
          <p:nvPr/>
        </p:nvSpPr>
        <p:spPr>
          <a:xfrm>
            <a:off x="8354616" y="1424285"/>
            <a:ext cx="246459" cy="151805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</a:t>
            </a:r>
            <a:endParaRPr lang="en-US" sz="584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56" y="1659136"/>
            <a:ext cx="112514" cy="10001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332320" y="1648420"/>
            <a:ext cx="428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12k Stars</a:t>
            </a:r>
            <a:endParaRPr lang="en-US" sz="727" dirty="0"/>
          </a:p>
        </p:txBody>
      </p:sp>
      <p:sp>
        <p:nvSpPr>
          <p:cNvPr id="27" name="Shape 16"/>
          <p:cNvSpPr/>
          <p:nvPr/>
        </p:nvSpPr>
        <p:spPr>
          <a:xfrm>
            <a:off x="6048356" y="1998464"/>
            <a:ext cx="2667019" cy="632222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2656" y="2128838"/>
            <a:ext cx="139303" cy="14287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301960" y="2112764"/>
            <a:ext cx="29468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E2B</a:t>
            </a:r>
            <a:endParaRPr lang="en-US" sz="987" dirty="0"/>
          </a:p>
        </p:txBody>
      </p:sp>
      <p:sp>
        <p:nvSpPr>
          <p:cNvPr id="30" name="Shape 18"/>
          <p:cNvSpPr/>
          <p:nvPr/>
        </p:nvSpPr>
        <p:spPr>
          <a:xfrm>
            <a:off x="8022431" y="2127945"/>
            <a:ext cx="578644" cy="151805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8022431" y="2127945"/>
            <a:ext cx="578644" cy="151805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Apache-2.0</a:t>
            </a:r>
            <a:endParaRPr lang="en-US" sz="584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656" y="2362795"/>
            <a:ext cx="112514" cy="100013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332320" y="2352080"/>
            <a:ext cx="3679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1k Stars</a:t>
            </a:r>
            <a:endParaRPr lang="en-US" sz="727" dirty="0"/>
          </a:p>
        </p:txBody>
      </p:sp>
      <p:sp>
        <p:nvSpPr>
          <p:cNvPr id="34" name="Shape 21"/>
          <p:cNvSpPr/>
          <p:nvPr/>
        </p:nvSpPr>
        <p:spPr>
          <a:xfrm>
            <a:off x="6048356" y="2702123"/>
            <a:ext cx="2667019" cy="632222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2656" y="2832497"/>
            <a:ext cx="139303" cy="142875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301960" y="2816423"/>
            <a:ext cx="801886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Firecracker</a:t>
            </a:r>
            <a:endParaRPr lang="en-US" sz="987" dirty="0"/>
          </a:p>
        </p:txBody>
      </p:sp>
      <p:sp>
        <p:nvSpPr>
          <p:cNvPr id="37" name="Shape 23"/>
          <p:cNvSpPr/>
          <p:nvPr/>
        </p:nvSpPr>
        <p:spPr>
          <a:xfrm>
            <a:off x="8022431" y="2831604"/>
            <a:ext cx="578644" cy="151805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8" name="Text 24"/>
          <p:cNvSpPr/>
          <p:nvPr/>
        </p:nvSpPr>
        <p:spPr>
          <a:xfrm>
            <a:off x="8022431" y="2831604"/>
            <a:ext cx="578644" cy="151805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Apache-2.0</a:t>
            </a:r>
            <a:endParaRPr lang="en-US" sz="584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2656" y="3066455"/>
            <a:ext cx="112514" cy="100013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332320" y="3055739"/>
            <a:ext cx="5393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33.8k Stars</a:t>
            </a:r>
            <a:endParaRPr lang="en-US" sz="727" dirty="0"/>
          </a:p>
        </p:txBody>
      </p:sp>
      <p:sp>
        <p:nvSpPr>
          <p:cNvPr id="41" name="Shape 26"/>
          <p:cNvSpPr/>
          <p:nvPr/>
        </p:nvSpPr>
        <p:spPr>
          <a:xfrm>
            <a:off x="6048356" y="3405783"/>
            <a:ext cx="2667019" cy="632222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62656" y="3536156"/>
            <a:ext cx="139303" cy="142875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301960" y="3520083"/>
            <a:ext cx="5464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</a:t>
            </a:r>
            <a:endParaRPr lang="en-US" sz="987" dirty="0"/>
          </a:p>
        </p:txBody>
      </p:sp>
      <p:sp>
        <p:nvSpPr>
          <p:cNvPr id="44" name="Shape 28"/>
          <p:cNvSpPr/>
          <p:nvPr/>
        </p:nvSpPr>
        <p:spPr>
          <a:xfrm>
            <a:off x="8354616" y="3535263"/>
            <a:ext cx="246459" cy="151805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5" name="Text 29"/>
          <p:cNvSpPr/>
          <p:nvPr/>
        </p:nvSpPr>
        <p:spPr>
          <a:xfrm>
            <a:off x="8354616" y="3535263"/>
            <a:ext cx="246459" cy="151805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</a:t>
            </a:r>
            <a:endParaRPr lang="en-US" sz="584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62656" y="3770114"/>
            <a:ext cx="112514" cy="100013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332320" y="3759398"/>
            <a:ext cx="5250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97.4k Stars</a:t>
            </a:r>
            <a:endParaRPr lang="en-US" sz="727" dirty="0"/>
          </a:p>
        </p:txBody>
      </p:sp>
      <p:sp>
        <p:nvSpPr>
          <p:cNvPr id="48" name="Shape 31"/>
          <p:cNvSpPr/>
          <p:nvPr/>
        </p:nvSpPr>
        <p:spPr>
          <a:xfrm>
            <a:off x="6048356" y="4109442"/>
            <a:ext cx="2667019" cy="632222"/>
          </a:xfrm>
          <a:prstGeom prst="rect">
            <a:avLst/>
          </a:prstGeom>
          <a:solidFill>
            <a:srgbClr val="FFFFFF"/>
          </a:solidFill>
          <a:ln w="9144">
            <a:solidFill>
              <a:srgbClr val="1A1A1A"/>
            </a:solidFill>
            <a:prstDash val="solid"/>
          </a:ln>
        </p:spPr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2656" y="4239816"/>
            <a:ext cx="139303" cy="142875"/>
          </a:xfrm>
          <a:prstGeom prst="rect">
            <a:avLst/>
          </a:prstGeom>
        </p:spPr>
      </p:pic>
      <p:sp>
        <p:nvSpPr>
          <p:cNvPr id="50" name="Text 32"/>
          <p:cNvSpPr/>
          <p:nvPr/>
        </p:nvSpPr>
        <p:spPr>
          <a:xfrm>
            <a:off x="6301960" y="4223742"/>
            <a:ext cx="471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Celery</a:t>
            </a:r>
            <a:endParaRPr lang="en-US" sz="987" dirty="0"/>
          </a:p>
        </p:txBody>
      </p:sp>
      <p:sp>
        <p:nvSpPr>
          <p:cNvPr id="51" name="Shape 33"/>
          <p:cNvSpPr/>
          <p:nvPr/>
        </p:nvSpPr>
        <p:spPr>
          <a:xfrm>
            <a:off x="8245673" y="4238923"/>
            <a:ext cx="355402" cy="151805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52" name="Text 34"/>
          <p:cNvSpPr/>
          <p:nvPr/>
        </p:nvSpPr>
        <p:spPr>
          <a:xfrm>
            <a:off x="8245673" y="4238923"/>
            <a:ext cx="355402" cy="151805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BSD-3</a:t>
            </a:r>
            <a:endParaRPr lang="en-US" sz="584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62656" y="4473773"/>
            <a:ext cx="112514" cy="100013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6332320" y="4463058"/>
            <a:ext cx="5411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28.4k Stars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3137892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模块三 · 多租户隔离与配额管理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四层深度防御，确保企业客户数据绝对隔离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3320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29480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要做什么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76995"/>
            <a:ext cx="178594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800" y="1628775"/>
            <a:ext cx="2409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租户身份管理：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维护租户信息、组织架构及用户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角色（RBAC）。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105620"/>
            <a:ext cx="178594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85800" y="2057400"/>
            <a:ext cx="2409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上下文传递：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确保在整个分布式调用链路中，租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户 ID 始终被正确传递和校验。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534245"/>
            <a:ext cx="178594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2486025"/>
            <a:ext cx="240981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数据隔离：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保证各租户在数据库层面的数据互不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可见。</a:t>
            </a:r>
            <a:endParaRPr lang="en-US" sz="784" dirty="0"/>
          </a:p>
        </p:txBody>
      </p:sp>
      <p:sp>
        <p:nvSpPr>
          <p:cNvPr id="13" name="Shape 6"/>
          <p:cNvSpPr/>
          <p:nvPr/>
        </p:nvSpPr>
        <p:spPr>
          <a:xfrm>
            <a:off x="428625" y="3962995"/>
            <a:ext cx="2666991" cy="112335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385763" y="3948708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4129088"/>
            <a:ext cx="150019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8669" y="4105870"/>
            <a:ext cx="9554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</a:t>
            </a:r>
            <a:endParaRPr lang="en-US" sz="1193" dirty="0"/>
          </a:p>
        </p:txBody>
      </p:sp>
      <p:sp>
        <p:nvSpPr>
          <p:cNvPr id="17" name="Shape 9"/>
          <p:cNvSpPr/>
          <p:nvPr/>
        </p:nvSpPr>
        <p:spPr>
          <a:xfrm>
            <a:off x="542925" y="4380905"/>
            <a:ext cx="959048" cy="176808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542925" y="4380905"/>
            <a:ext cx="959048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License</a:t>
            </a:r>
            <a:endParaRPr lang="en-US" sz="584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4625578"/>
            <a:ext cx="112514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2589" y="4614863"/>
            <a:ext cx="5375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20.6k Stars</a:t>
            </a:r>
            <a:endParaRPr lang="en-US" sz="727" dirty="0"/>
          </a:p>
        </p:txBody>
      </p:sp>
      <p:sp>
        <p:nvSpPr>
          <p:cNvPr id="21" name="Text 12"/>
          <p:cNvSpPr/>
          <p:nvPr/>
        </p:nvSpPr>
        <p:spPr>
          <a:xfrm>
            <a:off x="542925" y="4822031"/>
            <a:ext cx="24383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 Schema 特性实现多租户数据逻辑隔离。</a:t>
            </a:r>
            <a:endParaRPr lang="en-US" sz="727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1366" y="1333202"/>
            <a:ext cx="171450" cy="17145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638541" y="1294805"/>
            <a:ext cx="10287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四层隔离实现</a:t>
            </a:r>
            <a:endParaRPr lang="en-US" sz="1193" dirty="0"/>
          </a:p>
        </p:txBody>
      </p:sp>
      <p:sp>
        <p:nvSpPr>
          <p:cNvPr id="24" name="Shape 14"/>
          <p:cNvSpPr/>
          <p:nvPr/>
        </p:nvSpPr>
        <p:spPr>
          <a:xfrm>
            <a:off x="3381366" y="1685925"/>
            <a:ext cx="5334009" cy="6357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3381366" y="1685925"/>
            <a:ext cx="571500" cy="607219"/>
          </a:xfrm>
          <a:prstGeom prst="rect">
            <a:avLst/>
          </a:prstGeom>
          <a:solidFill>
            <a:srgbClr val="4D4D4D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4602" y="1889522"/>
            <a:ext cx="225028" cy="20002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067166" y="1771650"/>
            <a:ext cx="45339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网关层</a:t>
            </a:r>
            <a:endParaRPr lang="en-US" sz="987" dirty="0"/>
          </a:p>
        </p:txBody>
      </p:sp>
      <p:sp>
        <p:nvSpPr>
          <p:cNvPr id="28" name="Text 17"/>
          <p:cNvSpPr/>
          <p:nvPr/>
        </p:nvSpPr>
        <p:spPr>
          <a:xfrm>
            <a:off x="4067166" y="2035969"/>
            <a:ext cx="4533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Higress Consumer 鉴权 + Token 限流，防止越权与资源耗尽。</a:t>
            </a:r>
            <a:endParaRPr lang="en-US" sz="834" dirty="0"/>
          </a:p>
        </p:txBody>
      </p:sp>
      <p:sp>
        <p:nvSpPr>
          <p:cNvPr id="29" name="Shape 18"/>
          <p:cNvSpPr/>
          <p:nvPr/>
        </p:nvSpPr>
        <p:spPr>
          <a:xfrm>
            <a:off x="3381366" y="2378869"/>
            <a:ext cx="5334009" cy="6357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3381366" y="2378869"/>
            <a:ext cx="571500" cy="607219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9605" y="2582466"/>
            <a:ext cx="175022" cy="20002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067166" y="2464594"/>
            <a:ext cx="45339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执行层</a:t>
            </a:r>
            <a:endParaRPr lang="en-US" sz="987" dirty="0"/>
          </a:p>
        </p:txBody>
      </p:sp>
      <p:sp>
        <p:nvSpPr>
          <p:cNvPr id="33" name="Text 21"/>
          <p:cNvSpPr/>
          <p:nvPr/>
        </p:nvSpPr>
        <p:spPr>
          <a:xfrm>
            <a:off x="4067166" y="2728913"/>
            <a:ext cx="4533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E2B Firecracker microVM 提供硬件级别的内存与 CPU 物理隔离。</a:t>
            </a:r>
            <a:endParaRPr lang="en-US" sz="834" dirty="0"/>
          </a:p>
        </p:txBody>
      </p:sp>
      <p:sp>
        <p:nvSpPr>
          <p:cNvPr id="34" name="Shape 22"/>
          <p:cNvSpPr/>
          <p:nvPr/>
        </p:nvSpPr>
        <p:spPr>
          <a:xfrm>
            <a:off x="3381366" y="3071813"/>
            <a:ext cx="5334009" cy="6357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3381366" y="3071813"/>
            <a:ext cx="571500" cy="607219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79605" y="3275409"/>
            <a:ext cx="175022" cy="200025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4067166" y="3157538"/>
            <a:ext cx="45339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数据层</a:t>
            </a:r>
            <a:endParaRPr lang="en-US" sz="987" dirty="0"/>
          </a:p>
        </p:txBody>
      </p:sp>
      <p:sp>
        <p:nvSpPr>
          <p:cNvPr id="38" name="Text 25"/>
          <p:cNvSpPr/>
          <p:nvPr/>
        </p:nvSpPr>
        <p:spPr>
          <a:xfrm>
            <a:off x="4067166" y="3421856"/>
            <a:ext cx="4533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Schema-per-tenant 模式，ORM 动态切换 Schema。</a:t>
            </a:r>
            <a:endParaRPr lang="en-US" sz="834" dirty="0"/>
          </a:p>
        </p:txBody>
      </p:sp>
      <p:sp>
        <p:nvSpPr>
          <p:cNvPr id="39" name="Shape 26"/>
          <p:cNvSpPr/>
          <p:nvPr/>
        </p:nvSpPr>
        <p:spPr>
          <a:xfrm>
            <a:off x="3381366" y="3764756"/>
            <a:ext cx="5334009" cy="6357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0" name="Shape 27"/>
          <p:cNvSpPr/>
          <p:nvPr/>
        </p:nvSpPr>
        <p:spPr>
          <a:xfrm>
            <a:off x="3381366" y="3764756"/>
            <a:ext cx="571500" cy="607219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7103" y="3968353"/>
            <a:ext cx="200025" cy="200025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4067166" y="3850481"/>
            <a:ext cx="45339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基础设施层</a:t>
            </a:r>
            <a:endParaRPr lang="en-US" sz="987" dirty="0"/>
          </a:p>
        </p:txBody>
      </p:sp>
      <p:sp>
        <p:nvSpPr>
          <p:cNvPr id="43" name="Text 29"/>
          <p:cNvSpPr/>
          <p:nvPr/>
        </p:nvSpPr>
        <p:spPr>
          <a:xfrm>
            <a:off x="4067166" y="4114800"/>
            <a:ext cx="4533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K8s Namespace + Network Policy，实现网络流量与资源的底层隔离。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1766292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模块四 · 计费系统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事件驱动的实时计量，将资源消耗精确转化为商业账单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3320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29480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要做什么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705570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375" y="1657350"/>
            <a:ext cx="38201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事件摄取与聚合：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高吞吐量接收网关 Token 消耗事件与沙箱运行时长事件。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72" y="2048470"/>
            <a:ext cx="107156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4375" y="20002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实时余额计算：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实时维护租户预付费积分余额，支持秒级停服。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72" y="2391370"/>
            <a:ext cx="107156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4375" y="2343150"/>
            <a:ext cx="3086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账单生成与支付：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按阶梯定价策略生成月度账单并自动扣款。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838748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85800" y="2800350"/>
            <a:ext cx="5143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如何做</a:t>
            </a:r>
            <a:endParaRPr lang="en-US" sz="1193" dirty="0"/>
          </a:p>
        </p:txBody>
      </p:sp>
      <p:sp>
        <p:nvSpPr>
          <p:cNvPr id="15" name="Shape 7"/>
          <p:cNvSpPr/>
          <p:nvPr/>
        </p:nvSpPr>
        <p:spPr>
          <a:xfrm>
            <a:off x="428625" y="3162895"/>
            <a:ext cx="5333981" cy="101898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8"/>
          <p:cNvSpPr/>
          <p:nvPr/>
        </p:nvSpPr>
        <p:spPr>
          <a:xfrm>
            <a:off x="428625" y="3162895"/>
            <a:ext cx="28575" cy="101898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9"/>
          <p:cNvSpPr/>
          <p:nvPr/>
        </p:nvSpPr>
        <p:spPr>
          <a:xfrm>
            <a:off x="571500" y="3328988"/>
            <a:ext cx="4572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数据流：</a:t>
            </a:r>
            <a:endParaRPr lang="en-US" sz="784" dirty="0"/>
          </a:p>
        </p:txBody>
      </p:sp>
      <p:sp>
        <p:nvSpPr>
          <p:cNvPr id="18" name="Text 10"/>
          <p:cNvSpPr/>
          <p:nvPr/>
        </p:nvSpPr>
        <p:spPr>
          <a:xfrm>
            <a:off x="1028700" y="3328988"/>
            <a:ext cx="4768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Higress</a:t>
            </a:r>
            <a:endParaRPr lang="en-US" sz="834" dirty="0"/>
          </a:p>
        </p:txBody>
      </p:sp>
      <p:sp>
        <p:nvSpPr>
          <p:cNvPr id="19" name="Text 11"/>
          <p:cNvSpPr/>
          <p:nvPr/>
        </p:nvSpPr>
        <p:spPr>
          <a:xfrm>
            <a:off x="1505545" y="3318272"/>
            <a:ext cx="8915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ai-statistics</a:t>
            </a:r>
            <a:endParaRPr lang="en-US" sz="834" dirty="0"/>
          </a:p>
        </p:txBody>
      </p:sp>
      <p:sp>
        <p:nvSpPr>
          <p:cNvPr id="20" name="Text 12"/>
          <p:cNvSpPr/>
          <p:nvPr/>
        </p:nvSpPr>
        <p:spPr>
          <a:xfrm>
            <a:off x="2397091" y="3328988"/>
            <a:ext cx="30807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插件 → Kafka → OpenMeter (ClickHouse) 实时聚合；E2B</a:t>
            </a:r>
            <a:endParaRPr lang="en-US" sz="834" dirty="0"/>
          </a:p>
        </p:txBody>
      </p:sp>
      <p:sp>
        <p:nvSpPr>
          <p:cNvPr id="21" name="Text 13"/>
          <p:cNvSpPr/>
          <p:nvPr/>
        </p:nvSpPr>
        <p:spPr>
          <a:xfrm>
            <a:off x="571500" y="3511851"/>
            <a:ext cx="200560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 Webhook → 沙箱时长计算。</a:t>
            </a:r>
            <a:endParaRPr lang="en-US" sz="834" dirty="0"/>
          </a:p>
        </p:txBody>
      </p:sp>
      <p:sp>
        <p:nvSpPr>
          <p:cNvPr id="22" name="Text 14"/>
          <p:cNvSpPr/>
          <p:nvPr/>
        </p:nvSpPr>
        <p:spPr>
          <a:xfrm>
            <a:off x="571500" y="3877577"/>
            <a:ext cx="4572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结算流：</a:t>
            </a:r>
            <a:endParaRPr lang="en-US" sz="784" dirty="0"/>
          </a:p>
        </p:txBody>
      </p:sp>
      <p:sp>
        <p:nvSpPr>
          <p:cNvPr id="23" name="Text 15"/>
          <p:cNvSpPr/>
          <p:nvPr/>
        </p:nvSpPr>
        <p:spPr>
          <a:xfrm>
            <a:off x="1028700" y="3877577"/>
            <a:ext cx="302359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OpenMeter 汇总数据 → Stripe 自动生成 Invoice 并扣款。</a:t>
            </a:r>
            <a:endParaRPr lang="en-US" sz="834" dirty="0"/>
          </a:p>
        </p:txBody>
      </p:sp>
      <p:sp>
        <p:nvSpPr>
          <p:cNvPr id="24" name="Shape 16"/>
          <p:cNvSpPr/>
          <p:nvPr/>
        </p:nvSpPr>
        <p:spPr>
          <a:xfrm>
            <a:off x="6048356" y="1294805"/>
            <a:ext cx="2667019" cy="9858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005494" y="1251942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31" y="1460004"/>
            <a:ext cx="176808" cy="15716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453764" y="1437680"/>
            <a:ext cx="839391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OpenMeter</a:t>
            </a:r>
            <a:endParaRPr lang="en-US" sz="1090" dirty="0"/>
          </a:p>
        </p:txBody>
      </p:sp>
      <p:sp>
        <p:nvSpPr>
          <p:cNvPr id="28" name="Shape 19"/>
          <p:cNvSpPr/>
          <p:nvPr/>
        </p:nvSpPr>
        <p:spPr>
          <a:xfrm>
            <a:off x="6191231" y="1725216"/>
            <a:ext cx="619720" cy="176808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191231" y="1725216"/>
            <a:ext cx="619720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Apache-2.0</a:t>
            </a:r>
            <a:endParaRPr lang="en-US" sz="584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31" y="1984177"/>
            <a:ext cx="112514" cy="10001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360895" y="1973461"/>
            <a:ext cx="45898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1.9k Stars</a:t>
            </a:r>
            <a:endParaRPr lang="en-US" sz="727" dirty="0"/>
          </a:p>
        </p:txBody>
      </p:sp>
      <p:sp>
        <p:nvSpPr>
          <p:cNvPr id="32" name="Shape 22"/>
          <p:cNvSpPr/>
          <p:nvPr/>
        </p:nvSpPr>
        <p:spPr>
          <a:xfrm>
            <a:off x="6048356" y="2380655"/>
            <a:ext cx="2667019" cy="9858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6005494" y="2337792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31" y="2545854"/>
            <a:ext cx="157163" cy="157163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434119" y="2523530"/>
            <a:ext cx="103763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Apache Kafka</a:t>
            </a:r>
            <a:endParaRPr lang="en-US" sz="1090" dirty="0"/>
          </a:p>
        </p:txBody>
      </p:sp>
      <p:sp>
        <p:nvSpPr>
          <p:cNvPr id="36" name="Shape 25"/>
          <p:cNvSpPr/>
          <p:nvPr/>
        </p:nvSpPr>
        <p:spPr>
          <a:xfrm>
            <a:off x="6191231" y="2811066"/>
            <a:ext cx="619720" cy="176808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6191231" y="2811066"/>
            <a:ext cx="619720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Apache-2.0</a:t>
            </a:r>
            <a:endParaRPr lang="en-US" sz="584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31" y="3070027"/>
            <a:ext cx="112514" cy="100013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360895" y="3059311"/>
            <a:ext cx="5429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32.4k Stars</a:t>
            </a:r>
            <a:endParaRPr lang="en-US" sz="727" dirty="0"/>
          </a:p>
        </p:txBody>
      </p:sp>
      <p:sp>
        <p:nvSpPr>
          <p:cNvPr id="40" name="Shape 28"/>
          <p:cNvSpPr/>
          <p:nvPr/>
        </p:nvSpPr>
        <p:spPr>
          <a:xfrm>
            <a:off x="6048356" y="3466505"/>
            <a:ext cx="2667019" cy="9858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1" name="Shape 29"/>
          <p:cNvSpPr/>
          <p:nvPr/>
        </p:nvSpPr>
        <p:spPr>
          <a:xfrm>
            <a:off x="6005494" y="3423642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31" y="3631704"/>
            <a:ext cx="137517" cy="157163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414474" y="3609380"/>
            <a:ext cx="834033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ClickHouse</a:t>
            </a:r>
            <a:endParaRPr lang="en-US" sz="1090" dirty="0"/>
          </a:p>
        </p:txBody>
      </p:sp>
      <p:sp>
        <p:nvSpPr>
          <p:cNvPr id="44" name="Shape 31"/>
          <p:cNvSpPr/>
          <p:nvPr/>
        </p:nvSpPr>
        <p:spPr>
          <a:xfrm>
            <a:off x="6191231" y="3896916"/>
            <a:ext cx="619720" cy="176808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6191231" y="3896916"/>
            <a:ext cx="619720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Apache-2.0</a:t>
            </a:r>
            <a:endParaRPr lang="en-US" sz="584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31" y="4155877"/>
            <a:ext cx="112514" cy="100013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360895" y="4145161"/>
            <a:ext cx="5411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46.9k Stars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1994892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模块五 · 官网与前端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现代化控制台，让用户直观感知 Agent 的每一步行动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3320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29480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要做什么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705570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375" y="1657350"/>
            <a:ext cx="3086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官网门户：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产品介绍、定价方案、注册登录，展示品牌形象。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2048470"/>
            <a:ext cx="142875" cy="14287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14375" y="2000250"/>
            <a:ext cx="3200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租户控制台：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用量统计、账单详情、配额管理，实现自助服务。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391370"/>
            <a:ext cx="178594" cy="14287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4375" y="2343150"/>
            <a:ext cx="4218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交互界面：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流式输出、终端画面展示、任务历史回溯，提供类 Manus 体验。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838748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85800" y="2800350"/>
            <a:ext cx="51435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如何做</a:t>
            </a:r>
            <a:endParaRPr lang="en-US" sz="1193" dirty="0"/>
          </a:p>
        </p:txBody>
      </p:sp>
      <p:sp>
        <p:nvSpPr>
          <p:cNvPr id="15" name="Shape 7"/>
          <p:cNvSpPr/>
          <p:nvPr/>
        </p:nvSpPr>
        <p:spPr>
          <a:xfrm>
            <a:off x="428625" y="3162895"/>
            <a:ext cx="5333981" cy="1017203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Shape 8"/>
          <p:cNvSpPr/>
          <p:nvPr/>
        </p:nvSpPr>
        <p:spPr>
          <a:xfrm>
            <a:off x="428625" y="3162895"/>
            <a:ext cx="28575" cy="101720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9"/>
          <p:cNvSpPr/>
          <p:nvPr/>
        </p:nvSpPr>
        <p:spPr>
          <a:xfrm>
            <a:off x="428625" y="3162895"/>
            <a:ext cx="5333981" cy="101720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 </a:t>
            </a: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Next.js + TailwindCSS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构建响应式界面。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常规数据通过 RESTful API 与后端交互；Agent 执行状态通过 </a:t>
            </a: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Server-Sent Events (SSE)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实时推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送，实现毫秒级界面更新与打字机效果。</a:t>
            </a:r>
            <a:endParaRPr lang="en-US" sz="834" dirty="0"/>
          </a:p>
        </p:txBody>
      </p:sp>
      <p:sp>
        <p:nvSpPr>
          <p:cNvPr id="18" name="Shape 10"/>
          <p:cNvSpPr/>
          <p:nvPr/>
        </p:nvSpPr>
        <p:spPr>
          <a:xfrm>
            <a:off x="6048356" y="1294805"/>
            <a:ext cx="2667019" cy="13716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6005494" y="1251942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31" y="1460004"/>
            <a:ext cx="157163" cy="15716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434119" y="1437680"/>
            <a:ext cx="52328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Next.js</a:t>
            </a:r>
            <a:endParaRPr lang="en-US" sz="1090" dirty="0"/>
          </a:p>
        </p:txBody>
      </p:sp>
      <p:sp>
        <p:nvSpPr>
          <p:cNvPr id="22" name="Shape 13"/>
          <p:cNvSpPr/>
          <p:nvPr/>
        </p:nvSpPr>
        <p:spPr>
          <a:xfrm>
            <a:off x="6191231" y="1725216"/>
            <a:ext cx="287536" cy="176808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6191231" y="1725216"/>
            <a:ext cx="287536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584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31" y="1984177"/>
            <a:ext cx="112514" cy="100013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360895" y="1973461"/>
            <a:ext cx="4929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139k Stars</a:t>
            </a:r>
            <a:endParaRPr lang="en-US" sz="727" dirty="0"/>
          </a:p>
        </p:txBody>
      </p:sp>
      <p:sp>
        <p:nvSpPr>
          <p:cNvPr id="26" name="Text 16"/>
          <p:cNvSpPr/>
          <p:nvPr/>
        </p:nvSpPr>
        <p:spPr>
          <a:xfrm>
            <a:off x="6191231" y="2180630"/>
            <a:ext cx="23812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框架，用于构建官网与前端控制台，支持 SSR 与优化。</a:t>
            </a:r>
            <a:endParaRPr lang="en-US" sz="727" dirty="0"/>
          </a:p>
        </p:txBody>
      </p:sp>
      <p:sp>
        <p:nvSpPr>
          <p:cNvPr id="27" name="Shape 17"/>
          <p:cNvSpPr/>
          <p:nvPr/>
        </p:nvSpPr>
        <p:spPr>
          <a:xfrm>
            <a:off x="6048356" y="2766417"/>
            <a:ext cx="2667019" cy="1221581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6005494" y="2723555"/>
            <a:ext cx="85725" cy="85725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31" y="2931616"/>
            <a:ext cx="157163" cy="157163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434119" y="2909292"/>
            <a:ext cx="9465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Tailwind CSS</a:t>
            </a:r>
            <a:endParaRPr lang="en-US" sz="1090" dirty="0"/>
          </a:p>
        </p:txBody>
      </p:sp>
      <p:sp>
        <p:nvSpPr>
          <p:cNvPr id="31" name="Shape 20"/>
          <p:cNvSpPr/>
          <p:nvPr/>
        </p:nvSpPr>
        <p:spPr>
          <a:xfrm>
            <a:off x="6191231" y="3196828"/>
            <a:ext cx="287536" cy="176808"/>
          </a:xfrm>
          <a:prstGeom prst="rect">
            <a:avLst/>
          </a:prstGeom>
          <a:solidFill>
            <a:srgbClr val="E5E7EB"/>
          </a:solidFill>
          <a:ln w="9144">
            <a:solidFill>
              <a:srgbClr val="1A1A1A"/>
            </a:solidFill>
            <a:prstDash val="solid"/>
          </a:ln>
        </p:spPr>
      </p:sp>
      <p:sp>
        <p:nvSpPr>
          <p:cNvPr id="32" name="Text 21"/>
          <p:cNvSpPr/>
          <p:nvPr/>
        </p:nvSpPr>
        <p:spPr>
          <a:xfrm>
            <a:off x="6191231" y="3196828"/>
            <a:ext cx="287536" cy="176808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</a:t>
            </a:r>
            <a:endParaRPr lang="en-US" sz="584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31" y="3455789"/>
            <a:ext cx="112514" cy="100013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360895" y="3445073"/>
            <a:ext cx="5393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94.6k Stars</a:t>
            </a:r>
            <a:endParaRPr lang="en-US" sz="727" dirty="0"/>
          </a:p>
        </p:txBody>
      </p:sp>
      <p:sp>
        <p:nvSpPr>
          <p:cNvPr id="35" name="Text 23"/>
          <p:cNvSpPr/>
          <p:nvPr/>
        </p:nvSpPr>
        <p:spPr>
          <a:xfrm>
            <a:off x="6191231" y="3652242"/>
            <a:ext cx="238126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实用优先的 CSS 框架，用于快速构建现代化 UI。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1994892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模块六 · 测试与运维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全链路质量保障，从代码提交到生产上线全程可控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294805"/>
            <a:ext cx="4057650" cy="224849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5763" y="1251942"/>
            <a:ext cx="85725" cy="8572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504652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46625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测试策略</a:t>
            </a:r>
            <a:endParaRPr lang="en-US" sz="119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905595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42975" y="1857375"/>
            <a:ext cx="3246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单元测试：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覆盖核心模块（Pytest / Jest），确保基础逻辑正确。</a:t>
            </a:r>
            <a:endParaRPr lang="en-US" sz="784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43" y="2248495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2036" y="2200275"/>
            <a:ext cx="33256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安全渗透：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多租户隔离与 Web 安全测试（OWASP ZAP），防止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越权。</a:t>
            </a:r>
            <a:endParaRPr lang="en-US" sz="78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705695"/>
            <a:ext cx="178594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2975" y="2657475"/>
            <a:ext cx="2971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集成测试：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计费系统端到端测试，确保数据流转准确无误。</a:t>
            </a:r>
            <a:endParaRPr lang="en-US" sz="784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94" y="3048595"/>
            <a:ext cx="142875" cy="14287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37366" y="3000375"/>
            <a:ext cx="33203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压力测试：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全链路高并发压力测试（k6），模拟大规模 Agent 调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度。</a:t>
            </a:r>
            <a:endParaRPr lang="en-US" sz="784" dirty="0"/>
          </a:p>
        </p:txBody>
      </p:sp>
      <p:sp>
        <p:nvSpPr>
          <p:cNvPr id="17" name="Shape 9"/>
          <p:cNvSpPr/>
          <p:nvPr/>
        </p:nvSpPr>
        <p:spPr>
          <a:xfrm>
            <a:off x="4657725" y="1294805"/>
            <a:ext cx="4057650" cy="221992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4614863" y="1251942"/>
            <a:ext cx="85725" cy="85725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1504652"/>
            <a:ext cx="214313" cy="17145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86363" y="1466255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运维策略</a:t>
            </a:r>
            <a:endParaRPr lang="en-US" sz="1193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0176" y="1905595"/>
            <a:ext cx="142875" cy="142875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51230" y="1857375"/>
            <a:ext cx="33355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自动化流水线：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CI/CD，实现代码构建、测试与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镜像推送。</a:t>
            </a:r>
            <a:endParaRPr lang="en-US" sz="784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613" y="2362795"/>
            <a:ext cx="142875" cy="14287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72075" y="2314575"/>
            <a:ext cx="30128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集群管理：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 + Helm 统一管理生产环境各组件。</a:t>
            </a:r>
            <a:endParaRPr lang="en-US" sz="784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0613" y="2705695"/>
            <a:ext cx="142875" cy="142875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72075" y="2657475"/>
            <a:ext cx="31932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监控告警：</a:t>
            </a:r>
            <a:r>
              <a:rPr lang="en-US" sz="834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+ Grafana 实时监控节点与业务指标。</a:t>
            </a:r>
            <a:endParaRPr lang="en-US" sz="784" dirty="0"/>
          </a:p>
        </p:txBody>
      </p:sp>
      <p:sp>
        <p:nvSpPr>
          <p:cNvPr id="27" name="Shape 15"/>
          <p:cNvSpPr/>
          <p:nvPr/>
        </p:nvSpPr>
        <p:spPr>
          <a:xfrm>
            <a:off x="428625" y="3657600"/>
            <a:ext cx="8286750" cy="8447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3832622"/>
            <a:ext cx="142875" cy="142875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942975" y="3800475"/>
            <a:ext cx="1143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5E7E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核心开源项目支撑</a:t>
            </a:r>
            <a:endParaRPr lang="en-US" sz="987" dirty="0"/>
          </a:p>
        </p:txBody>
      </p:sp>
      <p:sp>
        <p:nvSpPr>
          <p:cNvPr id="30" name="Shape 17"/>
          <p:cNvSpPr/>
          <p:nvPr/>
        </p:nvSpPr>
        <p:spPr>
          <a:xfrm>
            <a:off x="714375" y="4093369"/>
            <a:ext cx="1053703" cy="266105"/>
          </a:xfrm>
          <a:prstGeom prst="rect">
            <a:avLst/>
          </a:prstGeom>
          <a:solidFill>
            <a:srgbClr val="4D4D4D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4169271"/>
            <a:ext cx="114300" cy="1143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1000125" y="4157663"/>
            <a:ext cx="63936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</a:t>
            </a:r>
            <a:endParaRPr lang="en-US" sz="784" dirty="0"/>
          </a:p>
        </p:txBody>
      </p:sp>
      <p:sp>
        <p:nvSpPr>
          <p:cNvPr id="33" name="Shape 19"/>
          <p:cNvSpPr/>
          <p:nvPr/>
        </p:nvSpPr>
        <p:spPr>
          <a:xfrm>
            <a:off x="1868091" y="4093369"/>
            <a:ext cx="730448" cy="266105"/>
          </a:xfrm>
          <a:prstGeom prst="rect">
            <a:avLst/>
          </a:prstGeom>
          <a:solidFill>
            <a:srgbClr val="4D4D4D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2391" y="4169271"/>
            <a:ext cx="142875" cy="11430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2182416" y="4157663"/>
            <a:ext cx="2875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Helm</a:t>
            </a:r>
            <a:endParaRPr lang="en-US" sz="784" dirty="0"/>
          </a:p>
        </p:txBody>
      </p:sp>
      <p:sp>
        <p:nvSpPr>
          <p:cNvPr id="36" name="Shape 21"/>
          <p:cNvSpPr/>
          <p:nvPr/>
        </p:nvSpPr>
        <p:spPr>
          <a:xfrm>
            <a:off x="2698552" y="4093369"/>
            <a:ext cx="1082278" cy="266105"/>
          </a:xfrm>
          <a:prstGeom prst="rect">
            <a:avLst/>
          </a:prstGeom>
          <a:solidFill>
            <a:srgbClr val="4D4D4D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12852" y="4169271"/>
            <a:ext cx="114300" cy="11430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2984302" y="4157663"/>
            <a:ext cx="6679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784" dirty="0"/>
          </a:p>
        </p:txBody>
      </p:sp>
      <p:sp>
        <p:nvSpPr>
          <p:cNvPr id="39" name="Shape 23"/>
          <p:cNvSpPr/>
          <p:nvPr/>
        </p:nvSpPr>
        <p:spPr>
          <a:xfrm>
            <a:off x="3880842" y="4093369"/>
            <a:ext cx="867966" cy="266105"/>
          </a:xfrm>
          <a:prstGeom prst="rect">
            <a:avLst/>
          </a:prstGeom>
          <a:solidFill>
            <a:srgbClr val="4D4D4D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95142" y="4169271"/>
            <a:ext cx="128588" cy="11430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4180880" y="4157663"/>
            <a:ext cx="43934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</a:t>
            </a:r>
            <a:endParaRPr lang="en-US" sz="784" dirty="0"/>
          </a:p>
        </p:txBody>
      </p:sp>
      <p:sp>
        <p:nvSpPr>
          <p:cNvPr id="42" name="Shape 25"/>
          <p:cNvSpPr/>
          <p:nvPr/>
        </p:nvSpPr>
        <p:spPr>
          <a:xfrm>
            <a:off x="4848820" y="4093369"/>
            <a:ext cx="566142" cy="266105"/>
          </a:xfrm>
          <a:prstGeom prst="rect">
            <a:avLst/>
          </a:prstGeom>
          <a:solidFill>
            <a:srgbClr val="4D4D4D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63120" y="4169271"/>
            <a:ext cx="128588" cy="114300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148858" y="4157663"/>
            <a:ext cx="1375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k6</a:t>
            </a:r>
            <a:endParaRPr lang="en-US" sz="784" dirty="0"/>
          </a:p>
        </p:txBody>
      </p:sp>
      <p:sp>
        <p:nvSpPr>
          <p:cNvPr id="45" name="Shape 27"/>
          <p:cNvSpPr/>
          <p:nvPr/>
        </p:nvSpPr>
        <p:spPr>
          <a:xfrm>
            <a:off x="5514975" y="4093369"/>
            <a:ext cx="1114425" cy="266105"/>
          </a:xfrm>
          <a:prstGeom prst="rect">
            <a:avLst/>
          </a:prstGeom>
          <a:solidFill>
            <a:srgbClr val="4D4D4D"/>
          </a:solidFill>
          <a:ln w="9144">
            <a:solidFill>
              <a:srgbClr val="E5E7EB"/>
            </a:solidFill>
            <a:prstDash val="solid"/>
          </a:ln>
        </p:spPr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9275" y="4162127"/>
            <a:ext cx="128588" cy="114300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5815013" y="4150519"/>
            <a:ext cx="6858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ZAP</a:t>
            </a:r>
            <a:endParaRPr lang="en-US" sz="7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9999" y="108000"/>
            <a:ext cx="11519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</a:rPr>
              <a:t>网络安全大模型智能体平台 — 业务流转逻辑图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999" y="396000"/>
            <a:ext cx="11519999" cy="1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智能化调度循环：指令输入  →  鉴权路由  →  [任务规划 ⇄ 沙箱执行（循环往复）]  →  结果输出  →  计量计费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179999" y="611999"/>
            <a:ext cx="11833200" cy="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9999" y="719999"/>
            <a:ext cx="1620000" cy="6012000"/>
          </a:xfrm>
          <a:prstGeom prst="rect">
            <a:avLst/>
          </a:prstGeom>
          <a:solidFill>
            <a:srgbClr val="E0E7FF">
              <a:alpha val="20000"/>
            </a:srgbClr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4F46E5"/>
                </a:solidFill>
              </a:rPr>
              <a:t>阶段 1
用户接入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1044000"/>
            <a:ext cx="133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安全工程师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9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4000" y="1656000"/>
            <a:ext cx="133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Web 控制台
(Next.js)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9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4000" y="2268000"/>
            <a:ext cx="133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输入安全测试指令
(自然语言)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9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4000" y="2879999"/>
            <a:ext cx="133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打包 REST 请求
附带 API Key / JWT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0000" y="719999"/>
            <a:ext cx="1620000" cy="6012000"/>
          </a:xfrm>
          <a:prstGeom prst="rect">
            <a:avLst/>
          </a:prstGeom>
          <a:solidFill>
            <a:srgbClr val="EFF6FF">
              <a:alpha val="20000"/>
            </a:srgbClr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3B82F6"/>
                </a:solidFill>
              </a:rPr>
              <a:t>阶段 2
鉴权路由 (Higress)</a:t>
            </a:r>
          </a:p>
        </p:txBody>
      </p:sp>
      <p:sp>
        <p:nvSpPr>
          <p:cNvPr id="14" name="Diamond 13"/>
          <p:cNvSpPr/>
          <p:nvPr/>
        </p:nvSpPr>
        <p:spPr>
          <a:xfrm>
            <a:off x="2124000" y="1044000"/>
            <a:ext cx="1332000" cy="432000"/>
          </a:xfrm>
          <a:prstGeom prst="diamond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A1A1A"/>
                </a:solidFill>
              </a:rPr>
              <a:t>JWT / API Key
身份鉴权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4000" y="1512000"/>
            <a:ext cx="13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✗ 鉴权失败 → 返回 401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90000" y="147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2124000" y="1728000"/>
            <a:ext cx="1332000" cy="432000"/>
          </a:xfrm>
          <a:prstGeom prst="diamond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配额 &amp; 限流检查
(ai-quota / ratelimit)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4000" y="2195999"/>
            <a:ext cx="133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✗ 超限 → 返回 429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90000" y="2160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124000" y="2412000"/>
            <a:ext cx="1332000" cy="359999"/>
          </a:xfrm>
          <a:prstGeom prst="rect">
            <a:avLst/>
          </a:prstGeom>
          <a:solidFill>
            <a:srgbClr val="3B82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大模型智能路由
SecLLM / OpenAI / Claude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90000" y="2772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24000" y="3024000"/>
            <a:ext cx="133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ai-statistics
Token 计量上报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0000" y="719999"/>
            <a:ext cx="1980000" cy="6012000"/>
          </a:xfrm>
          <a:prstGeom prst="rect">
            <a:avLst/>
          </a:prstGeom>
          <a:solidFill>
            <a:srgbClr val="FEF3C7">
              <a:alpha val="20000"/>
            </a:srgbClr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97706"/>
                </a:solidFill>
              </a:rPr>
              <a:t>阶段 3
智能体编排 (OpenCode)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24000" y="1044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FastAPI 接收请求
初始化任务上下文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7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24000" y="1656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Celery 任务入队
(Redis 消息队列)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7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924000" y="2268000"/>
            <a:ext cx="1692000" cy="540000"/>
          </a:xfrm>
          <a:prstGeom prst="rect">
            <a:avLst/>
          </a:prstGeom>
          <a:solidFill>
            <a:srgbClr val="FEF3C7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Planner Agent
大模型推理 · 意图解析 · 任务拆解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70000" y="2808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924000" y="3060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MCP 工具调度器
生成工具调用指令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70000" y="3420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924000" y="3672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状态管理器
记录执行历史 &amp; 上下文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770000" y="4031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924000" y="4284000"/>
            <a:ext cx="1692000" cy="359999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SSE 流式推送
实时返回执行状态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0000" y="719999"/>
            <a:ext cx="1980000" cy="6012000"/>
          </a:xfrm>
          <a:prstGeom prst="rect">
            <a:avLst/>
          </a:prstGeom>
          <a:solidFill>
            <a:srgbClr val="DCFCE7">
              <a:alpha val="20000"/>
            </a:srgbClr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16A34A"/>
                </a:solidFill>
              </a:rPr>
              <a:t>阶段 4
沙箱执行 (E2B)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4000" y="1044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E2B 沙箱调度器
接收 MCP 工具指令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3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084000" y="1656000"/>
            <a:ext cx="1692000" cy="359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动态启动
Firecracker microVM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3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084000" y="2268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网络隔离 &amp; 资源限制
VPC / Cgroups / Quota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93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084000" y="2879999"/>
            <a:ext cx="1692000" cy="540000"/>
          </a:xfrm>
          <a:prstGeom prst="rect">
            <a:avLst/>
          </a:prstGeom>
          <a:solidFill>
            <a:srgbClr val="16A34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执行安全工具
Nmap / SQLMap / Burp Suite
Metasploit / 自定义脚本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30000" y="3420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084000" y="3672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日志采集 &amp; 结果捕获
结构化输出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930000" y="4031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084000" y="4284000"/>
            <a:ext cx="1692000" cy="359999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沙箱销毁 &amp; 清理
资源释放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00000" y="719999"/>
            <a:ext cx="1980000" cy="6012000"/>
          </a:xfrm>
          <a:prstGeom prst="rect">
            <a:avLst/>
          </a:prstGeom>
          <a:solidFill>
            <a:srgbClr val="FCE7F3">
              <a:alpha val="20000"/>
            </a:srgbClr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DB2777"/>
                </a:solidFill>
              </a:rPr>
              <a:t>阶段 5
计量计费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44000" y="1044000"/>
            <a:ext cx="1692000" cy="359999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Kafka 事件总线
接收计量事件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9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244000" y="1656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OpenMeter
实时聚合计算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9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244000" y="2268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ClickHouse
计量数据持久化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09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iamond 53"/>
          <p:cNvSpPr/>
          <p:nvPr/>
        </p:nvSpPr>
        <p:spPr>
          <a:xfrm>
            <a:off x="8244000" y="2879999"/>
            <a:ext cx="1692000" cy="432000"/>
          </a:xfrm>
          <a:prstGeom prst="diamond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余额 / 配额
是否充足?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4000" y="3348000"/>
            <a:ext cx="16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</a:rPr>
              <a:t>✗ 不足 → 通知用户充值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090000" y="3312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8244000" y="3564000"/>
            <a:ext cx="169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Stripe 账单生成
自动扣费 / 邮件通知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090000" y="392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244000" y="4176000"/>
            <a:ext cx="1692000" cy="359999"/>
          </a:xfrm>
          <a:prstGeom prst="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更新租户配额
同步至 Higress 插件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60000" y="719999"/>
            <a:ext cx="1800000" cy="6012000"/>
          </a:xfrm>
          <a:prstGeom prst="rect">
            <a:avLst/>
          </a:prstGeom>
          <a:solidFill>
            <a:srgbClr val="E0E7FF">
              <a:alpha val="20000"/>
            </a:srgbClr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l"/>
            <a:r>
              <a:rPr sz="900" b="1">
                <a:solidFill>
                  <a:srgbClr val="4F46E5"/>
                </a:solidFill>
              </a:rPr>
              <a:t>阶段 6
结果输出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04000" y="1044000"/>
            <a:ext cx="151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汇总分析报告
(Markdown / JSON)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1160000" y="1404000"/>
            <a:ext cx="0" cy="25200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404000" y="1656000"/>
            <a:ext cx="151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SSE 流式推送
实时返回前端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1160000" y="2015999"/>
            <a:ext cx="0" cy="252001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0404000" y="2268000"/>
            <a:ext cx="1512000" cy="359999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A1A1A"/>
                </a:solidFill>
              </a:rPr>
              <a:t>前端渲染展示
漏洞列表 / 风险评级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160000" y="2628000"/>
            <a:ext cx="0" cy="251999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0404000" y="2879999"/>
            <a:ext cx="1512000" cy="359999"/>
          </a:xfrm>
          <a:prstGeom prst="rect">
            <a:avLst/>
          </a:prstGeom>
          <a:solidFill>
            <a:srgbClr val="E0E7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A1A1A"/>
                </a:solidFill>
              </a:rPr>
              <a:t>安全工程师
查看并下载报告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800000" y="3060000"/>
            <a:ext cx="180000" cy="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764000" y="2915999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3B82F6"/>
                </a:solidFill>
              </a:rPr>
              <a:t>HTTPS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600000" y="2592000"/>
            <a:ext cx="180000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528000" y="2447999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转发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759999" y="3240000"/>
            <a:ext cx="180001" cy="0"/>
          </a:xfrm>
          <a:prstGeom prst="line">
            <a:avLst/>
          </a:prstGeom>
          <a:ln w="317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652000" y="3096000"/>
            <a:ext cx="35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6A34A"/>
                </a:solidFill>
              </a:rPr>
              <a:t>MCP 指令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5759999" y="3851999"/>
            <a:ext cx="180001" cy="0"/>
          </a:xfrm>
          <a:prstGeom prst="line">
            <a:avLst/>
          </a:prstGeom>
          <a:ln w="317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652000" y="3960000"/>
            <a:ext cx="359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97706"/>
                </a:solidFill>
              </a:rPr>
              <a:t>结果回传</a:t>
            </a:r>
          </a:p>
        </p:txBody>
      </p:sp>
      <p:cxnSp>
        <p:nvCxnSpPr>
          <p:cNvPr id="76" name="Connector 75"/>
          <p:cNvCxnSpPr/>
          <p:nvPr/>
        </p:nvCxnSpPr>
        <p:spPr>
          <a:xfrm flipV="1">
            <a:off x="5616000" y="1836000"/>
            <a:ext cx="4788000" cy="2628000"/>
          </a:xfrm>
          <a:prstGeom prst="line">
            <a:avLst/>
          </a:prstGeom>
          <a:ln w="19050">
            <a:solidFill>
              <a:srgbClr val="4F46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739999" y="450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4F46E5"/>
                </a:solidFill>
              </a:rPr>
              <a:t>任务完成 → 汇总报告</a:t>
            </a:r>
          </a:p>
        </p:txBody>
      </p:sp>
      <p:cxnSp>
        <p:nvCxnSpPr>
          <p:cNvPr id="78" name="Connector 77"/>
          <p:cNvCxnSpPr/>
          <p:nvPr/>
        </p:nvCxnSpPr>
        <p:spPr>
          <a:xfrm flipV="1">
            <a:off x="2790000" y="1223999"/>
            <a:ext cx="5454000" cy="2160001"/>
          </a:xfrm>
          <a:prstGeom prst="line">
            <a:avLst/>
          </a:prstGeom>
          <a:ln w="15240">
            <a:solidFill>
              <a:srgbClr val="DB2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5040000" y="5220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DB2777"/>
                </a:solidFill>
              </a:rPr>
              <a:t>Token 消耗事件 (异步)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7920000" y="1584000"/>
            <a:ext cx="324000" cy="2880000"/>
          </a:xfrm>
          <a:prstGeom prst="line">
            <a:avLst/>
          </a:prstGeom>
          <a:ln w="15240">
            <a:solidFill>
              <a:srgbClr val="DB277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780000" y="5400000"/>
            <a:ext cx="4140000" cy="540000"/>
          </a:xfrm>
          <a:prstGeom prst="rect">
            <a:avLst/>
          </a:prstGeom>
          <a:solidFill>
            <a:srgbClr val="FFFBEB">
              <a:alpha val="40000"/>
            </a:srgbClr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924000"/>
                </a:solidFill>
              </a:rPr>
              <a:t>⟳  智能化调度循环（循环往复）：Planner Agent 根据每次工具执行结果动态调整下一步计划，直至任务完成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9999" y="6696000"/>
            <a:ext cx="11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</a:rPr>
              <a:t>图例：蓝色=鉴权路由  橙色=智能体编排  绿色=沙箱执行  粉色=计量计费  靛蓝=用户接入/结果输出  ⟳=循环往复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3366492" cy="458986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模块七 · 全局数据流转与模块串联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859036"/>
            <a:ext cx="82867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从用户请求到账单生成的完整闭环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815405"/>
            <a:ext cx="2609841" cy="11465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4325" y="1701105"/>
            <a:ext cx="228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314325" y="17011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784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004715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681" y="1986855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交互下发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600075" y="2279749"/>
            <a:ext cx="226694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用户通过前端控制台输入安全测试指令（如"扫描该域名漏洞"），前端通过 REST API 发送至网关。</a:t>
            </a:r>
            <a:endParaRPr lang="en-US" sz="78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759" y="2302966"/>
            <a:ext cx="107156" cy="1714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67066" y="1815405"/>
            <a:ext cx="2609841" cy="11465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3152766" y="1701105"/>
            <a:ext cx="228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9"/>
          <p:cNvSpPr/>
          <p:nvPr/>
        </p:nvSpPr>
        <p:spPr>
          <a:xfrm>
            <a:off x="3152766" y="17011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784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04715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95691" y="1986855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网关鉴权</a:t>
            </a:r>
            <a:endParaRPr lang="en-US" sz="987" dirty="0"/>
          </a:p>
        </p:txBody>
      </p:sp>
      <p:sp>
        <p:nvSpPr>
          <p:cNvPr id="17" name="Text 11"/>
          <p:cNvSpPr/>
          <p:nvPr/>
        </p:nvSpPr>
        <p:spPr>
          <a:xfrm>
            <a:off x="3438516" y="2279749"/>
            <a:ext cx="226694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Higress 拦截请求，校验 JWT，验证租户身份与预付费积分余额，通过后将请求路由至智能体调度服务。</a:t>
            </a:r>
            <a:endParaRPr lang="en-US" sz="78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1200" y="2302966"/>
            <a:ext cx="107156" cy="17145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105506" y="1815405"/>
            <a:ext cx="2609869" cy="11465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991206" y="1715393"/>
            <a:ext cx="228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4"/>
          <p:cNvSpPr/>
          <p:nvPr/>
        </p:nvSpPr>
        <p:spPr>
          <a:xfrm>
            <a:off x="5991206" y="171539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784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56" y="2019002"/>
            <a:ext cx="171450" cy="171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534131" y="2001143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任务规划</a:t>
            </a:r>
            <a:endParaRPr lang="en-US" sz="987" dirty="0"/>
          </a:p>
        </p:txBody>
      </p:sp>
      <p:sp>
        <p:nvSpPr>
          <p:cNvPr id="24" name="Text 16"/>
          <p:cNvSpPr/>
          <p:nvPr/>
        </p:nvSpPr>
        <p:spPr>
          <a:xfrm>
            <a:off x="6276956" y="2294037"/>
            <a:ext cx="226696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OpenCode 的 Planner Agent 接收指令，调用安全大模型（如 SecLLM）将目标拆解为具体的渗透测试子任务。</a:t>
            </a:r>
            <a:endParaRPr lang="en-US" sz="780" dirty="0"/>
          </a:p>
        </p:txBody>
      </p:sp>
      <p:sp>
        <p:nvSpPr>
          <p:cNvPr id="25" name="Shape 17"/>
          <p:cNvSpPr/>
          <p:nvPr/>
        </p:nvSpPr>
        <p:spPr>
          <a:xfrm>
            <a:off x="428625" y="3233440"/>
            <a:ext cx="2609841" cy="11465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314325" y="3119140"/>
            <a:ext cx="228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19"/>
          <p:cNvSpPr/>
          <p:nvPr/>
        </p:nvSpPr>
        <p:spPr>
          <a:xfrm>
            <a:off x="314325" y="31191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784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3422749"/>
            <a:ext cx="150019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35819" y="3404890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沙箱执行</a:t>
            </a:r>
            <a:endParaRPr lang="en-US" sz="987" dirty="0"/>
          </a:p>
        </p:txBody>
      </p:sp>
      <p:sp>
        <p:nvSpPr>
          <p:cNvPr id="30" name="Text 21"/>
          <p:cNvSpPr/>
          <p:nvPr/>
        </p:nvSpPr>
        <p:spPr>
          <a:xfrm>
            <a:off x="600075" y="3697784"/>
            <a:ext cx="226694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系统通过 E2B 动态启动 Firecracker 沙箱，Agent 在隔离环境中执行 Nmap、SQLMap 等安全工具。</a:t>
            </a:r>
            <a:endParaRPr lang="en-US" sz="78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2759" y="3721001"/>
            <a:ext cx="107156" cy="171450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3267066" y="3233440"/>
            <a:ext cx="2609841" cy="11465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3152766" y="3119140"/>
            <a:ext cx="228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24"/>
          <p:cNvSpPr/>
          <p:nvPr/>
        </p:nvSpPr>
        <p:spPr>
          <a:xfrm>
            <a:off x="3152766" y="31191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784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8516" y="3422749"/>
            <a:ext cx="171450" cy="17145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695691" y="3404890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状态回传</a:t>
            </a:r>
            <a:endParaRPr lang="en-US" sz="987" dirty="0"/>
          </a:p>
        </p:txBody>
      </p:sp>
      <p:sp>
        <p:nvSpPr>
          <p:cNvPr id="37" name="Text 26"/>
          <p:cNvSpPr/>
          <p:nvPr/>
        </p:nvSpPr>
        <p:spPr>
          <a:xfrm>
            <a:off x="3438516" y="3697784"/>
            <a:ext cx="226694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沙箱内执行日志、模型思考过程通过 SSE 实时流式推送到前端控制台，用户可实时查看安全测试进度。</a:t>
            </a:r>
            <a:endParaRPr lang="en-US" sz="78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1200" y="3721001"/>
            <a:ext cx="107156" cy="171450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6105506" y="3233440"/>
            <a:ext cx="2609869" cy="11465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0" name="Shape 28"/>
          <p:cNvSpPr/>
          <p:nvPr/>
        </p:nvSpPr>
        <p:spPr>
          <a:xfrm>
            <a:off x="5991206" y="3133427"/>
            <a:ext cx="22860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Text 29"/>
          <p:cNvSpPr/>
          <p:nvPr/>
        </p:nvSpPr>
        <p:spPr>
          <a:xfrm>
            <a:off x="5991206" y="313342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784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6956" y="3437037"/>
            <a:ext cx="128588" cy="17145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491269" y="3419177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计量计费</a:t>
            </a:r>
            <a:endParaRPr lang="en-US" sz="987" dirty="0"/>
          </a:p>
        </p:txBody>
      </p:sp>
      <p:sp>
        <p:nvSpPr>
          <p:cNvPr id="44" name="Text 31"/>
          <p:cNvSpPr/>
          <p:nvPr/>
        </p:nvSpPr>
        <p:spPr>
          <a:xfrm>
            <a:off x="6276956" y="3712071"/>
            <a:ext cx="2266969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Higress 异步上报 Token 消耗，E2B 上报沙箱时长，OpenMeter 实时聚合扣减余额，Stripe 生成最终账单。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28872" y="916186"/>
            <a:ext cx="3886200" cy="331112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600297" y="887611"/>
            <a:ext cx="85725" cy="8572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22" y="1401961"/>
            <a:ext cx="5715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14660" y="2084189"/>
            <a:ext cx="2714625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spc="-1" kern="0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 &amp; A</a:t>
            </a:r>
            <a:endParaRPr lang="en-US" sz="3294" dirty="0"/>
          </a:p>
        </p:txBody>
      </p:sp>
      <p:sp>
        <p:nvSpPr>
          <p:cNvPr id="7" name="Text 3"/>
          <p:cNvSpPr/>
          <p:nvPr/>
        </p:nvSpPr>
        <p:spPr>
          <a:xfrm>
            <a:off x="3214660" y="2839641"/>
            <a:ext cx="2714625" cy="330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感谢您的聆听</a:t>
            </a:r>
            <a:endParaRPr lang="en-US" sz="1704" dirty="0"/>
          </a:p>
        </p:txBody>
      </p:sp>
      <p:sp>
        <p:nvSpPr>
          <p:cNvPr id="8" name="Text 4"/>
          <p:cNvSpPr/>
          <p:nvPr/>
        </p:nvSpPr>
        <p:spPr>
          <a:xfrm>
            <a:off x="3214660" y="3398639"/>
            <a:ext cx="2714625" cy="385763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携手构建下一代网络安全大模型智能体平台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457922" y="4170164"/>
            <a:ext cx="85725" cy="85725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2026-04-18T07:46:40Z</dcterms:created>
  <dcterms:modified xsi:type="dcterms:W3CDTF">2026-04-18T07:46:40Z</dcterms:modified>
</cp:coreProperties>
</file>