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31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0" y="1645920"/>
            <a:ext cx="9418320" cy="3657600"/>
          </a:xfrm>
          <a:prstGeom prst="rect">
            <a:avLst/>
          </a:prstGeom>
          <a:solidFill>
            <a:srgbClr val="FFFFFF"/>
          </a:solidFill>
          <a:ln w="1905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298448" y="1572768"/>
            <a:ext cx="146304" cy="14630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716768" y="5230368"/>
            <a:ext cx="146304" cy="14630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0" y="2011680"/>
            <a:ext cx="8869680" cy="1280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000" b="1">
                <a:solidFill>
                  <a:srgbClr val="1A1A1A"/>
                </a:solidFill>
                <a:latin typeface="微软雅黑"/>
              </a:rPr>
              <a:t>网络安全大模型智能体平台</a:t>
            </a:r>
          </a:p>
        </p:txBody>
      </p:sp>
      <p:sp>
        <p:nvSpPr>
          <p:cNvPr id="8" name="Rectangle 7"/>
          <p:cNvSpPr/>
          <p:nvPr/>
        </p:nvSpPr>
        <p:spPr>
          <a:xfrm>
            <a:off x="1645920" y="3383280"/>
            <a:ext cx="886968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0">
                <a:solidFill>
                  <a:srgbClr val="1A1A1A"/>
                </a:solidFill>
                <a:latin typeface="微软雅黑"/>
              </a:rPr>
              <a:t>项目启动会议  ·  2026年5月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0" y="4114800"/>
            <a:ext cx="8503920" cy="200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645920" y="4206240"/>
            <a:ext cx="886968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4D4D4D"/>
                </a:solidFill>
                <a:latin typeface="微软雅黑"/>
              </a:rPr>
              <a:t>基于 Higress · OpenCode · E2B  构建企业级安全 Agent 基础设施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微软雅黑"/>
              </a:rPr>
              <a:t>我们要构建什么？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0" cy="2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563EB"/>
                </a:solidFill>
                <a:latin typeface="微软雅黑"/>
              </a:rPr>
              <a:t>从“聊天助手”到“安全专家”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54864" cy="8229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1732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D4D4D"/>
                </a:solidFill>
                <a:latin typeface="微软雅黑"/>
              </a:rPr>
              <a:t>构建一套网络安全大模型智能体平台，让 AI Agent 能够像人类安全专家一样，接受自然语言指令，自主规划任务，调用安全工具，并在安全隔离的环境中执行自动化渗透测试与威胁分析。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423160"/>
            <a:ext cx="3474720" cy="25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60604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1A1A"/>
                </a:solidFill>
                <a:latin typeface="微软雅黑"/>
              </a:rPr>
              <a:t>流量与模型调度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063240"/>
            <a:ext cx="34747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D4D4D"/>
                </a:solidFill>
                <a:latin typeface="微软雅黑"/>
              </a:rPr>
              <a:t>统一接入各类网络安全垂类大模型与通用大模型，提供企业级流量治理与成本控制。屏蔽底层差异，实现智能路由和精确到 Token 级别的动态限流。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423160"/>
            <a:ext cx="3474720" cy="25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60604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1A1A"/>
                </a:solidFill>
                <a:latin typeface="微软雅黑"/>
              </a:rPr>
              <a:t>安全工具执行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3063240"/>
            <a:ext cx="34747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D4D4D"/>
                </a:solidFill>
                <a:latin typeface="微软雅黑"/>
              </a:rPr>
              <a:t>基于 OpenCode + E2B，实现安全、持久化的 Agent 任务执行。将自然语言指令转化为具体动作，在 Firecracker microVM 中安全运行渗透测试等高危操作。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2423160"/>
            <a:ext cx="3474720" cy="25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260604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1A1A"/>
                </a:solidFill>
                <a:latin typeface="微软雅黑"/>
              </a:rPr>
              <a:t>企业级安全防护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3063240"/>
            <a:ext cx="34747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D4D4D"/>
                </a:solidFill>
                <a:latin typeface="微软雅黑"/>
              </a:rPr>
              <a:t>多租户隔离、按量计费、实时监控，支撑商业化规模运营。提供四层深度防御架构，确保企业客户数据绝对安全隔离，防止沙箱逃逸。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79999" y="108000"/>
            <a:ext cx="11519999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A1A1A"/>
                </a:solidFill>
              </a:rPr>
              <a:t>网络安全大模型智能体平台 — 技术架构总图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9999" y="396000"/>
            <a:ext cx="11519999" cy="17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</a:rPr>
              <a:t>五层架构：用户接入  →  流量调度(Higress)  →  智能体编排(OpenCode)  →  沙箱执行(E2B)  →  基础设施支撑</a:t>
            </a:r>
          </a:p>
        </p:txBody>
      </p:sp>
      <p:sp>
        <p:nvSpPr>
          <p:cNvPr id="4" name="Rectangle 3"/>
          <p:cNvSpPr/>
          <p:nvPr/>
        </p:nvSpPr>
        <p:spPr>
          <a:xfrm>
            <a:off x="179999" y="611999"/>
            <a:ext cx="11833200" cy="144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79999" y="719999"/>
            <a:ext cx="2088000" cy="1296000"/>
          </a:xfrm>
          <a:prstGeom prst="rect">
            <a:avLst/>
          </a:prstGeom>
          <a:solidFill>
            <a:srgbClr val="E0E7FF">
              <a:alpha val="25000"/>
            </a:srgbClr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/>
          <a:lstStyle/>
          <a:p>
            <a:pPr algn="l"/>
            <a:r>
              <a:rPr sz="900" b="1">
                <a:solidFill>
                  <a:srgbClr val="4F46E5"/>
                </a:solidFill>
              </a:rPr>
              <a:t>① 用户接入层</a:t>
            </a:r>
          </a:p>
        </p:txBody>
      </p:sp>
      <p:sp>
        <p:nvSpPr>
          <p:cNvPr id="6" name="Rectangle 5"/>
          <p:cNvSpPr/>
          <p:nvPr/>
        </p:nvSpPr>
        <p:spPr>
          <a:xfrm>
            <a:off x="359999" y="1007999"/>
            <a:ext cx="792000" cy="324000"/>
          </a:xfrm>
          <a:prstGeom prst="rect">
            <a:avLst/>
          </a:prstGeom>
          <a:solidFill>
            <a:srgbClr val="E0E7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</a:rPr>
              <a:t>安全工程师 / 用户</a:t>
            </a:r>
          </a:p>
        </p:txBody>
      </p:sp>
      <p:sp>
        <p:nvSpPr>
          <p:cNvPr id="7" name="Rectangle 6"/>
          <p:cNvSpPr/>
          <p:nvPr/>
        </p:nvSpPr>
        <p:spPr>
          <a:xfrm>
            <a:off x="359999" y="1404000"/>
            <a:ext cx="792000" cy="324000"/>
          </a:xfrm>
          <a:prstGeom prst="rect">
            <a:avLst/>
          </a:prstGeom>
          <a:solidFill>
            <a:srgbClr val="FFFF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A1A1A"/>
                </a:solidFill>
              </a:rPr>
              <a:t>Web 控制台
(Next.js)</a:t>
            </a:r>
          </a:p>
        </p:txBody>
      </p:sp>
      <p:sp>
        <p:nvSpPr>
          <p:cNvPr id="8" name="Rectangle 7"/>
          <p:cNvSpPr/>
          <p:nvPr/>
        </p:nvSpPr>
        <p:spPr>
          <a:xfrm>
            <a:off x="1260000" y="1188000"/>
            <a:ext cx="792000" cy="324000"/>
          </a:xfrm>
          <a:prstGeom prst="rect">
            <a:avLst/>
          </a:prstGeom>
          <a:solidFill>
            <a:srgbClr val="FFFF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A1A1A"/>
                </a:solidFill>
              </a:rPr>
              <a:t>REST API
/ SSE 流式接口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56000" y="1332000"/>
            <a:ext cx="0" cy="72000"/>
          </a:xfrm>
          <a:prstGeom prst="line">
            <a:avLst/>
          </a:prstGeom>
          <a:ln w="190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152000" y="1565999"/>
            <a:ext cx="108000" cy="0"/>
          </a:xfrm>
          <a:prstGeom prst="line">
            <a:avLst/>
          </a:prstGeom>
          <a:ln w="190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2447999" y="719999"/>
            <a:ext cx="2700000" cy="3168000"/>
          </a:xfrm>
          <a:prstGeom prst="rect">
            <a:avLst/>
          </a:prstGeom>
          <a:solidFill>
            <a:srgbClr val="EFF6FF">
              <a:alpha val="25000"/>
            </a:srgbClr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/>
          <a:lstStyle/>
          <a:p>
            <a:pPr algn="l"/>
            <a:r>
              <a:rPr sz="900" b="1">
                <a:solidFill>
                  <a:srgbClr val="3B82F6"/>
                </a:solidFill>
              </a:rPr>
              <a:t>② 流量调度层 (Higress)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92000" y="1007999"/>
            <a:ext cx="2412000" cy="324000"/>
          </a:xfrm>
          <a:prstGeom prst="rect">
            <a:avLst/>
          </a:prstGeom>
          <a:solidFill>
            <a:srgbClr val="3B82F6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统一 Ingress 入口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92000" y="1404000"/>
            <a:ext cx="2412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3B82F6"/>
                </a:solidFill>
              </a:rPr>
              <a:t>核心插件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92000" y="1548000"/>
            <a:ext cx="1116000" cy="305999"/>
          </a:xfrm>
          <a:prstGeom prst="rect">
            <a:avLst/>
          </a:prstGeom>
          <a:solidFill>
            <a:srgbClr val="EFF6FF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A1A1A"/>
                </a:solidFill>
              </a:rPr>
              <a:t>key-auth
身份鉴权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15999" y="1548000"/>
            <a:ext cx="1116000" cy="305999"/>
          </a:xfrm>
          <a:prstGeom prst="rect">
            <a:avLst/>
          </a:prstGeom>
          <a:solidFill>
            <a:srgbClr val="EFF6FF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A1A1A"/>
                </a:solidFill>
              </a:rPr>
              <a:t>ai-quota
配额管理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592000" y="1925999"/>
            <a:ext cx="1116000" cy="305999"/>
          </a:xfrm>
          <a:prstGeom prst="rect">
            <a:avLst/>
          </a:prstGeom>
          <a:solidFill>
            <a:srgbClr val="EFF6FF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A1A1A"/>
                </a:solidFill>
              </a:rPr>
              <a:t>ai-token-ratelimit
Token 限流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15999" y="1925999"/>
            <a:ext cx="1116000" cy="305999"/>
          </a:xfrm>
          <a:prstGeom prst="rect">
            <a:avLst/>
          </a:prstGeom>
          <a:solidFill>
            <a:srgbClr val="EFF6FF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A1A1A"/>
                </a:solidFill>
              </a:rPr>
              <a:t>ai-statistics
指标采集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92000" y="2304000"/>
            <a:ext cx="2412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3B82F6"/>
                </a:solidFill>
              </a:rPr>
              <a:t>大模型路由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592000" y="2447999"/>
            <a:ext cx="1116000" cy="305999"/>
          </a:xfrm>
          <a:prstGeom prst="rect">
            <a:avLst/>
          </a:prstGeom>
          <a:solidFill>
            <a:srgbClr val="EFF6FF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A1A1A"/>
                </a:solidFill>
              </a:rPr>
              <a:t>安全大模型
SecLLM / Qwen-Sec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815999" y="2447999"/>
            <a:ext cx="1116000" cy="305999"/>
          </a:xfrm>
          <a:prstGeom prst="rect">
            <a:avLst/>
          </a:prstGeom>
          <a:solidFill>
            <a:srgbClr val="EFF6FF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A1A1A"/>
                </a:solidFill>
              </a:rPr>
              <a:t>通用大模型
OpenAI / Claude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798000" y="1170000"/>
            <a:ext cx="0" cy="378000"/>
          </a:xfrm>
          <a:prstGeom prst="line">
            <a:avLst/>
          </a:prstGeom>
          <a:ln w="190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3798000" y="1854000"/>
            <a:ext cx="0" cy="71999"/>
          </a:xfrm>
          <a:prstGeom prst="line">
            <a:avLst/>
          </a:prstGeom>
          <a:ln w="190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3798000" y="2232000"/>
            <a:ext cx="0" cy="215999"/>
          </a:xfrm>
          <a:prstGeom prst="line">
            <a:avLst/>
          </a:prstGeom>
          <a:ln w="190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5328000" y="719999"/>
            <a:ext cx="2700000" cy="3168000"/>
          </a:xfrm>
          <a:prstGeom prst="rect">
            <a:avLst/>
          </a:prstGeom>
          <a:solidFill>
            <a:srgbClr val="FEF3C7">
              <a:alpha val="25000"/>
            </a:srgbClr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/>
          <a:lstStyle/>
          <a:p>
            <a:pPr algn="l"/>
            <a:r>
              <a:rPr sz="900" b="1">
                <a:solidFill>
                  <a:srgbClr val="D97706"/>
                </a:solidFill>
              </a:rPr>
              <a:t>③ 智能体编排层 (OpenCode)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72000" y="1007999"/>
            <a:ext cx="1080000" cy="324000"/>
          </a:xfrm>
          <a:prstGeom prst="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A1A1A"/>
                </a:solidFill>
              </a:rPr>
              <a:t>FastAPI
异步服务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60000" y="1007999"/>
            <a:ext cx="1260000" cy="324000"/>
          </a:xfrm>
          <a:prstGeom prst="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A1A1A"/>
                </a:solidFill>
              </a:rPr>
              <a:t>Celery + Redis
任务队列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72000" y="1404000"/>
            <a:ext cx="2412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D97706"/>
                </a:solidFill>
              </a:rPr>
              <a:t>Agent 核心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72000" y="1548000"/>
            <a:ext cx="2412000" cy="468000"/>
          </a:xfrm>
          <a:prstGeom prst="rect">
            <a:avLst/>
          </a:prstGeom>
          <a:solidFill>
            <a:srgbClr val="FEF3C7"/>
          </a:solidFill>
          <a:ln w="317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1A1A1A"/>
                </a:solidFill>
              </a:rPr>
              <a:t>Planner Agent
意图解析  ·  任务拆解  ·  状态管理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72000" y="2106000"/>
            <a:ext cx="1080000" cy="305999"/>
          </a:xfrm>
          <a:prstGeom prst="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A1A1A"/>
                </a:solidFill>
              </a:rPr>
              <a:t>MCP 工具调度器
工具指令生成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60000" y="2106000"/>
            <a:ext cx="1260000" cy="305999"/>
          </a:xfrm>
          <a:prstGeom prst="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A1A1A"/>
                </a:solidFill>
              </a:rPr>
              <a:t>SSE 状态推送
流式结果输出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012000" y="1332000"/>
            <a:ext cx="0" cy="216000"/>
          </a:xfrm>
          <a:prstGeom prst="line">
            <a:avLst/>
          </a:prstGeom>
          <a:ln w="190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6012000" y="2015999"/>
            <a:ext cx="0" cy="90001"/>
          </a:xfrm>
          <a:prstGeom prst="line">
            <a:avLst/>
          </a:prstGeom>
          <a:ln w="190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8208000" y="719999"/>
            <a:ext cx="2700000" cy="3168000"/>
          </a:xfrm>
          <a:prstGeom prst="rect">
            <a:avLst/>
          </a:prstGeom>
          <a:solidFill>
            <a:srgbClr val="DCFCE7">
              <a:alpha val="25000"/>
            </a:srgbClr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/>
          <a:lstStyle/>
          <a:p>
            <a:pPr algn="l"/>
            <a:r>
              <a:rPr sz="900" b="1">
                <a:solidFill>
                  <a:srgbClr val="16A34A"/>
                </a:solidFill>
              </a:rPr>
              <a:t>④ 沙箱执行层 (E2B)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52000" y="1007999"/>
            <a:ext cx="2412000" cy="324000"/>
          </a:xfrm>
          <a:prstGeom prst="rect">
            <a:avLst/>
          </a:prstGeom>
          <a:solidFill>
            <a:srgbClr val="16A34A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E2B 沙箱调度器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52000" y="1404000"/>
            <a:ext cx="2412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16A34A"/>
                </a:solidFill>
              </a:rPr>
              <a:t>安全隔离环境 (Firecracker microVM)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352000" y="1548000"/>
            <a:ext cx="1080000" cy="305999"/>
          </a:xfrm>
          <a:prstGeom prst="rect">
            <a:avLst/>
          </a:prstGeom>
          <a:solidFill>
            <a:srgbClr val="DCFCE7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A1A1A"/>
                </a:solidFill>
              </a:rPr>
              <a:t>网络隔离
VPC / Namespace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540000" y="1548000"/>
            <a:ext cx="1152000" cy="305999"/>
          </a:xfrm>
          <a:prstGeom prst="rect">
            <a:avLst/>
          </a:prstGeom>
          <a:solidFill>
            <a:srgbClr val="DCFCE7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A1A1A"/>
                </a:solidFill>
              </a:rPr>
              <a:t>资源限制
Cgroups / Quota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52000" y="1925999"/>
            <a:ext cx="2412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16A34A"/>
                </a:solidFill>
              </a:rPr>
              <a:t>安全工具链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352000" y="2070000"/>
            <a:ext cx="540000" cy="305999"/>
          </a:xfrm>
          <a:prstGeom prst="rect">
            <a:avLst/>
          </a:prstGeom>
          <a:solidFill>
            <a:srgbClr val="FFFFFF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A1A1A"/>
                </a:solidFill>
              </a:rPr>
              <a:t>Nmap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963999" y="2070000"/>
            <a:ext cx="540000" cy="305999"/>
          </a:xfrm>
          <a:prstGeom prst="rect">
            <a:avLst/>
          </a:prstGeom>
          <a:solidFill>
            <a:srgbClr val="FFFFFF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A1A1A"/>
                </a:solidFill>
              </a:rPr>
              <a:t>SQLMap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576000" y="2070000"/>
            <a:ext cx="540000" cy="305999"/>
          </a:xfrm>
          <a:prstGeom prst="rect">
            <a:avLst/>
          </a:prstGeom>
          <a:solidFill>
            <a:srgbClr val="FFFFFF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A1A1A"/>
                </a:solidFill>
              </a:rPr>
              <a:t>Burp Suite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188000" y="2070000"/>
            <a:ext cx="576000" cy="305999"/>
          </a:xfrm>
          <a:prstGeom prst="rect">
            <a:avLst/>
          </a:prstGeom>
          <a:solidFill>
            <a:srgbClr val="FFFFFF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A1A1A"/>
                </a:solidFill>
              </a:rPr>
              <a:t>Metasploit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352000" y="2465999"/>
            <a:ext cx="2412000" cy="305999"/>
          </a:xfrm>
          <a:prstGeom prst="rect">
            <a:avLst/>
          </a:prstGeom>
          <a:solidFill>
            <a:srgbClr val="FFFFFF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A1A1A"/>
                </a:solidFill>
              </a:rPr>
              <a:t>执行日志采集 &amp; 结果捕获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9558000" y="1332000"/>
            <a:ext cx="0" cy="216000"/>
          </a:xfrm>
          <a:prstGeom prst="line">
            <a:avLst/>
          </a:prstGeom>
          <a:ln w="190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9558000" y="1854000"/>
            <a:ext cx="0" cy="71999"/>
          </a:xfrm>
          <a:prstGeom prst="line">
            <a:avLst/>
          </a:prstGeom>
          <a:ln w="190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9558000" y="2376000"/>
            <a:ext cx="0" cy="89999"/>
          </a:xfrm>
          <a:prstGeom prst="line">
            <a:avLst/>
          </a:prstGeom>
          <a:ln w="190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179999" y="3960000"/>
            <a:ext cx="3780000" cy="2700000"/>
          </a:xfrm>
          <a:prstGeom prst="rect">
            <a:avLst/>
          </a:prstGeom>
          <a:solidFill>
            <a:srgbClr val="FCE7F3">
              <a:alpha val="25000"/>
            </a:srgbClr>
          </a:solidFill>
          <a:ln w="19050">
            <a:solidFill>
              <a:srgbClr val="DB2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/>
          <a:lstStyle/>
          <a:p>
            <a:pPr algn="l"/>
            <a:r>
              <a:rPr sz="900" b="1">
                <a:solidFill>
                  <a:srgbClr val="DB2777"/>
                </a:solidFill>
              </a:rPr>
              <a:t>⑤-A 计费系统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59999" y="4248000"/>
            <a:ext cx="792000" cy="324000"/>
          </a:xfrm>
          <a:prstGeom prst="rect">
            <a:avLst/>
          </a:prstGeom>
          <a:solidFill>
            <a:srgbClr val="FCE7F3"/>
          </a:solidFill>
          <a:ln w="19050">
            <a:solidFill>
              <a:srgbClr val="DB2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A1A1A"/>
                </a:solidFill>
              </a:rPr>
              <a:t>Kafka
事件总线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260000" y="4248000"/>
            <a:ext cx="900000" cy="324000"/>
          </a:xfrm>
          <a:prstGeom prst="rect">
            <a:avLst/>
          </a:prstGeom>
          <a:solidFill>
            <a:srgbClr val="FCE7F3"/>
          </a:solidFill>
          <a:ln w="19050">
            <a:solidFill>
              <a:srgbClr val="DB2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A1A1A"/>
                </a:solidFill>
              </a:rPr>
              <a:t>OpenMeter
实时计量引擎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268000" y="4248000"/>
            <a:ext cx="900000" cy="324000"/>
          </a:xfrm>
          <a:prstGeom prst="rect">
            <a:avLst/>
          </a:prstGeom>
          <a:solidFill>
            <a:srgbClr val="FCE7F3"/>
          </a:solidFill>
          <a:ln w="19050">
            <a:solidFill>
              <a:srgbClr val="DB2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A1A1A"/>
                </a:solidFill>
              </a:rPr>
              <a:t>ClickHouse
计量数据存储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59999" y="4680000"/>
            <a:ext cx="792000" cy="324000"/>
          </a:xfrm>
          <a:prstGeom prst="rect">
            <a:avLst/>
          </a:prstGeom>
          <a:solidFill>
            <a:srgbClr val="FFFFFF"/>
          </a:solidFill>
          <a:ln w="19050">
            <a:solidFill>
              <a:srgbClr val="DB2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A1A1A"/>
                </a:solidFill>
              </a:rPr>
              <a:t>Stripe
账单与支付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260000" y="4680000"/>
            <a:ext cx="900000" cy="324000"/>
          </a:xfrm>
          <a:prstGeom prst="rect">
            <a:avLst/>
          </a:prstGeom>
          <a:solidFill>
            <a:srgbClr val="FFFFFF"/>
          </a:solidFill>
          <a:ln w="19050">
            <a:solidFill>
              <a:srgbClr val="DB2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A1A1A"/>
                </a:solidFill>
              </a:rPr>
              <a:t>预付费积分系统
余额扣减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268000" y="4680000"/>
            <a:ext cx="900000" cy="324000"/>
          </a:xfrm>
          <a:prstGeom prst="rect">
            <a:avLst/>
          </a:prstGeom>
          <a:solidFill>
            <a:srgbClr val="FFFFFF"/>
          </a:solidFill>
          <a:ln w="19050">
            <a:solidFill>
              <a:srgbClr val="DB2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A1A1A"/>
                </a:solidFill>
              </a:rPr>
              <a:t>账单自动生成
邮件通知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1152000" y="4410000"/>
            <a:ext cx="108000" cy="0"/>
          </a:xfrm>
          <a:prstGeom prst="line">
            <a:avLst/>
          </a:prstGeom>
          <a:ln w="190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2160000" y="4410000"/>
            <a:ext cx="108000" cy="0"/>
          </a:xfrm>
          <a:prstGeom prst="line">
            <a:avLst/>
          </a:prstGeom>
          <a:ln w="190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756000" y="4572000"/>
            <a:ext cx="0" cy="108000"/>
          </a:xfrm>
          <a:prstGeom prst="line">
            <a:avLst/>
          </a:prstGeom>
          <a:ln w="190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710000" y="4572000"/>
            <a:ext cx="0" cy="108000"/>
          </a:xfrm>
          <a:prstGeom prst="line">
            <a:avLst/>
          </a:prstGeom>
          <a:ln w="190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2718000" y="4572000"/>
            <a:ext cx="0" cy="108000"/>
          </a:xfrm>
          <a:prstGeom prst="line">
            <a:avLst/>
          </a:prstGeom>
          <a:ln w="190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ctangle 58"/>
          <p:cNvSpPr/>
          <p:nvPr/>
        </p:nvSpPr>
        <p:spPr>
          <a:xfrm>
            <a:off x="4068000" y="3960000"/>
            <a:ext cx="3780000" cy="2700000"/>
          </a:xfrm>
          <a:prstGeom prst="rect">
            <a:avLst/>
          </a:prstGeom>
          <a:solidFill>
            <a:srgbClr val="EDE9FE">
              <a:alpha val="25000"/>
            </a:srgbClr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/>
          <a:lstStyle/>
          <a:p>
            <a:pPr algn="l"/>
            <a:r>
              <a:rPr sz="900" b="1">
                <a:solidFill>
                  <a:srgbClr val="8B5CF6"/>
                </a:solidFill>
              </a:rPr>
              <a:t>⑤-B 多租户与权限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248000" y="4248000"/>
            <a:ext cx="1620000" cy="324000"/>
          </a:xfrm>
          <a:prstGeom prst="rect">
            <a:avLst/>
          </a:prstGeom>
          <a:solidFill>
            <a:srgbClr val="EDE9FE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A1A1A"/>
                </a:solidFill>
              </a:rPr>
              <a:t>PostgreSQL
(Schema 级租户隔离)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976000" y="4248000"/>
            <a:ext cx="1620000" cy="324000"/>
          </a:xfrm>
          <a:prstGeom prst="rect">
            <a:avLst/>
          </a:prstGeom>
          <a:solidFill>
            <a:srgbClr val="EDE9FE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A1A1A"/>
                </a:solidFill>
              </a:rPr>
              <a:t>RBAC 权限中心
(角色 / 资源 / 策略)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248000" y="4680000"/>
            <a:ext cx="1620000" cy="324000"/>
          </a:xfrm>
          <a:prstGeom prst="rect">
            <a:avLst/>
          </a:prstGeom>
          <a:solidFill>
            <a:srgbClr val="FFFFFF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A1A1A"/>
                </a:solidFill>
              </a:rPr>
              <a:t>Redis
(Session &amp; 配额缓存)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976000" y="4680000"/>
            <a:ext cx="1620000" cy="324000"/>
          </a:xfrm>
          <a:prstGeom prst="rect">
            <a:avLst/>
          </a:prstGeom>
          <a:solidFill>
            <a:srgbClr val="FFFFFF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A1A1A"/>
                </a:solidFill>
              </a:rPr>
              <a:t>审计日志
(操作记录 &amp; 合规)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956000" y="3960000"/>
            <a:ext cx="3780000" cy="2700000"/>
          </a:xfrm>
          <a:prstGeom prst="rect">
            <a:avLst/>
          </a:prstGeom>
          <a:solidFill>
            <a:srgbClr val="F3F4F6">
              <a:alpha val="25000"/>
            </a:srgbClr>
          </a:solidFill>
          <a:ln w="1905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/>
          <a:lstStyle/>
          <a:p>
            <a:pPr algn="l"/>
            <a:r>
              <a:rPr sz="900" b="1">
                <a:solidFill>
                  <a:srgbClr val="D1D5DB"/>
                </a:solidFill>
              </a:rPr>
              <a:t>⑤-C 运维监控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136000" y="4248000"/>
            <a:ext cx="1620000" cy="324000"/>
          </a:xfrm>
          <a:prstGeom prst="rect">
            <a:avLst/>
          </a:prstGeom>
          <a:solidFill>
            <a:srgbClr val="F3F4F6"/>
          </a:solidFill>
          <a:ln w="1905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A1A1A"/>
                </a:solidFill>
              </a:rPr>
              <a:t>Kubernetes + Helm
集群管控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863999" y="4248000"/>
            <a:ext cx="1620000" cy="324000"/>
          </a:xfrm>
          <a:prstGeom prst="rect">
            <a:avLst/>
          </a:prstGeom>
          <a:solidFill>
            <a:srgbClr val="F3F4F6"/>
          </a:solidFill>
          <a:ln w="1905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A1A1A"/>
                </a:solidFill>
              </a:rPr>
              <a:t>Prometheus + Grafana
指标监控与告警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136000" y="4680000"/>
            <a:ext cx="1620000" cy="324000"/>
          </a:xfrm>
          <a:prstGeom prst="rect">
            <a:avLst/>
          </a:prstGeom>
          <a:solidFill>
            <a:srgbClr val="FFFFFF"/>
          </a:solidFill>
          <a:ln w="1905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A1A1A"/>
                </a:solidFill>
              </a:rPr>
              <a:t>GitHub Actions
CI/CD 自动化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863999" y="4680000"/>
            <a:ext cx="1620000" cy="324000"/>
          </a:xfrm>
          <a:prstGeom prst="rect">
            <a:avLst/>
          </a:prstGeom>
          <a:solidFill>
            <a:srgbClr val="FFFFFF"/>
          </a:solidFill>
          <a:ln w="1905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A1A1A"/>
                </a:solidFill>
              </a:rPr>
              <a:t>ELK Stack
日志聚合分析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2268000" y="1565999"/>
            <a:ext cx="179999" cy="0"/>
          </a:xfrm>
          <a:prstGeom prst="line">
            <a:avLst/>
          </a:prstGeom>
          <a:ln w="25400">
            <a:solidFill>
              <a:srgbClr val="3B82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2195999" y="1404000"/>
            <a:ext cx="359999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3B82F6"/>
                </a:solidFill>
              </a:rPr>
              <a:t>HTTPS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5148000" y="1565999"/>
            <a:ext cx="180000" cy="0"/>
          </a:xfrm>
          <a:prstGeom prst="line">
            <a:avLst/>
          </a:prstGeom>
          <a:ln w="25400">
            <a:solidFill>
              <a:srgbClr val="D977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5040000" y="1404000"/>
            <a:ext cx="432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D97706"/>
                </a:solidFill>
              </a:rPr>
              <a:t>路由转发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8028000" y="2257199"/>
            <a:ext cx="180000" cy="0"/>
          </a:xfrm>
          <a:prstGeom prst="line">
            <a:avLst/>
          </a:prstGeom>
          <a:ln w="2540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/>
          <p:cNvSpPr txBox="1"/>
          <p:nvPr/>
        </p:nvSpPr>
        <p:spPr>
          <a:xfrm>
            <a:off x="7920000" y="2106000"/>
            <a:ext cx="432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16A34A"/>
                </a:solidFill>
              </a:rPr>
              <a:t>MCP 指令</a:t>
            </a:r>
          </a:p>
        </p:txBody>
      </p:sp>
      <p:cxnSp>
        <p:nvCxnSpPr>
          <p:cNvPr id="75" name="Connector 74"/>
          <p:cNvCxnSpPr/>
          <p:nvPr/>
        </p:nvCxnSpPr>
        <p:spPr>
          <a:xfrm flipH="1">
            <a:off x="8028000" y="2617200"/>
            <a:ext cx="180000" cy="0"/>
          </a:xfrm>
          <a:prstGeom prst="line">
            <a:avLst/>
          </a:prstGeom>
          <a:ln w="25400">
            <a:solidFill>
              <a:srgbClr val="D977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7920000" y="2617200"/>
            <a:ext cx="432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D97706"/>
                </a:solidFill>
              </a:rPr>
              <a:t>结果回传</a:t>
            </a:r>
          </a:p>
        </p:txBody>
      </p:sp>
      <p:cxnSp>
        <p:nvCxnSpPr>
          <p:cNvPr id="77" name="Connector 76"/>
          <p:cNvCxnSpPr/>
          <p:nvPr/>
        </p:nvCxnSpPr>
        <p:spPr>
          <a:xfrm flipH="1">
            <a:off x="5148000" y="2257199"/>
            <a:ext cx="180000" cy="0"/>
          </a:xfrm>
          <a:prstGeom prst="line">
            <a:avLst/>
          </a:prstGeom>
          <a:ln w="25400">
            <a:solidFill>
              <a:srgbClr val="4F46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4968000" y="2106000"/>
            <a:ext cx="432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4F46E5"/>
                </a:solidFill>
              </a:rPr>
              <a:t>SSE 推送</a:t>
            </a:r>
          </a:p>
        </p:txBody>
      </p:sp>
      <p:cxnSp>
        <p:nvCxnSpPr>
          <p:cNvPr id="79" name="Connector 78"/>
          <p:cNvCxnSpPr/>
          <p:nvPr/>
        </p:nvCxnSpPr>
        <p:spPr>
          <a:xfrm flipH="1">
            <a:off x="2268000" y="2257199"/>
            <a:ext cx="179999" cy="0"/>
          </a:xfrm>
          <a:prstGeom prst="line">
            <a:avLst/>
          </a:prstGeom>
          <a:ln w="25400">
            <a:solidFill>
              <a:srgbClr val="4F46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3798000" y="3888000"/>
            <a:ext cx="0" cy="72000"/>
          </a:xfrm>
          <a:prstGeom prst="line">
            <a:avLst/>
          </a:prstGeom>
          <a:ln w="19050">
            <a:solidFill>
              <a:srgbClr val="DB27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3420000" y="3780000"/>
            <a:ext cx="90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DB2777"/>
                </a:solidFill>
              </a:rPr>
              <a:t>Token 消耗事件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9558000" y="3888000"/>
            <a:ext cx="0" cy="72000"/>
          </a:xfrm>
          <a:prstGeom prst="line">
            <a:avLst/>
          </a:prstGeom>
          <a:ln w="19050">
            <a:solidFill>
              <a:srgbClr val="DB27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9180000" y="3780000"/>
            <a:ext cx="90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DB2777"/>
                </a:solidFill>
              </a:rPr>
              <a:t>沙箱时长事件</a:t>
            </a:r>
          </a:p>
        </p:txBody>
      </p:sp>
      <p:cxnSp>
        <p:nvCxnSpPr>
          <p:cNvPr id="84" name="Connector 83"/>
          <p:cNvCxnSpPr/>
          <p:nvPr/>
        </p:nvCxnSpPr>
        <p:spPr>
          <a:xfrm>
            <a:off x="3150000" y="3888000"/>
            <a:ext cx="0" cy="72000"/>
          </a:xfrm>
          <a:prstGeom prst="line">
            <a:avLst/>
          </a:prstGeom>
          <a:ln w="19050">
            <a:solidFill>
              <a:srgbClr val="8B5C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2772000" y="3780000"/>
            <a:ext cx="90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8B5CF6"/>
                </a:solidFill>
              </a:rPr>
              <a:t>校验租户身份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79999" y="6660000"/>
            <a:ext cx="1188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6B7280"/>
                </a:solidFill>
              </a:rPr>
              <a:t>图例：蓝色=流量调度层  橙色=智能体编排层  绿色=沙箱执行层  紫色=多租户权限  粉色=计费系统  灰色=运维监控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微软雅黑"/>
              </a:rPr>
              <a:t>整体架构四层设计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0" cy="2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563EB"/>
                </a:solidFill>
                <a:latin typeface="微软雅黑"/>
              </a:rPr>
              <a:t>从用户交互到基础设施的端到端支撑体系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2011680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</a:rPr>
              <a:t>交互与应用层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463040"/>
            <a:ext cx="9235440" cy="1005840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88920" y="1554480"/>
            <a:ext cx="8961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563EB"/>
                </a:solidFill>
                <a:latin typeface="微软雅黑"/>
              </a:rPr>
              <a:t>官网 / 控制台 (Next.js)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88920" y="1920240"/>
            <a:ext cx="8961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D4D4D"/>
                </a:solidFill>
                <a:latin typeface="微软雅黑"/>
              </a:rPr>
              <a:t>用户交互、任务下发、实时状态展示、账单与配额管理。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560320"/>
            <a:ext cx="2011680" cy="100584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</a:rPr>
              <a:t>网关与控制面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06040" y="2560320"/>
            <a:ext cx="9235440" cy="1005840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88920" y="2651760"/>
            <a:ext cx="8961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563EB"/>
                </a:solidFill>
                <a:latin typeface="微软雅黑"/>
              </a:rPr>
              <a:t>Higress AI 网关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017520"/>
            <a:ext cx="8961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D4D4D"/>
                </a:solidFill>
                <a:latin typeface="微软雅黑"/>
              </a:rPr>
              <a:t>多模型统一路由、租户鉴权、Token 级限流、实时计量采集、MCP 协议托管。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657600"/>
            <a:ext cx="2011680" cy="100584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</a:rPr>
              <a:t>智能体执行层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06040" y="3657600"/>
            <a:ext cx="9235440" cy="1005840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88920" y="3749040"/>
            <a:ext cx="8961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563EB"/>
                </a:solidFill>
                <a:latin typeface="微软雅黑"/>
              </a:rPr>
              <a:t>OpenCode + E2B 沙箱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88920" y="4114800"/>
            <a:ext cx="8961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D4D4D"/>
                </a:solidFill>
                <a:latin typeface="微软雅黑"/>
              </a:rPr>
              <a:t>复杂任务规划、代码执行、外部工具调用、实时流式状态回传。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754880"/>
            <a:ext cx="2011680" cy="10058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</a:rPr>
              <a:t>基础设施层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06040" y="4754880"/>
            <a:ext cx="9235440" cy="1005840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88920" y="4846320"/>
            <a:ext cx="8961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563EB"/>
                </a:solidFill>
                <a:latin typeface="微软雅黑"/>
              </a:rPr>
              <a:t>Kubernetes + Firecracker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88920" y="5212080"/>
            <a:ext cx="8961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D4D4D"/>
                </a:solidFill>
                <a:latin typeface="微软雅黑"/>
              </a:rPr>
              <a:t>容器编排、微虚拟机调度、网络隔离、物理级安全防护。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微软雅黑"/>
              </a:rPr>
              <a:t>模块一 · 网络安全大模型网关（Higress）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0" cy="2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563EB"/>
                </a:solidFill>
                <a:latin typeface="微软雅黑"/>
              </a:rPr>
              <a:t>平台的“流量中枢”，统一管理所有安全与通用 AI 请求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微软雅黑"/>
              </a:rPr>
              <a:t>要做什么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19072"/>
            <a:ext cx="6400800" cy="200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563EB"/>
                </a:solidFill>
                <a:latin typeface="微软雅黑"/>
              </a:rPr>
              <a:t>多模型路由与负载均衡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21991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D4D4D"/>
                </a:solidFill>
                <a:latin typeface="微软雅黑"/>
              </a:rPr>
              <a:t>统一对接 SecLLM、Qwen-Sec 等安全大模型及 OpenAI 通用大模型，屏蔽 API 差异。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1874519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563EB"/>
                </a:solidFill>
                <a:latin typeface="微软雅黑"/>
              </a:rPr>
              <a:t>身份鉴权与消费者管理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2221991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D4D4D"/>
                </a:solidFill>
                <a:latin typeface="微软雅黑"/>
              </a:rPr>
              <a:t>为每个租户分配独立 API Key / JWT，实现精确身份鉴权。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428999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563EB"/>
                </a:solidFill>
                <a:latin typeface="微软雅黑"/>
              </a:rPr>
              <a:t>流量控制与资源配额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76471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D4D4D"/>
                </a:solidFill>
                <a:latin typeface="微软雅黑"/>
              </a:rPr>
              <a:t>基于 Token 级别动态限流，防止资源滥用与攻击。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3428999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563EB"/>
                </a:solidFill>
                <a:latin typeface="微软雅黑"/>
              </a:rPr>
              <a:t>可观测性与计量采集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3776471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D4D4D"/>
                </a:solidFill>
                <a:latin typeface="微软雅黑"/>
              </a:rPr>
              <a:t>实时采集每次调用的 Token 消耗，输出计量事件至计费系统。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141732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微软雅黑"/>
              </a:rPr>
              <a:t>如何做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40880" y="1719072"/>
            <a:ext cx="4846320" cy="200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0" y="1874519"/>
            <a:ext cx="48463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D4D4D"/>
                </a:solidFill>
                <a:latin typeface="微软雅黑"/>
              </a:rPr>
              <a:t>通过 Kubernetes 部署 Higress 集群，配置为系统的统一 Ingress 入口。启用 key-auth、ai-quota、ai-token-ratelimit、ai-statistics 四大插件，构建完整的鉴权-配额-计量链路。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333756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微软雅黑"/>
              </a:rPr>
              <a:t>开源支撑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40880" y="3639312"/>
            <a:ext cx="4846320" cy="200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040880" y="3794760"/>
            <a:ext cx="1828800" cy="320040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A1A1A"/>
                </a:solidFill>
                <a:latin typeface="微软雅黑"/>
              </a:rPr>
              <a:t>项目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869680" y="3794760"/>
            <a:ext cx="1554480" cy="320040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A1A1A"/>
                </a:solidFill>
                <a:latin typeface="微软雅黑"/>
              </a:rPr>
              <a:t>许可证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424160" y="3794760"/>
            <a:ext cx="1188720" cy="320040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A1A1A"/>
                </a:solidFill>
                <a:latin typeface="微软雅黑"/>
              </a:rPr>
              <a:t>Stars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40880" y="4114800"/>
            <a:ext cx="182880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2563EB"/>
                </a:solidFill>
                <a:latin typeface="微软雅黑"/>
              </a:rPr>
              <a:t>Higress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869680" y="4114800"/>
            <a:ext cx="155448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4D4D4D"/>
                </a:solidFill>
                <a:latin typeface="微软雅黑"/>
              </a:rPr>
              <a:t>Apache-2.0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424160" y="4114800"/>
            <a:ext cx="118872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4D4D4D"/>
                </a:solidFill>
                <a:latin typeface="微软雅黑"/>
              </a:rPr>
              <a:t>8.1k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微软雅黑"/>
              </a:rPr>
              <a:t>模块二 · 智能体执行平台（OpenCode + E2B）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0" cy="2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563EB"/>
                </a:solidFill>
                <a:latin typeface="微软雅黑"/>
              </a:rPr>
              <a:t>让 Agent 像人类专家一样自主规划并安全执行任务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微软雅黑"/>
              </a:rPr>
              <a:t>要做什么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19072"/>
            <a:ext cx="6400800" cy="200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563EB"/>
                </a:solidFill>
                <a:latin typeface="微软雅黑"/>
              </a:rPr>
              <a:t>任务规划与拆解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21991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D4D4D"/>
                </a:solidFill>
                <a:latin typeface="微软雅黑"/>
              </a:rPr>
              <a:t>Planner Agent 接收自然语言指令，自动拆解为多个可执行子任务，形成执行计划。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1874519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563EB"/>
                </a:solidFill>
                <a:latin typeface="微软雅黑"/>
              </a:rPr>
              <a:t>沙箱执行与隔离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2221991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D4D4D"/>
                </a:solidFill>
                <a:latin typeface="微软雅黑"/>
              </a:rPr>
              <a:t>E2B 为每个任务分配独立 Firecracker microVM，安全执行代码与命令。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428999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563EB"/>
                </a:solidFill>
                <a:latin typeface="微软雅黑"/>
              </a:rPr>
              <a:t>MCP 工具调用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76471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D4D4D"/>
                </a:solidFill>
                <a:latin typeface="微软雅黑"/>
              </a:rPr>
              <a:t>通过 MCP 协议统一调用 Nmap、SQLMap 等安全工具，支持动态扩展。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3428999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563EB"/>
                </a:solidFill>
                <a:latin typeface="微软雅黑"/>
              </a:rPr>
              <a:t>流式状态回传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3776471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D4D4D"/>
                </a:solidFill>
                <a:latin typeface="微软雅黑"/>
              </a:rPr>
              <a:t>Agent 思考过程与执行日志通过 SSE 实时推送到前端，提供透明化执行体验。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141732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微软雅黑"/>
              </a:rPr>
              <a:t>如何做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40880" y="1719072"/>
            <a:ext cx="4846320" cy="200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0" y="1874519"/>
            <a:ext cx="48463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D4D4D"/>
                </a:solidFill>
                <a:latin typeface="微软雅黑"/>
              </a:rPr>
              <a:t>基于 OpenCode 框架搭建 Agent 编排服务，FastAPI 提供 REST/SSE 接口，Celery 处理异步任务队列。E2B SDK 负责沙箱生命周期管理，每个任务独占一个 Firecracker 实例，任务完成后自动销毁。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333756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微软雅黑"/>
              </a:rPr>
              <a:t>开源支撑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40880" y="3639312"/>
            <a:ext cx="4846320" cy="200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040880" y="3794760"/>
            <a:ext cx="1828800" cy="320040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A1A1A"/>
                </a:solidFill>
                <a:latin typeface="微软雅黑"/>
              </a:rPr>
              <a:t>项目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869680" y="3794760"/>
            <a:ext cx="1554480" cy="320040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A1A1A"/>
                </a:solidFill>
                <a:latin typeface="微软雅黑"/>
              </a:rPr>
              <a:t>许可证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424160" y="3794760"/>
            <a:ext cx="1188720" cy="320040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A1A1A"/>
                </a:solidFill>
                <a:latin typeface="微软雅黑"/>
              </a:rPr>
              <a:t>Stars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40880" y="4114800"/>
            <a:ext cx="182880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2563EB"/>
                </a:solidFill>
                <a:latin typeface="微软雅黑"/>
              </a:rPr>
              <a:t>OpenCode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869680" y="4114800"/>
            <a:ext cx="155448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4D4D4D"/>
                </a:solidFill>
                <a:latin typeface="微软雅黑"/>
              </a:rPr>
              <a:t>MIT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424160" y="4114800"/>
            <a:ext cx="118872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4D4D4D"/>
                </a:solidFill>
                <a:latin typeface="微软雅黑"/>
              </a:rPr>
              <a:t>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40880" y="4462272"/>
            <a:ext cx="182880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2563EB"/>
                </a:solidFill>
                <a:latin typeface="微软雅黑"/>
              </a:rPr>
              <a:t>E2B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869680" y="4462272"/>
            <a:ext cx="155448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4D4D4D"/>
                </a:solidFill>
                <a:latin typeface="微软雅黑"/>
              </a:rPr>
              <a:t>Apache-2.0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424160" y="4462272"/>
            <a:ext cx="118872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4D4D4D"/>
                </a:solidFill>
                <a:latin typeface="微软雅黑"/>
              </a:rPr>
              <a:t>7.8k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040880" y="4809744"/>
            <a:ext cx="182880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2563EB"/>
                </a:solidFill>
                <a:latin typeface="微软雅黑"/>
              </a:rPr>
              <a:t>FastAPI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869680" y="4809744"/>
            <a:ext cx="155448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4D4D4D"/>
                </a:solidFill>
                <a:latin typeface="微软雅黑"/>
              </a:rPr>
              <a:t>MIT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424160" y="4809744"/>
            <a:ext cx="118872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4D4D4D"/>
                </a:solidFill>
                <a:latin typeface="微软雅黑"/>
              </a:rPr>
              <a:t>82k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040880" y="5157216"/>
            <a:ext cx="182880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2563EB"/>
                </a:solidFill>
                <a:latin typeface="微软雅黑"/>
              </a:rPr>
              <a:t>Celery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69680" y="5157216"/>
            <a:ext cx="155448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4D4D4D"/>
                </a:solidFill>
                <a:latin typeface="微软雅黑"/>
              </a:rPr>
              <a:t>BSD-3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424160" y="5157216"/>
            <a:ext cx="118872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4D4D4D"/>
                </a:solidFill>
                <a:latin typeface="微软雅黑"/>
              </a:rPr>
              <a:t>24k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微软雅黑"/>
              </a:rPr>
              <a:t>模块三 · 多租户隔离与配额管理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0" cy="2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563EB"/>
                </a:solidFill>
                <a:latin typeface="微软雅黑"/>
              </a:rPr>
              <a:t>四层隔离架构，确保企业客户数据绝对安全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微软雅黑"/>
              </a:rPr>
              <a:t>要做什么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19072"/>
            <a:ext cx="6400800" cy="200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563EB"/>
                </a:solidFill>
                <a:latin typeface="微软雅黑"/>
              </a:rPr>
              <a:t>身份隔离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21991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D4D4D"/>
                </a:solidFill>
                <a:latin typeface="微软雅黑"/>
              </a:rPr>
              <a:t>每个租户独立 API Key，Higress 在网关层完成身份识别与鉴权。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1874519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563EB"/>
                </a:solidFill>
                <a:latin typeface="微软雅黑"/>
              </a:rPr>
              <a:t>数据隔离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2221991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D4D4D"/>
                </a:solidFill>
                <a:latin typeface="微软雅黑"/>
              </a:rPr>
              <a:t>PostgreSQL Schema 级别隔离，每个租户独立数据库 Schema，防止数据越权。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428999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563EB"/>
                </a:solidFill>
                <a:latin typeface="微软雅黑"/>
              </a:rPr>
              <a:t>沙箱隔离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76471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D4D4D"/>
                </a:solidFill>
                <a:latin typeface="微软雅黑"/>
              </a:rPr>
              <a:t>E2B Firecracker microVM 提供物理级隔离，每个 Agent 任务独占虚拟机。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3428999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563EB"/>
                </a:solidFill>
                <a:latin typeface="微软雅黑"/>
              </a:rPr>
              <a:t>配额管理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3776471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D4D4D"/>
                </a:solidFill>
                <a:latin typeface="微软雅黑"/>
              </a:rPr>
              <a:t>Higress ai-quota 插件实现 Token 级别配额，支持按租户、按模型精细化控制。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141732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微软雅黑"/>
              </a:rPr>
              <a:t>如何做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40880" y="1719072"/>
            <a:ext cx="4846320" cy="200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0" y="1874519"/>
            <a:ext cx="48463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D4D4D"/>
                </a:solidFill>
                <a:latin typeface="微软雅黑"/>
              </a:rPr>
              <a:t>在 Higress 配置 Consumer 对象绑定租户 API Key；PostgreSQL 为每个租户创建独立 Schema；E2B 通过 Metadata 标签关联租户 ID；配额数据存储于 Redis，支持毫秒级实时查询与扣减。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333756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微软雅黑"/>
              </a:rPr>
              <a:t>开源支撑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40880" y="3639312"/>
            <a:ext cx="4846320" cy="200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040880" y="3794760"/>
            <a:ext cx="1828800" cy="320040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A1A1A"/>
                </a:solidFill>
                <a:latin typeface="微软雅黑"/>
              </a:rPr>
              <a:t>项目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869680" y="3794760"/>
            <a:ext cx="1554480" cy="320040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A1A1A"/>
                </a:solidFill>
                <a:latin typeface="微软雅黑"/>
              </a:rPr>
              <a:t>许可证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424160" y="3794760"/>
            <a:ext cx="1188720" cy="320040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A1A1A"/>
                </a:solidFill>
                <a:latin typeface="微软雅黑"/>
              </a:rPr>
              <a:t>Stars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40880" y="4114800"/>
            <a:ext cx="182880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2563EB"/>
                </a:solidFill>
                <a:latin typeface="微软雅黑"/>
              </a:rPr>
              <a:t>PostgreSQL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869680" y="4114800"/>
            <a:ext cx="155448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4D4D4D"/>
                </a:solidFill>
                <a:latin typeface="微软雅黑"/>
              </a:rPr>
              <a:t>PostgreSQL License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424160" y="4114800"/>
            <a:ext cx="118872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4D4D4D"/>
                </a:solidFill>
                <a:latin typeface="微软雅黑"/>
              </a:rPr>
              <a:t>16.5k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40880" y="4462272"/>
            <a:ext cx="182880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2563EB"/>
                </a:solidFill>
                <a:latin typeface="微软雅黑"/>
              </a:rPr>
              <a:t>Redis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869680" y="4462272"/>
            <a:ext cx="155448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4D4D4D"/>
                </a:solidFill>
                <a:latin typeface="微软雅黑"/>
              </a:rPr>
              <a:t>BSD-3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424160" y="4462272"/>
            <a:ext cx="118872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4D4D4D"/>
                </a:solidFill>
                <a:latin typeface="微软雅黑"/>
              </a:rPr>
              <a:t>67k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微软雅黑"/>
              </a:rPr>
              <a:t>模块四 · 计费系统集成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0" cy="2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563EB"/>
                </a:solidFill>
                <a:latin typeface="微软雅黑"/>
              </a:rPr>
              <a:t>从 Token 消耗到账单扣款的完整自动化闭环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微软雅黑"/>
              </a:rPr>
              <a:t>要做什么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19072"/>
            <a:ext cx="6400800" cy="200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563EB"/>
                </a:solidFill>
                <a:latin typeface="微软雅黑"/>
              </a:rPr>
              <a:t>事件采集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21991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D4D4D"/>
                </a:solidFill>
                <a:latin typeface="微软雅黑"/>
              </a:rPr>
              <a:t>Higress ai-statistics 插件采集 Token 消耗；E2B Webhook 采集沙箱运行时长。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1874519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563EB"/>
                </a:solidFill>
                <a:latin typeface="微软雅黑"/>
              </a:rPr>
              <a:t>实时计量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2221991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D4D4D"/>
                </a:solidFill>
                <a:latin typeface="微软雅黑"/>
              </a:rPr>
              <a:t>OpenMeter 基于 Kafka + ClickHouse 实时聚合，支持多维度统计分析。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428999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563EB"/>
                </a:solidFill>
                <a:latin typeface="微软雅黑"/>
              </a:rPr>
              <a:t>账单生成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76471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D4D4D"/>
                </a:solidFill>
                <a:latin typeface="微软雅黑"/>
              </a:rPr>
              <a:t>Stripe Billing 支持基础订阅 + 阶梯按量计费混合模型，自动生成月度账单。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3428999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563EB"/>
                </a:solidFill>
                <a:latin typeface="微软雅黑"/>
              </a:rPr>
              <a:t>预付费积分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3776471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D4D4D"/>
                </a:solidFill>
                <a:latin typeface="微软雅黑"/>
              </a:rPr>
              <a:t>支持预付费积分系统，积分余额不足时 Higress 自动拦截请求。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141732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微软雅黑"/>
              </a:rPr>
              <a:t>如何做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40880" y="1719072"/>
            <a:ext cx="4846320" cy="200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0" y="1874519"/>
            <a:ext cx="48463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D4D4D"/>
                </a:solidFill>
                <a:latin typeface="微软雅黑"/>
              </a:rPr>
              <a:t>Higress 插件将计量事件以 CloudEvents 格式发送至 Kafka；OpenMeter 消费 Kafka 消息并聚合到 ClickHouse；定时任务从 OpenMeter 拉取账单数据，通过 Stripe API 完成扣款。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333756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微软雅黑"/>
              </a:rPr>
              <a:t>开源支撑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40880" y="3639312"/>
            <a:ext cx="4846320" cy="200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040880" y="3794760"/>
            <a:ext cx="1828800" cy="320040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A1A1A"/>
                </a:solidFill>
                <a:latin typeface="微软雅黑"/>
              </a:rPr>
              <a:t>项目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869680" y="3794760"/>
            <a:ext cx="1554480" cy="320040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A1A1A"/>
                </a:solidFill>
                <a:latin typeface="微软雅黑"/>
              </a:rPr>
              <a:t>许可证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424160" y="3794760"/>
            <a:ext cx="1188720" cy="320040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A1A1A"/>
                </a:solidFill>
                <a:latin typeface="微软雅黑"/>
              </a:rPr>
              <a:t>Stars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40880" y="4114800"/>
            <a:ext cx="182880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2563EB"/>
                </a:solidFill>
                <a:latin typeface="微软雅黑"/>
              </a:rPr>
              <a:t>OpenMeter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869680" y="4114800"/>
            <a:ext cx="155448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4D4D4D"/>
                </a:solidFill>
                <a:latin typeface="微软雅黑"/>
              </a:rPr>
              <a:t>Apache-2.0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424160" y="4114800"/>
            <a:ext cx="118872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4D4D4D"/>
                </a:solidFill>
                <a:latin typeface="微软雅黑"/>
              </a:rPr>
              <a:t>1.8k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40880" y="4462272"/>
            <a:ext cx="182880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2563EB"/>
                </a:solidFill>
                <a:latin typeface="微软雅黑"/>
              </a:rPr>
              <a:t>Kafka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869680" y="4462272"/>
            <a:ext cx="155448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4D4D4D"/>
                </a:solidFill>
                <a:latin typeface="微软雅黑"/>
              </a:rPr>
              <a:t>Apache-2.0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424160" y="4462272"/>
            <a:ext cx="118872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4D4D4D"/>
                </a:solidFill>
                <a:latin typeface="微软雅黑"/>
              </a:rPr>
              <a:t>28k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040880" y="4809744"/>
            <a:ext cx="182880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2563EB"/>
                </a:solidFill>
                <a:latin typeface="微软雅黑"/>
              </a:rPr>
              <a:t>ClickHouse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869680" y="4809744"/>
            <a:ext cx="155448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4D4D4D"/>
                </a:solidFill>
                <a:latin typeface="微软雅黑"/>
              </a:rPr>
              <a:t>Apache-2.0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424160" y="4809744"/>
            <a:ext cx="118872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4D4D4D"/>
                </a:solidFill>
                <a:latin typeface="微软雅黑"/>
              </a:rPr>
              <a:t>37k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040880" y="5157216"/>
            <a:ext cx="182880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2563EB"/>
                </a:solidFill>
                <a:latin typeface="微软雅黑"/>
              </a:rPr>
              <a:t>Stripe SDK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69680" y="5157216"/>
            <a:ext cx="155448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4D4D4D"/>
                </a:solidFill>
                <a:latin typeface="微软雅黑"/>
              </a:rPr>
              <a:t>MIT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424160" y="5157216"/>
            <a:ext cx="118872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4D4D4D"/>
                </a:solidFill>
                <a:latin typeface="微软雅黑"/>
              </a:rPr>
              <a:t>—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微软雅黑"/>
              </a:rPr>
              <a:t>模块五 · 官网与前端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0" cy="2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563EB"/>
                </a:solidFill>
                <a:latin typeface="微软雅黑"/>
              </a:rPr>
              <a:t>面向用户的完整交互界面与可视化体验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微软雅黑"/>
              </a:rPr>
              <a:t>要做什么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19072"/>
            <a:ext cx="6400800" cy="200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563EB"/>
                </a:solidFill>
                <a:latin typeface="微软雅黑"/>
              </a:rPr>
              <a:t>官网门户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21991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D4D4D"/>
                </a:solidFill>
                <a:latin typeface="微软雅黑"/>
              </a:rPr>
              <a:t>产品介绍、定价方案、注册引导，采用 Next.js 静态生成，SEO 友好。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1874519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563EB"/>
                </a:solidFill>
                <a:latin typeface="微软雅黑"/>
              </a:rPr>
              <a:t>控制台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2221991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D4D4D"/>
                </a:solidFill>
                <a:latin typeface="微软雅黑"/>
              </a:rPr>
              <a:t>租户管理、API Key 管理、配额查看、账单历史，提供完整的自助服务能力。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428999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563EB"/>
                </a:solidFill>
                <a:latin typeface="微软雅黑"/>
              </a:rPr>
              <a:t>Agent 交互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76471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D4D4D"/>
                </a:solidFill>
                <a:latin typeface="微软雅黑"/>
              </a:rPr>
              <a:t>类 Manus 的对话界面，支持实时流式输出 Agent 思考过程与执行结果。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3428999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563EB"/>
                </a:solidFill>
                <a:latin typeface="微软雅黑"/>
              </a:rPr>
              <a:t>监控大盘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3776471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D4D4D"/>
                </a:solidFill>
                <a:latin typeface="微软雅黑"/>
              </a:rPr>
              <a:t>基于 Grafana 嵌入的可视化大盘，展示 API 调用量、Token 消耗趋势。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141732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微软雅黑"/>
              </a:rPr>
              <a:t>如何做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40880" y="1719072"/>
            <a:ext cx="4846320" cy="200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0" y="1874519"/>
            <a:ext cx="48463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D4D4D"/>
                </a:solidFill>
                <a:latin typeface="微软雅黑"/>
              </a:rPr>
              <a:t>Next.js 14 App Router 构建前端；Tailwind CSS 提供样式系统；SSE 接口实现 Agent 流式输出；Grafana 面板通过 iframe 嵌入控制台。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333756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微软雅黑"/>
              </a:rPr>
              <a:t>开源支撑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40880" y="3639312"/>
            <a:ext cx="4846320" cy="200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040880" y="3794760"/>
            <a:ext cx="1828800" cy="320040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A1A1A"/>
                </a:solidFill>
                <a:latin typeface="微软雅黑"/>
              </a:rPr>
              <a:t>项目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869680" y="3794760"/>
            <a:ext cx="1554480" cy="320040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A1A1A"/>
                </a:solidFill>
                <a:latin typeface="微软雅黑"/>
              </a:rPr>
              <a:t>许可证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424160" y="3794760"/>
            <a:ext cx="1188720" cy="320040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A1A1A"/>
                </a:solidFill>
                <a:latin typeface="微软雅黑"/>
              </a:rPr>
              <a:t>Stars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40880" y="4114800"/>
            <a:ext cx="182880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2563EB"/>
                </a:solidFill>
                <a:latin typeface="微软雅黑"/>
              </a:rPr>
              <a:t>Next.js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869680" y="4114800"/>
            <a:ext cx="155448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4D4D4D"/>
                </a:solidFill>
                <a:latin typeface="微软雅黑"/>
              </a:rPr>
              <a:t>MIT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424160" y="4114800"/>
            <a:ext cx="118872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4D4D4D"/>
                </a:solidFill>
                <a:latin typeface="微软雅黑"/>
              </a:rPr>
              <a:t>128k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40880" y="4462272"/>
            <a:ext cx="182880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2563EB"/>
                </a:solidFill>
                <a:latin typeface="微软雅黑"/>
              </a:rPr>
              <a:t>Tailwind CSS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869680" y="4462272"/>
            <a:ext cx="155448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4D4D4D"/>
                </a:solidFill>
                <a:latin typeface="微软雅黑"/>
              </a:rPr>
              <a:t>MIT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424160" y="4462272"/>
            <a:ext cx="118872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4D4D4D"/>
                </a:solidFill>
                <a:latin typeface="微软雅黑"/>
              </a:rPr>
              <a:t>83k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040880" y="4809744"/>
            <a:ext cx="182880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2563EB"/>
                </a:solidFill>
                <a:latin typeface="微软雅黑"/>
              </a:rPr>
              <a:t>Grafana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869680" y="4809744"/>
            <a:ext cx="155448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4D4D4D"/>
                </a:solidFill>
                <a:latin typeface="微软雅黑"/>
              </a:rPr>
              <a:t>AGPL-3.0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424160" y="4809744"/>
            <a:ext cx="118872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4D4D4D"/>
                </a:solidFill>
                <a:latin typeface="微软雅黑"/>
              </a:rPr>
              <a:t>63k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微软雅黑"/>
              </a:rPr>
              <a:t>模块六 · 测试与运维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0" cy="2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563EB"/>
                </a:solidFill>
                <a:latin typeface="微软雅黑"/>
              </a:rPr>
              <a:t>坚实的底层保障，支撑百万级 Agent 并发与系统高可用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微软雅黑"/>
              </a:rPr>
              <a:t>要做什么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19072"/>
            <a:ext cx="6400800" cy="200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563EB"/>
                </a:solidFill>
                <a:latin typeface="微软雅黑"/>
              </a:rPr>
              <a:t>CI/CD 流水线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21991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D4D4D"/>
                </a:solidFill>
                <a:latin typeface="微软雅黑"/>
              </a:rPr>
              <a:t>代码提交即触发自动化测试与构建，GitHub Actions + Helm 实现一键部署。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1874519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563EB"/>
                </a:solidFill>
                <a:latin typeface="微软雅黑"/>
              </a:rPr>
              <a:t>压力测试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2221991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D4D4D"/>
                </a:solidFill>
                <a:latin typeface="微软雅黑"/>
              </a:rPr>
              <a:t>k6 模拟高并发 Agent 调度场景，确保系统在百万级请求下的稳定吞吐。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428999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563EB"/>
                </a:solidFill>
                <a:latin typeface="微软雅黑"/>
              </a:rPr>
              <a:t>安全渗透测试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76471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D4D4D"/>
                </a:solidFill>
                <a:latin typeface="微软雅黑"/>
              </a:rPr>
              <a:t>OWASP ZAP 定期对沙箱隔离机制与网关鉴权进行自动化漏洞扫描。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3428999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563EB"/>
                </a:solidFill>
                <a:latin typeface="微软雅黑"/>
              </a:rPr>
              <a:t>监控告警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3776471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D4D4D"/>
                </a:solidFill>
                <a:latin typeface="微软雅黑"/>
              </a:rPr>
              <a:t>Prometheus + Grafana 构建全方位监控大盘，PagerDuty 实现智能告警。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141732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微软雅黑"/>
              </a:rPr>
              <a:t>如何做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40880" y="1719072"/>
            <a:ext cx="4846320" cy="200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0" y="1874519"/>
            <a:ext cx="48463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D4D4D"/>
                </a:solidFill>
                <a:latin typeface="微软雅黑"/>
              </a:rPr>
              <a:t>K8s + Helm 实现服务编排与版本管理；Prometheus 采集所有服务的 Metrics；Grafana 构建可视化监控大盘；k6 进行 API 性能压测，ZAP 进行安全扫描。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333756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微软雅黑"/>
              </a:rPr>
              <a:t>开源支撑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40880" y="3639312"/>
            <a:ext cx="4846320" cy="200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040880" y="3794760"/>
            <a:ext cx="1828800" cy="320040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A1A1A"/>
                </a:solidFill>
                <a:latin typeface="微软雅黑"/>
              </a:rPr>
              <a:t>项目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869680" y="3794760"/>
            <a:ext cx="1554480" cy="320040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A1A1A"/>
                </a:solidFill>
                <a:latin typeface="微软雅黑"/>
              </a:rPr>
              <a:t>许可证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424160" y="3794760"/>
            <a:ext cx="1188720" cy="320040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A1A1A"/>
                </a:solidFill>
                <a:latin typeface="微软雅黑"/>
              </a:rPr>
              <a:t>Stars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40880" y="4114800"/>
            <a:ext cx="182880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2563EB"/>
                </a:solidFill>
                <a:latin typeface="微软雅黑"/>
              </a:rPr>
              <a:t>Kubernetes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869680" y="4114800"/>
            <a:ext cx="155448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4D4D4D"/>
                </a:solidFill>
                <a:latin typeface="微软雅黑"/>
              </a:rPr>
              <a:t>Apache-2.0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424160" y="4114800"/>
            <a:ext cx="118872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4D4D4D"/>
                </a:solidFill>
                <a:latin typeface="微软雅黑"/>
              </a:rPr>
              <a:t>111k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40880" y="4462272"/>
            <a:ext cx="182880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2563EB"/>
                </a:solidFill>
                <a:latin typeface="微软雅黑"/>
              </a:rPr>
              <a:t>Prometheus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869680" y="4462272"/>
            <a:ext cx="155448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4D4D4D"/>
                </a:solidFill>
                <a:latin typeface="微软雅黑"/>
              </a:rPr>
              <a:t>Apache-2.0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424160" y="4462272"/>
            <a:ext cx="118872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4D4D4D"/>
                </a:solidFill>
                <a:latin typeface="微软雅黑"/>
              </a:rPr>
              <a:t>54.7k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040880" y="4809744"/>
            <a:ext cx="182880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2563EB"/>
                </a:solidFill>
                <a:latin typeface="微软雅黑"/>
              </a:rPr>
              <a:t>Grafana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869680" y="4809744"/>
            <a:ext cx="155448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4D4D4D"/>
                </a:solidFill>
                <a:latin typeface="微软雅黑"/>
              </a:rPr>
              <a:t>AGPL-3.0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424160" y="4809744"/>
            <a:ext cx="118872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4D4D4D"/>
                </a:solidFill>
                <a:latin typeface="微软雅黑"/>
              </a:rPr>
              <a:t>63k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040880" y="5157216"/>
            <a:ext cx="182880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2563EB"/>
                </a:solidFill>
                <a:latin typeface="微软雅黑"/>
              </a:rPr>
              <a:t>k6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69680" y="5157216"/>
            <a:ext cx="155448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4D4D4D"/>
                </a:solidFill>
                <a:latin typeface="微软雅黑"/>
              </a:rPr>
              <a:t>AGPL-3.0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424160" y="5157216"/>
            <a:ext cx="118872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4D4D4D"/>
                </a:solidFill>
                <a:latin typeface="微软雅黑"/>
              </a:rPr>
              <a:t>25k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79999" y="108000"/>
            <a:ext cx="11519999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A1A1A"/>
                </a:solidFill>
              </a:rPr>
              <a:t>网络安全大模型智能体平台 — 业务流转逻辑图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9999" y="396000"/>
            <a:ext cx="11519999" cy="17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</a:rPr>
              <a:t>智能化调度循环：指令输入  →  鉴权路由  →  [任务规划 ⇄ 沙箱执行（循环往复）]  →  结果输出  →  计量计费</a:t>
            </a:r>
          </a:p>
        </p:txBody>
      </p:sp>
      <p:sp>
        <p:nvSpPr>
          <p:cNvPr id="4" name="Rectangle 3"/>
          <p:cNvSpPr/>
          <p:nvPr/>
        </p:nvSpPr>
        <p:spPr>
          <a:xfrm>
            <a:off x="179999" y="611999"/>
            <a:ext cx="11833200" cy="144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79999" y="719999"/>
            <a:ext cx="1620000" cy="6012000"/>
          </a:xfrm>
          <a:prstGeom prst="rect">
            <a:avLst/>
          </a:prstGeom>
          <a:solidFill>
            <a:srgbClr val="E0E7FF">
              <a:alpha val="20000"/>
            </a:srgbClr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/>
          <a:lstStyle/>
          <a:p>
            <a:pPr algn="l"/>
            <a:r>
              <a:rPr sz="900" b="1">
                <a:solidFill>
                  <a:srgbClr val="4F46E5"/>
                </a:solidFill>
              </a:rPr>
              <a:t>阶段 1
用户接入</a:t>
            </a:r>
          </a:p>
        </p:txBody>
      </p:sp>
      <p:sp>
        <p:nvSpPr>
          <p:cNvPr id="6" name="Rectangle 5"/>
          <p:cNvSpPr/>
          <p:nvPr/>
        </p:nvSpPr>
        <p:spPr>
          <a:xfrm>
            <a:off x="324000" y="1044000"/>
            <a:ext cx="1332000" cy="359999"/>
          </a:xfrm>
          <a:prstGeom prst="rect">
            <a:avLst/>
          </a:prstGeom>
          <a:solidFill>
            <a:srgbClr val="E0E7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1A1A1A"/>
                </a:solidFill>
              </a:rPr>
              <a:t>安全工程师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90000" y="1404000"/>
            <a:ext cx="0" cy="252000"/>
          </a:xfrm>
          <a:prstGeom prst="line">
            <a:avLst/>
          </a:prstGeom>
          <a:ln w="190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324000" y="1656000"/>
            <a:ext cx="1332000" cy="359999"/>
          </a:xfrm>
          <a:prstGeom prst="rect">
            <a:avLst/>
          </a:prstGeom>
          <a:solidFill>
            <a:srgbClr val="FFFF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A1A1A"/>
                </a:solidFill>
              </a:rPr>
              <a:t>Web 控制台
(Next.js)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90000" y="2015999"/>
            <a:ext cx="0" cy="252001"/>
          </a:xfrm>
          <a:prstGeom prst="line">
            <a:avLst/>
          </a:prstGeom>
          <a:ln w="190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324000" y="2268000"/>
            <a:ext cx="1332000" cy="359999"/>
          </a:xfrm>
          <a:prstGeom prst="rect">
            <a:avLst/>
          </a:prstGeom>
          <a:solidFill>
            <a:srgbClr val="E0E7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A1A1A"/>
                </a:solidFill>
              </a:rPr>
              <a:t>输入安全测试指令
(自然语言)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90000" y="2628000"/>
            <a:ext cx="0" cy="251999"/>
          </a:xfrm>
          <a:prstGeom prst="line">
            <a:avLst/>
          </a:prstGeom>
          <a:ln w="190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324000" y="2879999"/>
            <a:ext cx="1332000" cy="359999"/>
          </a:xfrm>
          <a:prstGeom prst="rect">
            <a:avLst/>
          </a:prstGeom>
          <a:solidFill>
            <a:srgbClr val="FFFF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A1A1A"/>
                </a:solidFill>
              </a:rPr>
              <a:t>打包 REST 请求
附带 API Key / JWT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80000" y="719999"/>
            <a:ext cx="1620000" cy="6012000"/>
          </a:xfrm>
          <a:prstGeom prst="rect">
            <a:avLst/>
          </a:prstGeom>
          <a:solidFill>
            <a:srgbClr val="EFF6FF">
              <a:alpha val="20000"/>
            </a:srgbClr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/>
          <a:lstStyle/>
          <a:p>
            <a:pPr algn="l"/>
            <a:r>
              <a:rPr sz="900" b="1">
                <a:solidFill>
                  <a:srgbClr val="3B82F6"/>
                </a:solidFill>
              </a:rPr>
              <a:t>阶段 2
鉴权路由 (Higress)</a:t>
            </a:r>
          </a:p>
        </p:txBody>
      </p:sp>
      <p:sp>
        <p:nvSpPr>
          <p:cNvPr id="14" name="Diamond 13"/>
          <p:cNvSpPr/>
          <p:nvPr/>
        </p:nvSpPr>
        <p:spPr>
          <a:xfrm>
            <a:off x="2124000" y="1044000"/>
            <a:ext cx="1332000" cy="432000"/>
          </a:xfrm>
          <a:prstGeom prst="diamond">
            <a:avLst/>
          </a:prstGeom>
          <a:solidFill>
            <a:srgbClr val="EFF6FF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</a:rPr>
              <a:t>JWT / API Key
身份鉴权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24000" y="1512000"/>
            <a:ext cx="1332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6B7280"/>
                </a:solidFill>
              </a:rPr>
              <a:t>✗ 鉴权失败 → 返回 401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790000" y="1475999"/>
            <a:ext cx="0" cy="252001"/>
          </a:xfrm>
          <a:prstGeom prst="line">
            <a:avLst/>
          </a:prstGeom>
          <a:ln w="190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Diamond 16"/>
          <p:cNvSpPr/>
          <p:nvPr/>
        </p:nvSpPr>
        <p:spPr>
          <a:xfrm>
            <a:off x="2124000" y="1728000"/>
            <a:ext cx="1332000" cy="432000"/>
          </a:xfrm>
          <a:prstGeom prst="diamond">
            <a:avLst/>
          </a:prstGeom>
          <a:solidFill>
            <a:srgbClr val="EFF6FF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A1A1A"/>
                </a:solidFill>
              </a:rPr>
              <a:t>配额 &amp; 限流检查
(ai-quota / ratelimit)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24000" y="2195999"/>
            <a:ext cx="1332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6B7280"/>
                </a:solidFill>
              </a:rPr>
              <a:t>✗ 超限 → 返回 429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790000" y="2160000"/>
            <a:ext cx="0" cy="252000"/>
          </a:xfrm>
          <a:prstGeom prst="line">
            <a:avLst/>
          </a:prstGeom>
          <a:ln w="190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2124000" y="2412000"/>
            <a:ext cx="1332000" cy="359999"/>
          </a:xfrm>
          <a:prstGeom prst="rect">
            <a:avLst/>
          </a:prstGeom>
          <a:solidFill>
            <a:srgbClr val="3B82F6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</a:rPr>
              <a:t>大模型智能路由
SecLLM / OpenAI / Claude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790000" y="2772000"/>
            <a:ext cx="0" cy="252000"/>
          </a:xfrm>
          <a:prstGeom prst="line">
            <a:avLst/>
          </a:prstGeom>
          <a:ln w="190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2124000" y="3024000"/>
            <a:ext cx="1332000" cy="359999"/>
          </a:xfrm>
          <a:prstGeom prst="rect">
            <a:avLst/>
          </a:prstGeom>
          <a:solidFill>
            <a:srgbClr val="FFFFFF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A1A1A"/>
                </a:solidFill>
              </a:rPr>
              <a:t>ai-statistics
Token 计量上报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780000" y="719999"/>
            <a:ext cx="1980000" cy="6012000"/>
          </a:xfrm>
          <a:prstGeom prst="rect">
            <a:avLst/>
          </a:prstGeom>
          <a:solidFill>
            <a:srgbClr val="FEF3C7">
              <a:alpha val="20000"/>
            </a:srgbClr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/>
          <a:lstStyle/>
          <a:p>
            <a:pPr algn="l"/>
            <a:r>
              <a:rPr sz="900" b="1">
                <a:solidFill>
                  <a:srgbClr val="D97706"/>
                </a:solidFill>
              </a:rPr>
              <a:t>阶段 3
智能体编排 (OpenCode)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24000" y="1044000"/>
            <a:ext cx="1692000" cy="359999"/>
          </a:xfrm>
          <a:prstGeom prst="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A1A1A"/>
                </a:solidFill>
              </a:rPr>
              <a:t>FastAPI 接收请求
初始化任务上下文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770000" y="1404000"/>
            <a:ext cx="0" cy="252000"/>
          </a:xfrm>
          <a:prstGeom prst="line">
            <a:avLst/>
          </a:prstGeom>
          <a:ln w="190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3924000" y="1656000"/>
            <a:ext cx="1692000" cy="359999"/>
          </a:xfrm>
          <a:prstGeom prst="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A1A1A"/>
                </a:solidFill>
              </a:rPr>
              <a:t>Celery 任务入队
(Redis 消息队列)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770000" y="2015999"/>
            <a:ext cx="0" cy="252001"/>
          </a:xfrm>
          <a:prstGeom prst="line">
            <a:avLst/>
          </a:prstGeom>
          <a:ln w="190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3924000" y="2268000"/>
            <a:ext cx="1692000" cy="540000"/>
          </a:xfrm>
          <a:prstGeom prst="rect">
            <a:avLst/>
          </a:prstGeom>
          <a:solidFill>
            <a:srgbClr val="FEF3C7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1A1A1A"/>
                </a:solidFill>
              </a:rPr>
              <a:t>Planner Agent
大模型推理 · 意图解析 · 任务拆解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770000" y="2808000"/>
            <a:ext cx="0" cy="252000"/>
          </a:xfrm>
          <a:prstGeom prst="line">
            <a:avLst/>
          </a:prstGeom>
          <a:ln w="190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3924000" y="3060000"/>
            <a:ext cx="1692000" cy="359999"/>
          </a:xfrm>
          <a:prstGeom prst="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A1A1A"/>
                </a:solidFill>
              </a:rPr>
              <a:t>MCP 工具调度器
生成工具调用指令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770000" y="3420000"/>
            <a:ext cx="0" cy="252000"/>
          </a:xfrm>
          <a:prstGeom prst="line">
            <a:avLst/>
          </a:prstGeom>
          <a:ln w="190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3924000" y="3672000"/>
            <a:ext cx="1692000" cy="359999"/>
          </a:xfrm>
          <a:prstGeom prst="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A1A1A"/>
                </a:solidFill>
              </a:rPr>
              <a:t>状态管理器
记录执行历史 &amp; 上下文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4770000" y="4031999"/>
            <a:ext cx="0" cy="252001"/>
          </a:xfrm>
          <a:prstGeom prst="line">
            <a:avLst/>
          </a:prstGeom>
          <a:ln w="190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3924000" y="4284000"/>
            <a:ext cx="1692000" cy="359999"/>
          </a:xfrm>
          <a:prstGeom prst="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A1A1A"/>
                </a:solidFill>
              </a:rPr>
              <a:t>SSE 流式推送
实时返回执行状态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940000" y="719999"/>
            <a:ext cx="1980000" cy="6012000"/>
          </a:xfrm>
          <a:prstGeom prst="rect">
            <a:avLst/>
          </a:prstGeom>
          <a:solidFill>
            <a:srgbClr val="DCFCE7">
              <a:alpha val="20000"/>
            </a:srgbClr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/>
          <a:lstStyle/>
          <a:p>
            <a:pPr algn="l"/>
            <a:r>
              <a:rPr sz="900" b="1">
                <a:solidFill>
                  <a:srgbClr val="16A34A"/>
                </a:solidFill>
              </a:rPr>
              <a:t>阶段 4
沙箱执行 (E2B)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84000" y="1044000"/>
            <a:ext cx="1692000" cy="359999"/>
          </a:xfrm>
          <a:prstGeom prst="rect">
            <a:avLst/>
          </a:prstGeom>
          <a:solidFill>
            <a:srgbClr val="FFFFFF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A1A1A"/>
                </a:solidFill>
              </a:rPr>
              <a:t>E2B 沙箱调度器
接收 MCP 工具指令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930000" y="1404000"/>
            <a:ext cx="0" cy="252000"/>
          </a:xfrm>
          <a:prstGeom prst="line">
            <a:avLst/>
          </a:prstGeom>
          <a:ln w="190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6084000" y="1656000"/>
            <a:ext cx="1692000" cy="359999"/>
          </a:xfrm>
          <a:prstGeom prst="rect">
            <a:avLst/>
          </a:prstGeom>
          <a:solidFill>
            <a:srgbClr val="DCFCE7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A1A1A"/>
                </a:solidFill>
              </a:rPr>
              <a:t>动态启动
Firecracker microVM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6930000" y="2015999"/>
            <a:ext cx="0" cy="252001"/>
          </a:xfrm>
          <a:prstGeom prst="line">
            <a:avLst/>
          </a:prstGeom>
          <a:ln w="190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6084000" y="2268000"/>
            <a:ext cx="1692000" cy="359999"/>
          </a:xfrm>
          <a:prstGeom prst="rect">
            <a:avLst/>
          </a:prstGeom>
          <a:solidFill>
            <a:srgbClr val="FFFFFF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A1A1A"/>
                </a:solidFill>
              </a:rPr>
              <a:t>网络隔离 &amp; 资源限制
VPC / Cgroups / Quota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6930000" y="2628000"/>
            <a:ext cx="0" cy="251999"/>
          </a:xfrm>
          <a:prstGeom prst="line">
            <a:avLst/>
          </a:prstGeom>
          <a:ln w="190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6084000" y="2879999"/>
            <a:ext cx="1692000" cy="540000"/>
          </a:xfrm>
          <a:prstGeom prst="rect">
            <a:avLst/>
          </a:prstGeom>
          <a:solidFill>
            <a:srgbClr val="16A34A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</a:rPr>
              <a:t>执行安全工具
Nmap / SQLMap / Burp Suite
Metasploit / 自定义脚本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930000" y="3420000"/>
            <a:ext cx="0" cy="252000"/>
          </a:xfrm>
          <a:prstGeom prst="line">
            <a:avLst/>
          </a:prstGeom>
          <a:ln w="190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6084000" y="3672000"/>
            <a:ext cx="1692000" cy="359999"/>
          </a:xfrm>
          <a:prstGeom prst="rect">
            <a:avLst/>
          </a:prstGeom>
          <a:solidFill>
            <a:srgbClr val="FFFFFF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A1A1A"/>
                </a:solidFill>
              </a:rPr>
              <a:t>日志采集 &amp; 结果捕获
结构化输出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930000" y="4031999"/>
            <a:ext cx="0" cy="252001"/>
          </a:xfrm>
          <a:prstGeom prst="line">
            <a:avLst/>
          </a:prstGeom>
          <a:ln w="190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/>
          <p:cNvSpPr/>
          <p:nvPr/>
        </p:nvSpPr>
        <p:spPr>
          <a:xfrm>
            <a:off x="6084000" y="4284000"/>
            <a:ext cx="1692000" cy="359999"/>
          </a:xfrm>
          <a:prstGeom prst="rect">
            <a:avLst/>
          </a:prstGeom>
          <a:solidFill>
            <a:srgbClr val="DCFCE7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A1A1A"/>
                </a:solidFill>
              </a:rPr>
              <a:t>沙箱销毁 &amp; 清理
资源释放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100000" y="719999"/>
            <a:ext cx="1980000" cy="6012000"/>
          </a:xfrm>
          <a:prstGeom prst="rect">
            <a:avLst/>
          </a:prstGeom>
          <a:solidFill>
            <a:srgbClr val="FCE7F3">
              <a:alpha val="20000"/>
            </a:srgbClr>
          </a:solidFill>
          <a:ln w="19050">
            <a:solidFill>
              <a:srgbClr val="DB2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/>
          <a:lstStyle/>
          <a:p>
            <a:pPr algn="l"/>
            <a:r>
              <a:rPr sz="900" b="1">
                <a:solidFill>
                  <a:srgbClr val="DB2777"/>
                </a:solidFill>
              </a:rPr>
              <a:t>阶段 5
计量计费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244000" y="1044000"/>
            <a:ext cx="1692000" cy="359999"/>
          </a:xfrm>
          <a:prstGeom prst="rect">
            <a:avLst/>
          </a:prstGeom>
          <a:solidFill>
            <a:srgbClr val="FCE7F3"/>
          </a:solidFill>
          <a:ln w="19050">
            <a:solidFill>
              <a:srgbClr val="DB2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A1A1A"/>
                </a:solidFill>
              </a:rPr>
              <a:t>Kafka 事件总线
接收计量事件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9090000" y="1404000"/>
            <a:ext cx="0" cy="252000"/>
          </a:xfrm>
          <a:prstGeom prst="line">
            <a:avLst/>
          </a:prstGeom>
          <a:ln w="190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8244000" y="1656000"/>
            <a:ext cx="1692000" cy="359999"/>
          </a:xfrm>
          <a:prstGeom prst="rect">
            <a:avLst/>
          </a:prstGeom>
          <a:solidFill>
            <a:srgbClr val="FFFFFF"/>
          </a:solidFill>
          <a:ln w="19050">
            <a:solidFill>
              <a:srgbClr val="DB2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A1A1A"/>
                </a:solidFill>
              </a:rPr>
              <a:t>OpenMeter
实时聚合计算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9090000" y="2015999"/>
            <a:ext cx="0" cy="252001"/>
          </a:xfrm>
          <a:prstGeom prst="line">
            <a:avLst/>
          </a:prstGeom>
          <a:ln w="190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/>
          <p:cNvSpPr/>
          <p:nvPr/>
        </p:nvSpPr>
        <p:spPr>
          <a:xfrm>
            <a:off x="8244000" y="2268000"/>
            <a:ext cx="1692000" cy="359999"/>
          </a:xfrm>
          <a:prstGeom prst="rect">
            <a:avLst/>
          </a:prstGeom>
          <a:solidFill>
            <a:srgbClr val="FFFFFF"/>
          </a:solidFill>
          <a:ln w="19050">
            <a:solidFill>
              <a:srgbClr val="DB2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A1A1A"/>
                </a:solidFill>
              </a:rPr>
              <a:t>ClickHouse
计量数据持久化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9090000" y="2628000"/>
            <a:ext cx="0" cy="251999"/>
          </a:xfrm>
          <a:prstGeom prst="line">
            <a:avLst/>
          </a:prstGeom>
          <a:ln w="190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Diamond 53"/>
          <p:cNvSpPr/>
          <p:nvPr/>
        </p:nvSpPr>
        <p:spPr>
          <a:xfrm>
            <a:off x="8244000" y="2879999"/>
            <a:ext cx="1692000" cy="432000"/>
          </a:xfrm>
          <a:prstGeom prst="diamond">
            <a:avLst/>
          </a:prstGeom>
          <a:solidFill>
            <a:srgbClr val="FCE7F3"/>
          </a:solidFill>
          <a:ln w="19050">
            <a:solidFill>
              <a:srgbClr val="DB2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A1A1A"/>
                </a:solidFill>
              </a:rPr>
              <a:t>余额 / 配额
是否充足?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44000" y="3348000"/>
            <a:ext cx="1692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6B7280"/>
                </a:solidFill>
              </a:rPr>
              <a:t>✗ 不足 → 通知用户充值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9090000" y="3312000"/>
            <a:ext cx="0" cy="252000"/>
          </a:xfrm>
          <a:prstGeom prst="line">
            <a:avLst/>
          </a:prstGeom>
          <a:ln w="190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8244000" y="3564000"/>
            <a:ext cx="1692000" cy="359999"/>
          </a:xfrm>
          <a:prstGeom prst="rect">
            <a:avLst/>
          </a:prstGeom>
          <a:solidFill>
            <a:srgbClr val="FFFFFF"/>
          </a:solidFill>
          <a:ln w="19050">
            <a:solidFill>
              <a:srgbClr val="DB2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A1A1A"/>
                </a:solidFill>
              </a:rPr>
              <a:t>Stripe 账单生成
自动扣费 / 邮件通知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9090000" y="3924000"/>
            <a:ext cx="0" cy="252000"/>
          </a:xfrm>
          <a:prstGeom prst="line">
            <a:avLst/>
          </a:prstGeom>
          <a:ln w="190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ctangle 58"/>
          <p:cNvSpPr/>
          <p:nvPr/>
        </p:nvSpPr>
        <p:spPr>
          <a:xfrm>
            <a:off x="8244000" y="4176000"/>
            <a:ext cx="1692000" cy="359999"/>
          </a:xfrm>
          <a:prstGeom prst="rect">
            <a:avLst/>
          </a:prstGeom>
          <a:solidFill>
            <a:srgbClr val="FCE7F3"/>
          </a:solidFill>
          <a:ln w="19050">
            <a:solidFill>
              <a:srgbClr val="DB2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A1A1A"/>
                </a:solidFill>
              </a:rPr>
              <a:t>更新租户配额
同步至 Higress 插件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0260000" y="719999"/>
            <a:ext cx="1800000" cy="6012000"/>
          </a:xfrm>
          <a:prstGeom prst="rect">
            <a:avLst/>
          </a:prstGeom>
          <a:solidFill>
            <a:srgbClr val="E0E7FF">
              <a:alpha val="20000"/>
            </a:srgbClr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/>
          <a:lstStyle/>
          <a:p>
            <a:pPr algn="l"/>
            <a:r>
              <a:rPr sz="900" b="1">
                <a:solidFill>
                  <a:srgbClr val="4F46E5"/>
                </a:solidFill>
              </a:rPr>
              <a:t>阶段 6
结果输出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404000" y="1044000"/>
            <a:ext cx="1512000" cy="359999"/>
          </a:xfrm>
          <a:prstGeom prst="rect">
            <a:avLst/>
          </a:prstGeom>
          <a:solidFill>
            <a:srgbClr val="FFFF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A1A1A"/>
                </a:solidFill>
              </a:rPr>
              <a:t>汇总分析报告
(Markdown / JSON)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11160000" y="1404000"/>
            <a:ext cx="0" cy="252000"/>
          </a:xfrm>
          <a:prstGeom prst="line">
            <a:avLst/>
          </a:prstGeom>
          <a:ln w="190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ectangle 62"/>
          <p:cNvSpPr/>
          <p:nvPr/>
        </p:nvSpPr>
        <p:spPr>
          <a:xfrm>
            <a:off x="10404000" y="1656000"/>
            <a:ext cx="1512000" cy="359999"/>
          </a:xfrm>
          <a:prstGeom prst="rect">
            <a:avLst/>
          </a:prstGeom>
          <a:solidFill>
            <a:srgbClr val="E0E7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A1A1A"/>
                </a:solidFill>
              </a:rPr>
              <a:t>SSE 流式推送
实时返回前端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11160000" y="2015999"/>
            <a:ext cx="0" cy="252001"/>
          </a:xfrm>
          <a:prstGeom prst="line">
            <a:avLst/>
          </a:prstGeom>
          <a:ln w="190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/>
          <p:cNvSpPr/>
          <p:nvPr/>
        </p:nvSpPr>
        <p:spPr>
          <a:xfrm>
            <a:off x="10404000" y="2268000"/>
            <a:ext cx="1512000" cy="359999"/>
          </a:xfrm>
          <a:prstGeom prst="rect">
            <a:avLst/>
          </a:prstGeom>
          <a:solidFill>
            <a:srgbClr val="FFFF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A1A1A"/>
                </a:solidFill>
              </a:rPr>
              <a:t>前端渲染展示
漏洞列表 / 风险评级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11160000" y="2628000"/>
            <a:ext cx="0" cy="251999"/>
          </a:xfrm>
          <a:prstGeom prst="line">
            <a:avLst/>
          </a:prstGeom>
          <a:ln w="190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ectangle 66"/>
          <p:cNvSpPr/>
          <p:nvPr/>
        </p:nvSpPr>
        <p:spPr>
          <a:xfrm>
            <a:off x="10404000" y="2879999"/>
            <a:ext cx="1512000" cy="359999"/>
          </a:xfrm>
          <a:prstGeom prst="rect">
            <a:avLst/>
          </a:prstGeom>
          <a:solidFill>
            <a:srgbClr val="E0E7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1A1A1A"/>
                </a:solidFill>
              </a:rPr>
              <a:t>安全工程师
查看并下载报告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1800000" y="3060000"/>
            <a:ext cx="180000" cy="0"/>
          </a:xfrm>
          <a:prstGeom prst="line">
            <a:avLst/>
          </a:prstGeom>
          <a:ln w="31750">
            <a:solidFill>
              <a:srgbClr val="3B82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1764000" y="2915999"/>
            <a:ext cx="28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3B82F6"/>
                </a:solidFill>
              </a:rPr>
              <a:t>HTTPS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3600000" y="2592000"/>
            <a:ext cx="180000" cy="0"/>
          </a:xfrm>
          <a:prstGeom prst="line">
            <a:avLst/>
          </a:prstGeom>
          <a:ln w="31750">
            <a:solidFill>
              <a:srgbClr val="D977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3528000" y="2447999"/>
            <a:ext cx="28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D97706"/>
                </a:solidFill>
              </a:rPr>
              <a:t>转发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5759999" y="3240000"/>
            <a:ext cx="180001" cy="0"/>
          </a:xfrm>
          <a:prstGeom prst="line">
            <a:avLst/>
          </a:prstGeom>
          <a:ln w="3175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5652000" y="3096000"/>
            <a:ext cx="359999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16A34A"/>
                </a:solidFill>
              </a:rPr>
              <a:t>MCP 指令</a:t>
            </a:r>
          </a:p>
        </p:txBody>
      </p:sp>
      <p:cxnSp>
        <p:nvCxnSpPr>
          <p:cNvPr id="74" name="Connector 73"/>
          <p:cNvCxnSpPr/>
          <p:nvPr/>
        </p:nvCxnSpPr>
        <p:spPr>
          <a:xfrm flipH="1">
            <a:off x="5759999" y="3851999"/>
            <a:ext cx="180001" cy="0"/>
          </a:xfrm>
          <a:prstGeom prst="line">
            <a:avLst/>
          </a:prstGeom>
          <a:ln w="31750">
            <a:solidFill>
              <a:srgbClr val="D977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5652000" y="3960000"/>
            <a:ext cx="359999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D97706"/>
                </a:solidFill>
              </a:rPr>
              <a:t>结果回传</a:t>
            </a:r>
          </a:p>
        </p:txBody>
      </p:sp>
      <p:cxnSp>
        <p:nvCxnSpPr>
          <p:cNvPr id="76" name="Connector 75"/>
          <p:cNvCxnSpPr/>
          <p:nvPr/>
        </p:nvCxnSpPr>
        <p:spPr>
          <a:xfrm flipV="1">
            <a:off x="5616000" y="1836000"/>
            <a:ext cx="4788000" cy="2628000"/>
          </a:xfrm>
          <a:prstGeom prst="line">
            <a:avLst/>
          </a:prstGeom>
          <a:ln w="19050">
            <a:solidFill>
              <a:srgbClr val="4F46E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7739999" y="4500000"/>
            <a:ext cx="90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4F46E5"/>
                </a:solidFill>
              </a:rPr>
              <a:t>任务完成 → 汇总报告</a:t>
            </a:r>
          </a:p>
        </p:txBody>
      </p:sp>
      <p:cxnSp>
        <p:nvCxnSpPr>
          <p:cNvPr id="78" name="Connector 77"/>
          <p:cNvCxnSpPr/>
          <p:nvPr/>
        </p:nvCxnSpPr>
        <p:spPr>
          <a:xfrm flipV="1">
            <a:off x="2790000" y="1223999"/>
            <a:ext cx="5454000" cy="2160001"/>
          </a:xfrm>
          <a:prstGeom prst="line">
            <a:avLst/>
          </a:prstGeom>
          <a:ln w="15240">
            <a:solidFill>
              <a:srgbClr val="DB277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5040000" y="5220000"/>
            <a:ext cx="108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DB2777"/>
                </a:solidFill>
              </a:rPr>
              <a:t>Token 消耗事件 (异步)</a:t>
            </a:r>
          </a:p>
        </p:txBody>
      </p:sp>
      <p:cxnSp>
        <p:nvCxnSpPr>
          <p:cNvPr id="80" name="Connector 79"/>
          <p:cNvCxnSpPr/>
          <p:nvPr/>
        </p:nvCxnSpPr>
        <p:spPr>
          <a:xfrm flipV="1">
            <a:off x="7920000" y="1584000"/>
            <a:ext cx="324000" cy="2880000"/>
          </a:xfrm>
          <a:prstGeom prst="line">
            <a:avLst/>
          </a:prstGeom>
          <a:ln w="15240">
            <a:solidFill>
              <a:srgbClr val="DB277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Rectangle 80"/>
          <p:cNvSpPr/>
          <p:nvPr/>
        </p:nvSpPr>
        <p:spPr>
          <a:xfrm>
            <a:off x="3780000" y="5400000"/>
            <a:ext cx="4140000" cy="540000"/>
          </a:xfrm>
          <a:prstGeom prst="rect">
            <a:avLst/>
          </a:prstGeom>
          <a:solidFill>
            <a:srgbClr val="FFFBEB">
              <a:alpha val="40000"/>
            </a:srgbClr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924000"/>
                </a:solidFill>
              </a:rPr>
              <a:t>⟳  智能化调度循环（循环往复）：Planner Agent 根据每次工具执行结果动态调整下一步计划，直至任务完成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79999" y="6696000"/>
            <a:ext cx="1188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6B7280"/>
                </a:solidFill>
              </a:rPr>
              <a:t>图例：蓝色=鉴权路由  橙色=智能体编排  绿色=沙箱执行  粉色=计量计费  靛蓝=用户接入/结果输出  ⟳=循环往复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微软雅黑"/>
              </a:rPr>
              <a:t>模块七 · 全局数据流转与模块串联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0" cy="2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563EB"/>
                </a:solidFill>
                <a:latin typeface="微软雅黑"/>
              </a:rPr>
              <a:t>从用户输入到最终账单，平台各组件如何协同工作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08760"/>
            <a:ext cx="3566160" cy="1508760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508760"/>
            <a:ext cx="356616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6459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563EB"/>
                </a:solidFill>
                <a:latin typeface="微软雅黑"/>
              </a:rPr>
              <a:t>① 用户发起请求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057400"/>
            <a:ext cx="32918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D4D4D"/>
                </a:solidFill>
                <a:latin typeface="微软雅黑"/>
              </a:rPr>
              <a:t>用户在前端输入自然语言指令，前端携带 JWT Token 访问系统网关。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270248" y="1508760"/>
            <a:ext cx="3566160" cy="1508760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70248" y="1508760"/>
            <a:ext cx="356616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07408" y="16459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563EB"/>
                </a:solidFill>
                <a:latin typeface="微软雅黑"/>
              </a:rPr>
              <a:t>② 网关鉴权与限流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7408" y="2057400"/>
            <a:ext cx="32918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D4D4D"/>
                </a:solidFill>
                <a:latin typeface="微软雅黑"/>
              </a:rPr>
              <a:t>Higress 拦截请求，校验 Token，查询可用配额并进行速率限制。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83296" y="1508760"/>
            <a:ext cx="3566160" cy="1508760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83296" y="1508760"/>
            <a:ext cx="356616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0456" y="16459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563EB"/>
                </a:solidFill>
                <a:latin typeface="微软雅黑"/>
              </a:rPr>
              <a:t>③ 任务下发与编排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0456" y="2057400"/>
            <a:ext cx="32918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D4D4D"/>
                </a:solidFill>
                <a:latin typeface="微软雅黑"/>
              </a:rPr>
              <a:t>请求到达 OpenCode 平台，Planner Agent 启动，将复杂指令拆解为多个可执行子任务。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37560"/>
            <a:ext cx="3566160" cy="1508760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337560"/>
            <a:ext cx="356616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4747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563EB"/>
                </a:solidFill>
                <a:latin typeface="微软雅黑"/>
              </a:rPr>
              <a:t>④ 沙箱执行与工具调用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3886200"/>
            <a:ext cx="32918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D4D4D"/>
                </a:solidFill>
                <a:latin typeface="微软雅黑"/>
              </a:rPr>
              <a:t>E2B 为任务分配独立 Firecracker 沙箱，安全执行代码，并通过 MCP 调用外部工具。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70248" y="3337560"/>
            <a:ext cx="3566160" cy="1508760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70248" y="3337560"/>
            <a:ext cx="356616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07408" y="34747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563EB"/>
                </a:solidFill>
                <a:latin typeface="微软雅黑"/>
              </a:rPr>
              <a:t>⑤ 状态流式回传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07408" y="3886200"/>
            <a:ext cx="32918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D4D4D"/>
                </a:solidFill>
                <a:latin typeface="微软雅黑"/>
              </a:rPr>
              <a:t>Agent 思考过程与沙箱执行日志通过 SSE 经由网关流式推送到前端展示。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83296" y="3337560"/>
            <a:ext cx="3566160" cy="1508760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83296" y="3337560"/>
            <a:ext cx="356616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0456" y="34747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563EB"/>
                </a:solidFill>
                <a:latin typeface="微软雅黑"/>
              </a:rPr>
              <a:t>⑥ 异步计量与计费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0456" y="3886200"/>
            <a:ext cx="32918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D4D4D"/>
                </a:solidFill>
                <a:latin typeface="微软雅黑"/>
              </a:rPr>
              <a:t>资源消耗事件异步发送至 Kafka，OpenMeter 实时聚合，Stripe 生成最终账单并扣款。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6309360"/>
            <a:ext cx="11247120" cy="365760"/>
          </a:xfrm>
          <a:prstGeom prst="rect">
            <a:avLst/>
          </a:prstGeom>
          <a:solidFill>
            <a:srgbClr val="FFF9C4"/>
          </a:solidFill>
          <a:ln w="9525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6336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24009"/>
                </a:solidFill>
                <a:latin typeface="微软雅黑"/>
              </a:rPr>
              <a:t>⟳ 智能化调度循环：步骤③与④之间循环往复，Planner Agent 根据执行结果动态调整任务计划，直至目标完成。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0" y="1645920"/>
            <a:ext cx="5760720" cy="1645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200" b="1">
                <a:solidFill>
                  <a:srgbClr val="1A1A1A"/>
                </a:solidFill>
                <a:latin typeface="微软雅黑"/>
              </a:rPr>
              <a:t>Q &amp; A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0" y="3383280"/>
            <a:ext cx="576072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0">
                <a:solidFill>
                  <a:srgbClr val="2563EB"/>
                </a:solidFill>
                <a:latin typeface="微软雅黑"/>
              </a:rPr>
              <a:t>感谢聆听，欢迎交流！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0" y="4160520"/>
            <a:ext cx="3931920" cy="25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0" y="4480560"/>
            <a:ext cx="6675120" cy="640080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26080" y="457200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4D4D4D"/>
                </a:solidFill>
                <a:latin typeface="微软雅黑"/>
              </a:rPr>
              <a:t>GitHub: github.com/rakehellsx/higress-e2b-opencode  (dev branch)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