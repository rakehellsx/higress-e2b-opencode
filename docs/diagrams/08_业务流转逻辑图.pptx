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1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08000"/>
            <a:ext cx="11519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网络安全大模型智能体平台 — 业务流转逻辑图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999" y="396000"/>
            <a:ext cx="11519999" cy="1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智能化调度循环：指令输入  →  鉴权路由  →  [任务规划 ⇄ 沙箱执行（循环往复）]  →  结果输出  →  计量计费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999" y="611999"/>
            <a:ext cx="11833200" cy="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9999" y="719999"/>
            <a:ext cx="1620000" cy="6012000"/>
          </a:xfrm>
          <a:prstGeom prst="rect">
            <a:avLst/>
          </a:prstGeom>
          <a:solidFill>
            <a:srgbClr val="E0E7FF">
              <a:alpha val="20000"/>
            </a:srgbClr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4F46E5"/>
                </a:solidFill>
              </a:rPr>
              <a:t>阶段 1
用户接入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" y="1044000"/>
            <a:ext cx="1332000" cy="359999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</a:rPr>
              <a:t>安全工程师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9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4000" y="1656000"/>
            <a:ext cx="133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Web 控制台
(Next.js)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9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4000" y="2268000"/>
            <a:ext cx="1332000" cy="359999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输入安全测试指令
(自然语言)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90000" y="2628000"/>
            <a:ext cx="0" cy="25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4000" y="2879999"/>
            <a:ext cx="133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打包 REST 请求
附带 API Key / JWT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0000" y="719999"/>
            <a:ext cx="1620000" cy="6012000"/>
          </a:xfrm>
          <a:prstGeom prst="rect">
            <a:avLst/>
          </a:prstGeom>
          <a:solidFill>
            <a:srgbClr val="EFF6FF">
              <a:alpha val="20000"/>
            </a:srgb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3B82F6"/>
                </a:solidFill>
              </a:rPr>
              <a:t>阶段 2
鉴权路由 (Higress)</a:t>
            </a:r>
          </a:p>
        </p:txBody>
      </p:sp>
      <p:sp>
        <p:nvSpPr>
          <p:cNvPr id="14" name="Diamond 13"/>
          <p:cNvSpPr/>
          <p:nvPr/>
        </p:nvSpPr>
        <p:spPr>
          <a:xfrm>
            <a:off x="2124000" y="1044000"/>
            <a:ext cx="1332000" cy="432000"/>
          </a:xfrm>
          <a:prstGeom prst="diamond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</a:rPr>
              <a:t>JWT / API Key
身份鉴权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4000" y="1512000"/>
            <a:ext cx="13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</a:rPr>
              <a:t>✗ 鉴权失败 → 返回 401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90000" y="147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2124000" y="1728000"/>
            <a:ext cx="1332000" cy="432000"/>
          </a:xfrm>
          <a:prstGeom prst="diamond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配额 &amp; 限流检查
(ai-quota / ratelimit)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4000" y="2195999"/>
            <a:ext cx="13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</a:rPr>
              <a:t>✗ 超限 → 返回 429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90000" y="2160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24000" y="2412000"/>
            <a:ext cx="1332000" cy="359999"/>
          </a:xfrm>
          <a:prstGeom prst="rect">
            <a:avLst/>
          </a:prstGeom>
          <a:solidFill>
            <a:srgbClr val="3B82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大模型智能路由
SecLLM / OpenAI / Claude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90000" y="2772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24000" y="3024000"/>
            <a:ext cx="133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ai-statistics
Token 计量上报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0000" y="719999"/>
            <a:ext cx="1980000" cy="6012000"/>
          </a:xfrm>
          <a:prstGeom prst="rect">
            <a:avLst/>
          </a:prstGeom>
          <a:solidFill>
            <a:srgbClr val="FEF3C7">
              <a:alpha val="20000"/>
            </a:srgbClr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97706"/>
                </a:solidFill>
              </a:rPr>
              <a:t>阶段 3
智能体编排 (OpenCode)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24000" y="1044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FastAPI 接收请求
初始化任务上下文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7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24000" y="1656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Celery 任务入队
(Redis 消息队列)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7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924000" y="2268000"/>
            <a:ext cx="1692000" cy="540000"/>
          </a:xfrm>
          <a:prstGeom prst="rect">
            <a:avLst/>
          </a:prstGeom>
          <a:solidFill>
            <a:srgbClr val="FEF3C7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</a:rPr>
              <a:t>Planner Agent
大模型推理 · 意图解析 · 任务拆解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70000" y="2808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24000" y="3060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MCP 工具调度器
生成工具调用指令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70000" y="3420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924000" y="3672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状态管理器
记录执行历史 &amp; 上下文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70000" y="4031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924000" y="4284000"/>
            <a:ext cx="1692000" cy="359999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SSE 流式推送
实时返回执行状态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0000" y="719999"/>
            <a:ext cx="1980000" cy="6012000"/>
          </a:xfrm>
          <a:prstGeom prst="rect">
            <a:avLst/>
          </a:prstGeom>
          <a:solidFill>
            <a:srgbClr val="DCFCE7">
              <a:alpha val="20000"/>
            </a:srgbClr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16A34A"/>
                </a:solidFill>
              </a:rPr>
              <a:t>阶段 4
沙箱执行 (E2B)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4000" y="1044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E2B 沙箱调度器
接收 MCP 工具指令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93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084000" y="1656000"/>
            <a:ext cx="1692000" cy="359999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动态启动
Firecracker microVM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3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084000" y="2268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网络隔离 &amp; 资源限制
VPC / Cgroups / Quota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930000" y="2628000"/>
            <a:ext cx="0" cy="25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084000" y="2879999"/>
            <a:ext cx="1692000" cy="540000"/>
          </a:xfrm>
          <a:prstGeom prst="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执行安全工具
Nmap / SQLMap / Burp Suite
Metasploit / 自定义脚本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930000" y="3420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084000" y="3672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日志采集 &amp; 结果捕获
结构化输出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930000" y="4031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084000" y="4284000"/>
            <a:ext cx="1692000" cy="359999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沙箱销毁 &amp; 清理
资源释放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00000" y="719999"/>
            <a:ext cx="1980000" cy="6012000"/>
          </a:xfrm>
          <a:prstGeom prst="rect">
            <a:avLst/>
          </a:prstGeom>
          <a:solidFill>
            <a:srgbClr val="FCE7F3">
              <a:alpha val="20000"/>
            </a:srgbClr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B2777"/>
                </a:solidFill>
              </a:rPr>
              <a:t>阶段 5
计量计费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44000" y="1044000"/>
            <a:ext cx="1692000" cy="359999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Kafka 事件总线
接收计量事件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9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244000" y="1656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OpenMeter
实时聚合计算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9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244000" y="2268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ClickHouse
计量数据持久化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090000" y="2628000"/>
            <a:ext cx="0" cy="25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iamond 53"/>
          <p:cNvSpPr/>
          <p:nvPr/>
        </p:nvSpPr>
        <p:spPr>
          <a:xfrm>
            <a:off x="8244000" y="2879999"/>
            <a:ext cx="1692000" cy="432000"/>
          </a:xfrm>
          <a:prstGeom prst="diamond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余额 / 配额
是否充足?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4000" y="3348000"/>
            <a:ext cx="16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</a:rPr>
              <a:t>✗ 不足 → 通知用户充值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090000" y="3312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244000" y="3564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Stripe 账单生成
自动扣费 / 邮件通知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90000" y="392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8244000" y="4176000"/>
            <a:ext cx="1692000" cy="359999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更新租户配额
同步至 Higress 插件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60000" y="719999"/>
            <a:ext cx="1800000" cy="6012000"/>
          </a:xfrm>
          <a:prstGeom prst="rect">
            <a:avLst/>
          </a:prstGeom>
          <a:solidFill>
            <a:srgbClr val="E0E7FF">
              <a:alpha val="20000"/>
            </a:srgbClr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4F46E5"/>
                </a:solidFill>
              </a:rPr>
              <a:t>阶段 6
结果输出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04000" y="1044000"/>
            <a:ext cx="151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汇总分析报告
(Markdown / JSON)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16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404000" y="1656000"/>
            <a:ext cx="1512000" cy="359999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SSE 流式推送
实时返回前端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116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0404000" y="2268000"/>
            <a:ext cx="151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前端渲染展示
漏洞列表 / 风险评级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160000" y="2628000"/>
            <a:ext cx="0" cy="25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0404000" y="2879999"/>
            <a:ext cx="1512000" cy="359999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</a:rPr>
              <a:t>安全工程师
查看并下载报告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800000" y="3060000"/>
            <a:ext cx="18000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764000" y="2915999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B82F6"/>
                </a:solidFill>
              </a:rPr>
              <a:t>HTTPS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600000" y="2592000"/>
            <a:ext cx="1800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528000" y="2447999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97706"/>
                </a:solidFill>
              </a:rPr>
              <a:t>转发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759999" y="3240000"/>
            <a:ext cx="180001" cy="0"/>
          </a:xfrm>
          <a:prstGeom prst="line">
            <a:avLst/>
          </a:prstGeom>
          <a:ln w="317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52000" y="3096000"/>
            <a:ext cx="35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6A34A"/>
                </a:solidFill>
              </a:rPr>
              <a:t>MCP 指令</a:t>
            </a:r>
          </a:p>
        </p:txBody>
      </p:sp>
      <p:cxnSp>
        <p:nvCxnSpPr>
          <p:cNvPr id="74" name="Connector 73"/>
          <p:cNvCxnSpPr/>
          <p:nvPr/>
        </p:nvCxnSpPr>
        <p:spPr>
          <a:xfrm flipH="1">
            <a:off x="5759999" y="3851999"/>
            <a:ext cx="180001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652000" y="3960000"/>
            <a:ext cx="35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97706"/>
                </a:solidFill>
              </a:rPr>
              <a:t>结果回传</a:t>
            </a:r>
          </a:p>
        </p:txBody>
      </p:sp>
      <p:cxnSp>
        <p:nvCxnSpPr>
          <p:cNvPr id="76" name="Connector 75"/>
          <p:cNvCxnSpPr/>
          <p:nvPr/>
        </p:nvCxnSpPr>
        <p:spPr>
          <a:xfrm flipV="1">
            <a:off x="5616000" y="1836000"/>
            <a:ext cx="4788000" cy="2628000"/>
          </a:xfrm>
          <a:prstGeom prst="line">
            <a:avLst/>
          </a:prstGeom>
          <a:ln w="1905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739999" y="450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F46E5"/>
                </a:solidFill>
              </a:rPr>
              <a:t>任务完成 → 汇总报告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2790000" y="1223999"/>
            <a:ext cx="5454000" cy="2160001"/>
          </a:xfrm>
          <a:prstGeom prst="line">
            <a:avLst/>
          </a:prstGeom>
          <a:ln w="15240">
            <a:solidFill>
              <a:srgbClr val="DB2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040000" y="5220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B2777"/>
                </a:solidFill>
              </a:rPr>
              <a:t>Token 消耗事件 (异步)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7920000" y="1584000"/>
            <a:ext cx="324000" cy="2880000"/>
          </a:xfrm>
          <a:prstGeom prst="line">
            <a:avLst/>
          </a:prstGeom>
          <a:ln w="15240">
            <a:solidFill>
              <a:srgbClr val="DB2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780000" y="5400000"/>
            <a:ext cx="4140000" cy="540000"/>
          </a:xfrm>
          <a:prstGeom prst="rect">
            <a:avLst/>
          </a:prstGeom>
          <a:solidFill>
            <a:srgbClr val="FFFBEB">
              <a:alpha val="40000"/>
            </a:srgbClr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0"/>
                </a:solidFill>
              </a:rPr>
              <a:t>⟳  智能化调度循环（循环往复）：Planner Agent 根据每次工具执行结果动态调整下一步计划，直至任务完成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9999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</a:rPr>
              <a:t>图例：蓝色=鉴权路由  橙色=智能体编排  绿色=沙箱执行  粉色=计量计费  靛蓝=用户接入/结果输出  ⟳=循环往复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